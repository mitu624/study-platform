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1"/>
  </p:sldMasterIdLst>
  <p:notesMasterIdLst>
    <p:notesMasterId r:id="rId23"/>
  </p:notesMasterIdLst>
  <p:handoutMasterIdLst>
    <p:handoutMasterId r:id="rId24"/>
  </p:handoutMasterIdLst>
  <p:sldIdLst>
    <p:sldId id="403" r:id="rId2"/>
    <p:sldId id="438" r:id="rId3"/>
    <p:sldId id="439" r:id="rId4"/>
    <p:sldId id="440" r:id="rId5"/>
    <p:sldId id="441" r:id="rId6"/>
    <p:sldId id="442" r:id="rId7"/>
    <p:sldId id="443" r:id="rId8"/>
    <p:sldId id="444" r:id="rId9"/>
    <p:sldId id="427" r:id="rId10"/>
    <p:sldId id="428" r:id="rId11"/>
    <p:sldId id="429" r:id="rId12"/>
    <p:sldId id="430" r:id="rId13"/>
    <p:sldId id="431" r:id="rId14"/>
    <p:sldId id="432" r:id="rId15"/>
    <p:sldId id="416" r:id="rId16"/>
    <p:sldId id="418" r:id="rId17"/>
    <p:sldId id="423" r:id="rId18"/>
    <p:sldId id="422" r:id="rId19"/>
    <p:sldId id="437" r:id="rId20"/>
    <p:sldId id="445" r:id="rId21"/>
    <p:sldId id="433" r:id="rId22"/>
  </p:sldIdLst>
  <p:sldSz cx="9144000" cy="6858000" type="screen4x3"/>
  <p:notesSz cx="7315200" cy="9601200"/>
  <p:defaultTextStyle>
    <a:defPPr>
      <a:defRPr lang="en-US"/>
    </a:defPPr>
    <a:lvl1pPr algn="l" rtl="0" eaLnBrk="0" fontAlgn="base" hangingPunct="0">
      <a:spcBef>
        <a:spcPct val="0"/>
      </a:spcBef>
      <a:spcAft>
        <a:spcPct val="0"/>
      </a:spcAft>
      <a:defRPr sz="2400" kern="1200">
        <a:solidFill>
          <a:schemeClr val="tx1"/>
        </a:solidFill>
        <a:latin typeface="Times New Roman" pitchFamily="18"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itchFamily="18"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itchFamily="18"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itchFamily="18"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itchFamily="18" charset="0"/>
        <a:ea typeface="+mn-ea"/>
        <a:cs typeface="+mn-cs"/>
      </a:defRPr>
    </a:lvl5pPr>
    <a:lvl6pPr marL="2286000" algn="l" defTabSz="914400" rtl="0" eaLnBrk="1" latinLnBrk="0" hangingPunct="1">
      <a:defRPr sz="2400" kern="1200">
        <a:solidFill>
          <a:schemeClr val="tx1"/>
        </a:solidFill>
        <a:latin typeface="Times New Roman" pitchFamily="18" charset="0"/>
        <a:ea typeface="+mn-ea"/>
        <a:cs typeface="+mn-cs"/>
      </a:defRPr>
    </a:lvl6pPr>
    <a:lvl7pPr marL="2743200" algn="l" defTabSz="914400" rtl="0" eaLnBrk="1" latinLnBrk="0" hangingPunct="1">
      <a:defRPr sz="2400" kern="1200">
        <a:solidFill>
          <a:schemeClr val="tx1"/>
        </a:solidFill>
        <a:latin typeface="Times New Roman" pitchFamily="18" charset="0"/>
        <a:ea typeface="+mn-ea"/>
        <a:cs typeface="+mn-cs"/>
      </a:defRPr>
    </a:lvl7pPr>
    <a:lvl8pPr marL="3200400" algn="l" defTabSz="914400" rtl="0" eaLnBrk="1" latinLnBrk="0" hangingPunct="1">
      <a:defRPr sz="2400" kern="1200">
        <a:solidFill>
          <a:schemeClr val="tx1"/>
        </a:solidFill>
        <a:latin typeface="Times New Roman" pitchFamily="18" charset="0"/>
        <a:ea typeface="+mn-ea"/>
        <a:cs typeface="+mn-cs"/>
      </a:defRPr>
    </a:lvl8pPr>
    <a:lvl9pPr marL="3657600" algn="l" defTabSz="914400" rtl="0" eaLnBrk="1" latinLnBrk="0" hangingPunct="1">
      <a:defRPr sz="2400" kern="1200">
        <a:solidFill>
          <a:schemeClr val="tx1"/>
        </a:solidFill>
        <a:latin typeface="Times New Roman" pitchFamily="18"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C00CC"/>
    <a:srgbClr val="FF0000"/>
    <a:srgbClr val="2E2997"/>
    <a:srgbClr val="E2AC00"/>
    <a:srgbClr val="F2F2F2"/>
    <a:srgbClr val="EAEAEA"/>
    <a:srgbClr val="F8F8F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456" autoAdjust="0"/>
    <p:restoredTop sz="94660"/>
  </p:normalViewPr>
  <p:slideViewPr>
    <p:cSldViewPr>
      <p:cViewPr varScale="1">
        <p:scale>
          <a:sx n="115" d="100"/>
          <a:sy n="115" d="100"/>
        </p:scale>
        <p:origin x="1506" y="84"/>
      </p:cViewPr>
      <p:guideLst>
        <p:guide orient="horz" pos="2160"/>
        <p:guide pos="2880"/>
      </p:guideLst>
    </p:cSldViewPr>
  </p:slideViewPr>
  <p:notesTextViewPr>
    <p:cViewPr>
      <p:scale>
        <a:sx n="100" d="100"/>
        <a:sy n="100" d="100"/>
      </p:scale>
      <p:origin x="0" y="0"/>
    </p:cViewPr>
  </p:notesTextViewPr>
  <p:sorterViewPr>
    <p:cViewPr>
      <p:scale>
        <a:sx n="75" d="100"/>
        <a:sy n="75"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6322" name="Rectangle 2"/>
          <p:cNvSpPr>
            <a:spLocks noGrp="1" noChangeArrowheads="1"/>
          </p:cNvSpPr>
          <p:nvPr>
            <p:ph type="hdr" sz="quarter"/>
          </p:nvPr>
        </p:nvSpPr>
        <p:spPr bwMode="auto">
          <a:xfrm>
            <a:off x="0" y="0"/>
            <a:ext cx="3170583" cy="480388"/>
          </a:xfrm>
          <a:prstGeom prst="rect">
            <a:avLst/>
          </a:prstGeom>
          <a:noFill/>
          <a:ln w="9525">
            <a:noFill/>
            <a:miter lim="800000"/>
            <a:headEnd/>
            <a:tailEnd/>
          </a:ln>
          <a:effectLst/>
        </p:spPr>
        <p:txBody>
          <a:bodyPr vert="horz" wrap="square" lIns="96653" tIns="48327" rIns="96653" bIns="48327" numCol="1" anchor="t" anchorCtr="0" compatLnSpc="1">
            <a:prstTxWarp prst="textNoShape">
              <a:avLst/>
            </a:prstTxWarp>
          </a:bodyPr>
          <a:lstStyle>
            <a:lvl1pPr defTabSz="966621">
              <a:defRPr sz="1200"/>
            </a:lvl1pPr>
          </a:lstStyle>
          <a:p>
            <a:endParaRPr lang="en-US"/>
          </a:p>
        </p:txBody>
      </p:sp>
      <p:sp>
        <p:nvSpPr>
          <p:cNvPr id="56323" name="Rectangle 3"/>
          <p:cNvSpPr>
            <a:spLocks noGrp="1" noChangeArrowheads="1"/>
          </p:cNvSpPr>
          <p:nvPr>
            <p:ph type="dt" sz="quarter" idx="1"/>
          </p:nvPr>
        </p:nvSpPr>
        <p:spPr bwMode="auto">
          <a:xfrm>
            <a:off x="4142962" y="0"/>
            <a:ext cx="3170583" cy="480388"/>
          </a:xfrm>
          <a:prstGeom prst="rect">
            <a:avLst/>
          </a:prstGeom>
          <a:noFill/>
          <a:ln w="9525">
            <a:noFill/>
            <a:miter lim="800000"/>
            <a:headEnd/>
            <a:tailEnd/>
          </a:ln>
          <a:effectLst/>
        </p:spPr>
        <p:txBody>
          <a:bodyPr vert="horz" wrap="square" lIns="96653" tIns="48327" rIns="96653" bIns="48327" numCol="1" anchor="t" anchorCtr="0" compatLnSpc="1">
            <a:prstTxWarp prst="textNoShape">
              <a:avLst/>
            </a:prstTxWarp>
          </a:bodyPr>
          <a:lstStyle>
            <a:lvl1pPr algn="r" defTabSz="966621">
              <a:defRPr sz="1200"/>
            </a:lvl1pPr>
          </a:lstStyle>
          <a:p>
            <a:endParaRPr lang="en-US"/>
          </a:p>
        </p:txBody>
      </p:sp>
      <p:sp>
        <p:nvSpPr>
          <p:cNvPr id="56324" name="Rectangle 4"/>
          <p:cNvSpPr>
            <a:spLocks noGrp="1" noChangeArrowheads="1"/>
          </p:cNvSpPr>
          <p:nvPr>
            <p:ph type="ftr" sz="quarter" idx="2"/>
          </p:nvPr>
        </p:nvSpPr>
        <p:spPr bwMode="auto">
          <a:xfrm>
            <a:off x="0" y="9119173"/>
            <a:ext cx="3170583" cy="480388"/>
          </a:xfrm>
          <a:prstGeom prst="rect">
            <a:avLst/>
          </a:prstGeom>
          <a:noFill/>
          <a:ln w="9525">
            <a:noFill/>
            <a:miter lim="800000"/>
            <a:headEnd/>
            <a:tailEnd/>
          </a:ln>
          <a:effectLst/>
        </p:spPr>
        <p:txBody>
          <a:bodyPr vert="horz" wrap="square" lIns="96653" tIns="48327" rIns="96653" bIns="48327" numCol="1" anchor="b" anchorCtr="0" compatLnSpc="1">
            <a:prstTxWarp prst="textNoShape">
              <a:avLst/>
            </a:prstTxWarp>
          </a:bodyPr>
          <a:lstStyle>
            <a:lvl1pPr defTabSz="966621">
              <a:defRPr sz="1200"/>
            </a:lvl1pPr>
          </a:lstStyle>
          <a:p>
            <a:endParaRPr lang="en-US"/>
          </a:p>
        </p:txBody>
      </p:sp>
      <p:sp>
        <p:nvSpPr>
          <p:cNvPr id="56325" name="Rectangle 5"/>
          <p:cNvSpPr>
            <a:spLocks noGrp="1" noChangeArrowheads="1"/>
          </p:cNvSpPr>
          <p:nvPr>
            <p:ph type="sldNum" sz="quarter" idx="3"/>
          </p:nvPr>
        </p:nvSpPr>
        <p:spPr bwMode="auto">
          <a:xfrm>
            <a:off x="4142962" y="9119173"/>
            <a:ext cx="3170583" cy="480388"/>
          </a:xfrm>
          <a:prstGeom prst="rect">
            <a:avLst/>
          </a:prstGeom>
          <a:noFill/>
          <a:ln w="9525">
            <a:noFill/>
            <a:miter lim="800000"/>
            <a:headEnd/>
            <a:tailEnd/>
          </a:ln>
          <a:effectLst/>
        </p:spPr>
        <p:txBody>
          <a:bodyPr vert="horz" wrap="square" lIns="96653" tIns="48327" rIns="96653" bIns="48327" numCol="1" anchor="b" anchorCtr="0" compatLnSpc="1">
            <a:prstTxWarp prst="textNoShape">
              <a:avLst/>
            </a:prstTxWarp>
          </a:bodyPr>
          <a:lstStyle>
            <a:lvl1pPr algn="r" defTabSz="966621">
              <a:defRPr sz="1200"/>
            </a:lvl1pPr>
          </a:lstStyle>
          <a:p>
            <a:fld id="{2EEE36DF-F429-4810-A28B-C44B486CC3ED}" type="slidenum">
              <a:rPr lang="en-US"/>
              <a:pPr/>
              <a:t>‹#›</a:t>
            </a:fld>
            <a:endParaRPr lang="en-US"/>
          </a:p>
        </p:txBody>
      </p:sp>
    </p:spTree>
    <p:extLst>
      <p:ext uri="{BB962C8B-B14F-4D97-AF65-F5344CB8AC3E}">
        <p14:creationId xmlns:p14="http://schemas.microsoft.com/office/powerpoint/2010/main" val="413519480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62" name="Rectangle 2"/>
          <p:cNvSpPr>
            <a:spLocks noGrp="1" noChangeArrowheads="1"/>
          </p:cNvSpPr>
          <p:nvPr>
            <p:ph type="hdr" sz="quarter"/>
          </p:nvPr>
        </p:nvSpPr>
        <p:spPr bwMode="auto">
          <a:xfrm>
            <a:off x="0" y="0"/>
            <a:ext cx="3170583" cy="480388"/>
          </a:xfrm>
          <a:prstGeom prst="rect">
            <a:avLst/>
          </a:prstGeom>
          <a:noFill/>
          <a:ln w="9525">
            <a:noFill/>
            <a:miter lim="800000"/>
            <a:headEnd/>
            <a:tailEnd/>
          </a:ln>
          <a:effectLst/>
        </p:spPr>
        <p:txBody>
          <a:bodyPr vert="horz" wrap="square" lIns="96653" tIns="48327" rIns="96653" bIns="48327" numCol="1" anchor="t" anchorCtr="0" compatLnSpc="1">
            <a:prstTxWarp prst="textNoShape">
              <a:avLst/>
            </a:prstTxWarp>
          </a:bodyPr>
          <a:lstStyle>
            <a:lvl1pPr defTabSz="966621">
              <a:defRPr sz="1200"/>
            </a:lvl1pPr>
          </a:lstStyle>
          <a:p>
            <a:endParaRPr lang="en-US"/>
          </a:p>
        </p:txBody>
      </p:sp>
      <p:sp>
        <p:nvSpPr>
          <p:cNvPr id="40963" name="Rectangle 3"/>
          <p:cNvSpPr>
            <a:spLocks noGrp="1" noChangeArrowheads="1"/>
          </p:cNvSpPr>
          <p:nvPr>
            <p:ph type="dt" idx="1"/>
          </p:nvPr>
        </p:nvSpPr>
        <p:spPr bwMode="auto">
          <a:xfrm>
            <a:off x="4142962" y="0"/>
            <a:ext cx="3170583" cy="480388"/>
          </a:xfrm>
          <a:prstGeom prst="rect">
            <a:avLst/>
          </a:prstGeom>
          <a:noFill/>
          <a:ln w="9525">
            <a:noFill/>
            <a:miter lim="800000"/>
            <a:headEnd/>
            <a:tailEnd/>
          </a:ln>
          <a:effectLst/>
        </p:spPr>
        <p:txBody>
          <a:bodyPr vert="horz" wrap="square" lIns="96653" tIns="48327" rIns="96653" bIns="48327" numCol="1" anchor="t" anchorCtr="0" compatLnSpc="1">
            <a:prstTxWarp prst="textNoShape">
              <a:avLst/>
            </a:prstTxWarp>
          </a:bodyPr>
          <a:lstStyle>
            <a:lvl1pPr algn="r" defTabSz="966621">
              <a:defRPr sz="1200"/>
            </a:lvl1pPr>
          </a:lstStyle>
          <a:p>
            <a:endParaRPr lang="en-US"/>
          </a:p>
        </p:txBody>
      </p:sp>
      <p:sp>
        <p:nvSpPr>
          <p:cNvPr id="40964" name="Rectangle 4"/>
          <p:cNvSpPr>
            <a:spLocks noGrp="1" noRot="1" noChangeAspect="1" noChangeArrowheads="1" noTextEdit="1"/>
          </p:cNvSpPr>
          <p:nvPr>
            <p:ph type="sldImg" idx="2"/>
          </p:nvPr>
        </p:nvSpPr>
        <p:spPr bwMode="auto">
          <a:xfrm>
            <a:off x="1257300" y="719138"/>
            <a:ext cx="4800600" cy="3600450"/>
          </a:xfrm>
          <a:prstGeom prst="rect">
            <a:avLst/>
          </a:prstGeom>
          <a:noFill/>
          <a:ln w="9525">
            <a:solidFill>
              <a:srgbClr val="000000"/>
            </a:solidFill>
            <a:miter lim="800000"/>
            <a:headEnd/>
            <a:tailEnd/>
          </a:ln>
          <a:effectLst/>
        </p:spPr>
      </p:sp>
      <p:sp>
        <p:nvSpPr>
          <p:cNvPr id="40965" name="Rectangle 5"/>
          <p:cNvSpPr>
            <a:spLocks noGrp="1" noChangeArrowheads="1"/>
          </p:cNvSpPr>
          <p:nvPr>
            <p:ph type="body" sz="quarter" idx="3"/>
          </p:nvPr>
        </p:nvSpPr>
        <p:spPr bwMode="auto">
          <a:xfrm>
            <a:off x="732183" y="4561226"/>
            <a:ext cx="5850835" cy="4320213"/>
          </a:xfrm>
          <a:prstGeom prst="rect">
            <a:avLst/>
          </a:prstGeom>
          <a:noFill/>
          <a:ln w="9525">
            <a:noFill/>
            <a:miter lim="800000"/>
            <a:headEnd/>
            <a:tailEnd/>
          </a:ln>
          <a:effectLst/>
        </p:spPr>
        <p:txBody>
          <a:bodyPr vert="horz" wrap="square" lIns="96653" tIns="48327" rIns="96653" bIns="48327"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40966" name="Rectangle 6"/>
          <p:cNvSpPr>
            <a:spLocks noGrp="1" noChangeArrowheads="1"/>
          </p:cNvSpPr>
          <p:nvPr>
            <p:ph type="ftr" sz="quarter" idx="4"/>
          </p:nvPr>
        </p:nvSpPr>
        <p:spPr bwMode="auto">
          <a:xfrm>
            <a:off x="0" y="9119173"/>
            <a:ext cx="3170583" cy="480388"/>
          </a:xfrm>
          <a:prstGeom prst="rect">
            <a:avLst/>
          </a:prstGeom>
          <a:noFill/>
          <a:ln w="9525">
            <a:noFill/>
            <a:miter lim="800000"/>
            <a:headEnd/>
            <a:tailEnd/>
          </a:ln>
          <a:effectLst/>
        </p:spPr>
        <p:txBody>
          <a:bodyPr vert="horz" wrap="square" lIns="96653" tIns="48327" rIns="96653" bIns="48327" numCol="1" anchor="b" anchorCtr="0" compatLnSpc="1">
            <a:prstTxWarp prst="textNoShape">
              <a:avLst/>
            </a:prstTxWarp>
          </a:bodyPr>
          <a:lstStyle>
            <a:lvl1pPr defTabSz="966621">
              <a:defRPr sz="1200"/>
            </a:lvl1pPr>
          </a:lstStyle>
          <a:p>
            <a:endParaRPr lang="en-US"/>
          </a:p>
        </p:txBody>
      </p:sp>
      <p:sp>
        <p:nvSpPr>
          <p:cNvPr id="40967" name="Rectangle 7"/>
          <p:cNvSpPr>
            <a:spLocks noGrp="1" noChangeArrowheads="1"/>
          </p:cNvSpPr>
          <p:nvPr>
            <p:ph type="sldNum" sz="quarter" idx="5"/>
          </p:nvPr>
        </p:nvSpPr>
        <p:spPr bwMode="auto">
          <a:xfrm>
            <a:off x="4142962" y="9119173"/>
            <a:ext cx="3170583" cy="480388"/>
          </a:xfrm>
          <a:prstGeom prst="rect">
            <a:avLst/>
          </a:prstGeom>
          <a:noFill/>
          <a:ln w="9525">
            <a:noFill/>
            <a:miter lim="800000"/>
            <a:headEnd/>
            <a:tailEnd/>
          </a:ln>
          <a:effectLst/>
        </p:spPr>
        <p:txBody>
          <a:bodyPr vert="horz" wrap="square" lIns="96653" tIns="48327" rIns="96653" bIns="48327" numCol="1" anchor="b" anchorCtr="0" compatLnSpc="1">
            <a:prstTxWarp prst="textNoShape">
              <a:avLst/>
            </a:prstTxWarp>
          </a:bodyPr>
          <a:lstStyle>
            <a:lvl1pPr algn="r" defTabSz="966621">
              <a:defRPr sz="1200"/>
            </a:lvl1pPr>
          </a:lstStyle>
          <a:p>
            <a:fld id="{B5DA05A3-D6BB-4819-A699-C241179E43C1}" type="slidenum">
              <a:rPr lang="en-US"/>
              <a:pPr/>
              <a:t>‹#›</a:t>
            </a:fld>
            <a:endParaRPr lang="en-US"/>
          </a:p>
        </p:txBody>
      </p:sp>
    </p:spTree>
    <p:extLst>
      <p:ext uri="{BB962C8B-B14F-4D97-AF65-F5344CB8AC3E}">
        <p14:creationId xmlns:p14="http://schemas.microsoft.com/office/powerpoint/2010/main" val="1283419983"/>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C25CEAF-AF0E-4325-85DC-806EBAAF87BD}" type="slidenum">
              <a:rPr lang="en-US"/>
              <a:pPr/>
              <a:t>1</a:t>
            </a:fld>
            <a:endParaRPr lang="en-US"/>
          </a:p>
        </p:txBody>
      </p:sp>
      <p:sp>
        <p:nvSpPr>
          <p:cNvPr id="240642" name="Rectangle 2"/>
          <p:cNvSpPr>
            <a:spLocks noGrp="1" noRot="1" noChangeAspect="1" noChangeArrowheads="1" noTextEdit="1"/>
          </p:cNvSpPr>
          <p:nvPr>
            <p:ph type="sldImg"/>
          </p:nvPr>
        </p:nvSpPr>
        <p:spPr>
          <a:ln/>
        </p:spPr>
      </p:sp>
      <p:sp>
        <p:nvSpPr>
          <p:cNvPr id="240643" name="Rectangle 3"/>
          <p:cNvSpPr>
            <a:spLocks noGrp="1" noChangeArrowheads="1"/>
          </p:cNvSpPr>
          <p:nvPr>
            <p:ph type="body" idx="1"/>
          </p:nvPr>
        </p:nvSpPr>
        <p:spPr>
          <a:xfrm>
            <a:off x="975693" y="4561226"/>
            <a:ext cx="5363817" cy="4320213"/>
          </a:xfrm>
        </p:spPr>
        <p:txBody>
          <a:bodyPr/>
          <a:lstStyle/>
          <a:p>
            <a:endParaRPr lang="en-US"/>
          </a:p>
        </p:txBody>
      </p:sp>
    </p:spTree>
    <p:extLst>
      <p:ext uri="{BB962C8B-B14F-4D97-AF65-F5344CB8AC3E}">
        <p14:creationId xmlns:p14="http://schemas.microsoft.com/office/powerpoint/2010/main" val="201991199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lvl1pPr>
              <a:defRPr/>
            </a:lvl1pPr>
          </a:lstStyle>
          <a:p>
            <a:endParaRPr lang="en-US" altLang="en-US"/>
          </a:p>
        </p:txBody>
      </p:sp>
      <p:sp>
        <p:nvSpPr>
          <p:cNvPr id="5" name="Footer Placeholder 4"/>
          <p:cNvSpPr>
            <a:spLocks noGrp="1"/>
          </p:cNvSpPr>
          <p:nvPr>
            <p:ph type="ftr" sz="quarter" idx="11"/>
          </p:nvPr>
        </p:nvSpPr>
        <p:spPr/>
        <p:txBody>
          <a:bodyPr/>
          <a:lstStyle>
            <a:lvl1pPr>
              <a:defRPr/>
            </a:lvl1pPr>
          </a:lstStyle>
          <a:p>
            <a:endParaRPr lang="en-US" altLang="en-US"/>
          </a:p>
        </p:txBody>
      </p:sp>
      <p:sp>
        <p:nvSpPr>
          <p:cNvPr id="6" name="Slide Number Placeholder 5"/>
          <p:cNvSpPr>
            <a:spLocks noGrp="1"/>
          </p:cNvSpPr>
          <p:nvPr>
            <p:ph type="sldNum" sz="quarter" idx="12"/>
          </p:nvPr>
        </p:nvSpPr>
        <p:spPr/>
        <p:txBody>
          <a:bodyPr/>
          <a:lstStyle>
            <a:lvl1pPr>
              <a:defRPr/>
            </a:lvl1pPr>
          </a:lstStyle>
          <a:p>
            <a:fld id="{FDF94DBA-E875-446D-B0BE-E317E78EF918}" type="slidenum">
              <a:rPr lang="en-US" altLang="en-US"/>
              <a:pPr/>
              <a:t>‹#›</a:t>
            </a:fld>
            <a:endParaRPr lang="en-US"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endParaRPr lang="en-US" altLang="en-US"/>
          </a:p>
        </p:txBody>
      </p:sp>
      <p:sp>
        <p:nvSpPr>
          <p:cNvPr id="5" name="Footer Placeholder 4"/>
          <p:cNvSpPr>
            <a:spLocks noGrp="1"/>
          </p:cNvSpPr>
          <p:nvPr>
            <p:ph type="ftr" sz="quarter" idx="11"/>
          </p:nvPr>
        </p:nvSpPr>
        <p:spPr/>
        <p:txBody>
          <a:bodyPr/>
          <a:lstStyle>
            <a:lvl1pPr>
              <a:defRPr/>
            </a:lvl1pPr>
          </a:lstStyle>
          <a:p>
            <a:endParaRPr lang="en-US" altLang="en-US"/>
          </a:p>
        </p:txBody>
      </p:sp>
      <p:sp>
        <p:nvSpPr>
          <p:cNvPr id="6" name="Slide Number Placeholder 5"/>
          <p:cNvSpPr>
            <a:spLocks noGrp="1"/>
          </p:cNvSpPr>
          <p:nvPr>
            <p:ph type="sldNum" sz="quarter" idx="12"/>
          </p:nvPr>
        </p:nvSpPr>
        <p:spPr/>
        <p:txBody>
          <a:bodyPr/>
          <a:lstStyle>
            <a:lvl1pPr>
              <a:defRPr/>
            </a:lvl1pPr>
          </a:lstStyle>
          <a:p>
            <a:fld id="{C3F719E6-26DB-43D3-BF05-BAA636AAEDB6}" type="slidenum">
              <a:rPr lang="en-US" altLang="en-US"/>
              <a:pPr/>
              <a:t>‹#›</a:t>
            </a:fld>
            <a:endParaRPr lang="en-US"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endParaRPr lang="en-US" altLang="en-US"/>
          </a:p>
        </p:txBody>
      </p:sp>
      <p:sp>
        <p:nvSpPr>
          <p:cNvPr id="5" name="Footer Placeholder 4"/>
          <p:cNvSpPr>
            <a:spLocks noGrp="1"/>
          </p:cNvSpPr>
          <p:nvPr>
            <p:ph type="ftr" sz="quarter" idx="11"/>
          </p:nvPr>
        </p:nvSpPr>
        <p:spPr/>
        <p:txBody>
          <a:bodyPr/>
          <a:lstStyle>
            <a:lvl1pPr>
              <a:defRPr/>
            </a:lvl1pPr>
          </a:lstStyle>
          <a:p>
            <a:endParaRPr lang="en-US" altLang="en-US"/>
          </a:p>
        </p:txBody>
      </p:sp>
      <p:sp>
        <p:nvSpPr>
          <p:cNvPr id="6" name="Slide Number Placeholder 5"/>
          <p:cNvSpPr>
            <a:spLocks noGrp="1"/>
          </p:cNvSpPr>
          <p:nvPr>
            <p:ph type="sldNum" sz="quarter" idx="12"/>
          </p:nvPr>
        </p:nvSpPr>
        <p:spPr/>
        <p:txBody>
          <a:bodyPr/>
          <a:lstStyle>
            <a:lvl1pPr>
              <a:defRPr/>
            </a:lvl1pPr>
          </a:lstStyle>
          <a:p>
            <a:fld id="{510CE67A-5013-443D-922E-8AEB7CDE4871}" type="slidenum">
              <a:rPr lang="en-US" altLang="en-US"/>
              <a:pPr/>
              <a:t>‹#›</a:t>
            </a:fld>
            <a:endParaRPr lang="en-US"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lvl1pPr>
              <a:defRPr/>
            </a:lvl1pPr>
          </a:lstStyle>
          <a:p>
            <a:endParaRPr lang="en-US" altLang="en-US"/>
          </a:p>
        </p:txBody>
      </p:sp>
      <p:sp>
        <p:nvSpPr>
          <p:cNvPr id="6" name="Footer Placeholder 5"/>
          <p:cNvSpPr>
            <a:spLocks noGrp="1"/>
          </p:cNvSpPr>
          <p:nvPr>
            <p:ph type="ftr" sz="quarter" idx="11"/>
          </p:nvPr>
        </p:nvSpPr>
        <p:spPr/>
        <p:txBody>
          <a:bodyPr/>
          <a:lstStyle>
            <a:lvl1pPr>
              <a:defRPr/>
            </a:lvl1pPr>
          </a:lstStyle>
          <a:p>
            <a:endParaRPr lang="en-US" altLang="en-US"/>
          </a:p>
        </p:txBody>
      </p:sp>
      <p:sp>
        <p:nvSpPr>
          <p:cNvPr id="7" name="Slide Number Placeholder 6"/>
          <p:cNvSpPr>
            <a:spLocks noGrp="1"/>
          </p:cNvSpPr>
          <p:nvPr>
            <p:ph type="sldNum" sz="quarter" idx="12"/>
          </p:nvPr>
        </p:nvSpPr>
        <p:spPr/>
        <p:txBody>
          <a:bodyPr/>
          <a:lstStyle>
            <a:lvl1pPr>
              <a:defRPr/>
            </a:lvl1pPr>
          </a:lstStyle>
          <a:p>
            <a:fld id="{977501CF-1862-471A-AD88-CA356647BDC5}" type="slidenum">
              <a:rPr lang="en-US" altLang="en-US"/>
              <a:pPr/>
              <a:t>‹#›</a:t>
            </a:fld>
            <a:endParaRPr lang="en-US"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lvl1pPr>
              <a:defRPr/>
            </a:lvl1pPr>
          </a:lstStyle>
          <a:p>
            <a:endParaRPr lang="en-US" altLang="en-US"/>
          </a:p>
        </p:txBody>
      </p:sp>
      <p:sp>
        <p:nvSpPr>
          <p:cNvPr id="8" name="Footer Placeholder 7"/>
          <p:cNvSpPr>
            <a:spLocks noGrp="1"/>
          </p:cNvSpPr>
          <p:nvPr>
            <p:ph type="ftr" sz="quarter" idx="11"/>
          </p:nvPr>
        </p:nvSpPr>
        <p:spPr/>
        <p:txBody>
          <a:bodyPr/>
          <a:lstStyle>
            <a:lvl1pPr>
              <a:defRPr/>
            </a:lvl1pPr>
          </a:lstStyle>
          <a:p>
            <a:endParaRPr lang="en-US" altLang="en-US"/>
          </a:p>
        </p:txBody>
      </p:sp>
      <p:sp>
        <p:nvSpPr>
          <p:cNvPr id="9" name="Slide Number Placeholder 8"/>
          <p:cNvSpPr>
            <a:spLocks noGrp="1"/>
          </p:cNvSpPr>
          <p:nvPr>
            <p:ph type="sldNum" sz="quarter" idx="12"/>
          </p:nvPr>
        </p:nvSpPr>
        <p:spPr/>
        <p:txBody>
          <a:bodyPr/>
          <a:lstStyle>
            <a:lvl1pPr>
              <a:defRPr/>
            </a:lvl1pPr>
          </a:lstStyle>
          <a:p>
            <a:fld id="{CCD3C449-BFCE-45C2-96A7-0A7AE0A1B011}" type="slidenum">
              <a:rPr lang="en-US" altLang="en-US"/>
              <a:pPr/>
              <a:t>‹#›</a:t>
            </a:fld>
            <a:endParaRPr lang="en-US"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lvl1pPr>
              <a:defRPr/>
            </a:lvl1pPr>
          </a:lstStyle>
          <a:p>
            <a:endParaRPr lang="en-US" altLang="en-US"/>
          </a:p>
        </p:txBody>
      </p:sp>
      <p:sp>
        <p:nvSpPr>
          <p:cNvPr id="4" name="Footer Placeholder 3"/>
          <p:cNvSpPr>
            <a:spLocks noGrp="1"/>
          </p:cNvSpPr>
          <p:nvPr>
            <p:ph type="ftr" sz="quarter" idx="11"/>
          </p:nvPr>
        </p:nvSpPr>
        <p:spPr/>
        <p:txBody>
          <a:bodyPr/>
          <a:lstStyle>
            <a:lvl1pPr>
              <a:defRPr/>
            </a:lvl1pPr>
          </a:lstStyle>
          <a:p>
            <a:endParaRPr lang="en-US" altLang="en-US"/>
          </a:p>
        </p:txBody>
      </p:sp>
      <p:sp>
        <p:nvSpPr>
          <p:cNvPr id="5" name="Slide Number Placeholder 4"/>
          <p:cNvSpPr>
            <a:spLocks noGrp="1"/>
          </p:cNvSpPr>
          <p:nvPr>
            <p:ph type="sldNum" sz="quarter" idx="12"/>
          </p:nvPr>
        </p:nvSpPr>
        <p:spPr/>
        <p:txBody>
          <a:bodyPr/>
          <a:lstStyle>
            <a:lvl1pPr>
              <a:defRPr/>
            </a:lvl1pPr>
          </a:lstStyle>
          <a:p>
            <a:fld id="{E5744B3D-0E21-4CEA-A771-4054ACDF5487}" type="slidenum">
              <a:rPr lang="en-US" altLang="en-US"/>
              <a:pPr/>
              <a:t>‹#›</a:t>
            </a:fld>
            <a:endParaRPr lang="en-US"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endParaRPr lang="en-US" altLang="en-US"/>
          </a:p>
        </p:txBody>
      </p:sp>
      <p:sp>
        <p:nvSpPr>
          <p:cNvPr id="3" name="Footer Placeholder 2"/>
          <p:cNvSpPr>
            <a:spLocks noGrp="1"/>
          </p:cNvSpPr>
          <p:nvPr>
            <p:ph type="ftr" sz="quarter" idx="11"/>
          </p:nvPr>
        </p:nvSpPr>
        <p:spPr/>
        <p:txBody>
          <a:bodyPr/>
          <a:lstStyle>
            <a:lvl1pPr>
              <a:defRPr/>
            </a:lvl1pPr>
          </a:lstStyle>
          <a:p>
            <a:endParaRPr lang="en-US" altLang="en-US"/>
          </a:p>
        </p:txBody>
      </p:sp>
      <p:sp>
        <p:nvSpPr>
          <p:cNvPr id="4" name="Slide Number Placeholder 3"/>
          <p:cNvSpPr>
            <a:spLocks noGrp="1"/>
          </p:cNvSpPr>
          <p:nvPr>
            <p:ph type="sldNum" sz="quarter" idx="12"/>
          </p:nvPr>
        </p:nvSpPr>
        <p:spPr/>
        <p:txBody>
          <a:bodyPr/>
          <a:lstStyle>
            <a:lvl1pPr>
              <a:defRPr/>
            </a:lvl1pPr>
          </a:lstStyle>
          <a:p>
            <a:fld id="{FA1E25BF-97AF-4DDE-8F7B-0DCEBD5A7020}" type="slidenum">
              <a:rPr lang="en-US" altLang="en-US"/>
              <a:pPr/>
              <a:t>‹#›</a:t>
            </a:fld>
            <a:endParaRPr lang="en-US"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lvl1pPr>
              <a:defRPr/>
            </a:lvl1pPr>
          </a:lstStyle>
          <a:p>
            <a:endParaRPr lang="en-US" altLang="en-US"/>
          </a:p>
        </p:txBody>
      </p:sp>
      <p:sp>
        <p:nvSpPr>
          <p:cNvPr id="6" name="Footer Placeholder 5"/>
          <p:cNvSpPr>
            <a:spLocks noGrp="1"/>
          </p:cNvSpPr>
          <p:nvPr>
            <p:ph type="ftr" sz="quarter" idx="11"/>
          </p:nvPr>
        </p:nvSpPr>
        <p:spPr/>
        <p:txBody>
          <a:bodyPr/>
          <a:lstStyle>
            <a:lvl1pPr>
              <a:defRPr/>
            </a:lvl1pPr>
          </a:lstStyle>
          <a:p>
            <a:endParaRPr lang="en-US" altLang="en-US"/>
          </a:p>
        </p:txBody>
      </p:sp>
      <p:sp>
        <p:nvSpPr>
          <p:cNvPr id="7" name="Slide Number Placeholder 6"/>
          <p:cNvSpPr>
            <a:spLocks noGrp="1"/>
          </p:cNvSpPr>
          <p:nvPr>
            <p:ph type="sldNum" sz="quarter" idx="12"/>
          </p:nvPr>
        </p:nvSpPr>
        <p:spPr/>
        <p:txBody>
          <a:bodyPr/>
          <a:lstStyle>
            <a:lvl1pPr>
              <a:defRPr/>
            </a:lvl1pPr>
          </a:lstStyle>
          <a:p>
            <a:fld id="{9B6913B5-4708-44D6-91C1-30CA2CFFF64B}" type="slidenum">
              <a:rPr lang="en-US" altLang="en-US"/>
              <a:pPr/>
              <a:t>‹#›</a:t>
            </a:fld>
            <a:endParaRPr lang="en-US"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lvl1pPr>
              <a:defRPr/>
            </a:lvl1pPr>
          </a:lstStyle>
          <a:p>
            <a:endParaRPr lang="en-US" altLang="en-US"/>
          </a:p>
        </p:txBody>
      </p:sp>
      <p:sp>
        <p:nvSpPr>
          <p:cNvPr id="6" name="Footer Placeholder 5"/>
          <p:cNvSpPr>
            <a:spLocks noGrp="1"/>
          </p:cNvSpPr>
          <p:nvPr>
            <p:ph type="ftr" sz="quarter" idx="11"/>
          </p:nvPr>
        </p:nvSpPr>
        <p:spPr/>
        <p:txBody>
          <a:bodyPr/>
          <a:lstStyle>
            <a:lvl1pPr>
              <a:defRPr/>
            </a:lvl1pPr>
          </a:lstStyle>
          <a:p>
            <a:endParaRPr lang="en-US" altLang="en-US"/>
          </a:p>
        </p:txBody>
      </p:sp>
      <p:sp>
        <p:nvSpPr>
          <p:cNvPr id="7" name="Slide Number Placeholder 6"/>
          <p:cNvSpPr>
            <a:spLocks noGrp="1"/>
          </p:cNvSpPr>
          <p:nvPr>
            <p:ph type="sldNum" sz="quarter" idx="12"/>
          </p:nvPr>
        </p:nvSpPr>
        <p:spPr/>
        <p:txBody>
          <a:bodyPr/>
          <a:lstStyle>
            <a:lvl1pPr>
              <a:defRPr/>
            </a:lvl1pPr>
          </a:lstStyle>
          <a:p>
            <a:fld id="{CF51CDB3-52C7-4FDC-8EF7-BE4997F57762}" type="slidenum">
              <a:rPr lang="en-US" altLang="en-US"/>
              <a:pPr/>
              <a:t>‹#›</a:t>
            </a:fld>
            <a:endParaRPr lang="en-US"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endParaRPr lang="en-US" altLang="en-US"/>
          </a:p>
        </p:txBody>
      </p:sp>
      <p:sp>
        <p:nvSpPr>
          <p:cNvPr id="5" name="Footer Placeholder 4"/>
          <p:cNvSpPr>
            <a:spLocks noGrp="1"/>
          </p:cNvSpPr>
          <p:nvPr>
            <p:ph type="ftr" sz="quarter" idx="11"/>
          </p:nvPr>
        </p:nvSpPr>
        <p:spPr/>
        <p:txBody>
          <a:bodyPr/>
          <a:lstStyle>
            <a:lvl1pPr>
              <a:defRPr/>
            </a:lvl1pPr>
          </a:lstStyle>
          <a:p>
            <a:endParaRPr lang="en-US" altLang="en-US"/>
          </a:p>
        </p:txBody>
      </p:sp>
      <p:sp>
        <p:nvSpPr>
          <p:cNvPr id="6" name="Slide Number Placeholder 5"/>
          <p:cNvSpPr>
            <a:spLocks noGrp="1"/>
          </p:cNvSpPr>
          <p:nvPr>
            <p:ph type="sldNum" sz="quarter" idx="12"/>
          </p:nvPr>
        </p:nvSpPr>
        <p:spPr/>
        <p:txBody>
          <a:bodyPr/>
          <a:lstStyle>
            <a:lvl1pPr>
              <a:defRPr/>
            </a:lvl1pPr>
          </a:lstStyle>
          <a:p>
            <a:fld id="{A6A7ECC6-43C6-44DA-AB91-66132AF27573}" type="slidenum">
              <a:rPr lang="en-US" altLang="en-US"/>
              <a:pPr/>
              <a:t>‹#›</a:t>
            </a:fld>
            <a:endParaRPr lang="en-US"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609600"/>
            <a:ext cx="1943100" cy="54864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85800" y="609600"/>
            <a:ext cx="5676900" cy="54864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endParaRPr lang="en-US" altLang="en-US"/>
          </a:p>
        </p:txBody>
      </p:sp>
      <p:sp>
        <p:nvSpPr>
          <p:cNvPr id="5" name="Footer Placeholder 4"/>
          <p:cNvSpPr>
            <a:spLocks noGrp="1"/>
          </p:cNvSpPr>
          <p:nvPr>
            <p:ph type="ftr" sz="quarter" idx="11"/>
          </p:nvPr>
        </p:nvSpPr>
        <p:spPr/>
        <p:txBody>
          <a:bodyPr/>
          <a:lstStyle>
            <a:lvl1pPr>
              <a:defRPr/>
            </a:lvl1pPr>
          </a:lstStyle>
          <a:p>
            <a:endParaRPr lang="en-US" altLang="en-US"/>
          </a:p>
        </p:txBody>
      </p:sp>
      <p:sp>
        <p:nvSpPr>
          <p:cNvPr id="6" name="Slide Number Placeholder 5"/>
          <p:cNvSpPr>
            <a:spLocks noGrp="1"/>
          </p:cNvSpPr>
          <p:nvPr>
            <p:ph type="sldNum" sz="quarter" idx="12"/>
          </p:nvPr>
        </p:nvSpPr>
        <p:spPr/>
        <p:txBody>
          <a:bodyPr/>
          <a:lstStyle>
            <a:lvl1pPr>
              <a:defRPr/>
            </a:lvl1pPr>
          </a:lstStyle>
          <a:p>
            <a:fld id="{4718D91F-E51C-435A-91F5-F06A264EBD68}" type="slidenum">
              <a:rPr lang="en-US" altLang="en-US"/>
              <a:pPr/>
              <a:t>‹#›</a:t>
            </a:fld>
            <a:endParaRPr lang="en-US"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85800" y="609600"/>
            <a:ext cx="7772400" cy="1143000"/>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685800" y="1981200"/>
            <a:ext cx="3810000" cy="4114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981200"/>
            <a:ext cx="3810000" cy="4114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a:xfrm>
            <a:off x="685800" y="6248400"/>
            <a:ext cx="1905000" cy="457200"/>
          </a:xfrm>
        </p:spPr>
        <p:txBody>
          <a:bodyPr/>
          <a:lstStyle>
            <a:lvl1pPr>
              <a:defRPr/>
            </a:lvl1pPr>
          </a:lstStyle>
          <a:p>
            <a:endParaRPr lang="en-US" altLang="en-US"/>
          </a:p>
        </p:txBody>
      </p:sp>
      <p:sp>
        <p:nvSpPr>
          <p:cNvPr id="6" name="Footer Placeholder 5"/>
          <p:cNvSpPr>
            <a:spLocks noGrp="1"/>
          </p:cNvSpPr>
          <p:nvPr>
            <p:ph type="ftr" sz="quarter" idx="11"/>
          </p:nvPr>
        </p:nvSpPr>
        <p:spPr>
          <a:xfrm>
            <a:off x="3124200" y="6248400"/>
            <a:ext cx="2895600" cy="457200"/>
          </a:xfrm>
        </p:spPr>
        <p:txBody>
          <a:bodyPr/>
          <a:lstStyle>
            <a:lvl1pPr>
              <a:defRPr/>
            </a:lvl1pPr>
          </a:lstStyle>
          <a:p>
            <a:endParaRPr lang="en-US" altLang="en-US"/>
          </a:p>
        </p:txBody>
      </p:sp>
      <p:sp>
        <p:nvSpPr>
          <p:cNvPr id="7" name="Slide Number Placeholder 6"/>
          <p:cNvSpPr>
            <a:spLocks noGrp="1"/>
          </p:cNvSpPr>
          <p:nvPr>
            <p:ph type="sldNum" sz="quarter" idx="12"/>
          </p:nvPr>
        </p:nvSpPr>
        <p:spPr>
          <a:xfrm>
            <a:off x="7086600" y="76200"/>
            <a:ext cx="1905000" cy="457200"/>
          </a:xfrm>
        </p:spPr>
        <p:txBody>
          <a:bodyPr/>
          <a:lstStyle>
            <a:lvl1pPr>
              <a:defRPr/>
            </a:lvl1pPr>
          </a:lstStyle>
          <a:p>
            <a:fld id="{92F916DB-4834-42FE-AEFC-4FA8B8182CCD}" type="slidenum">
              <a:rPr lang="en-US" altLang="en-US"/>
              <a:pPr/>
              <a:t>‹#›</a:t>
            </a:fld>
            <a:endParaRPr lang="en-US"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txAndClipArt" preserve="1">
  <p:cSld name="Title, Text and Clip Art">
    <p:spTree>
      <p:nvGrpSpPr>
        <p:cNvPr id="1" name=""/>
        <p:cNvGrpSpPr/>
        <p:nvPr/>
      </p:nvGrpSpPr>
      <p:grpSpPr>
        <a:xfrm>
          <a:off x="0" y="0"/>
          <a:ext cx="0" cy="0"/>
          <a:chOff x="0" y="0"/>
          <a:chExt cx="0" cy="0"/>
        </a:xfrm>
      </p:grpSpPr>
      <p:sp>
        <p:nvSpPr>
          <p:cNvPr id="2" name="Title 1"/>
          <p:cNvSpPr>
            <a:spLocks noGrp="1"/>
          </p:cNvSpPr>
          <p:nvPr>
            <p:ph type="title"/>
          </p:nvPr>
        </p:nvSpPr>
        <p:spPr>
          <a:xfrm>
            <a:off x="685800" y="609600"/>
            <a:ext cx="7772400" cy="1143000"/>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685800" y="1981200"/>
            <a:ext cx="3810000" cy="4114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lipArt Placeholder 3"/>
          <p:cNvSpPr>
            <a:spLocks noGrp="1"/>
          </p:cNvSpPr>
          <p:nvPr>
            <p:ph type="clipArt" sz="half" idx="2"/>
          </p:nvPr>
        </p:nvSpPr>
        <p:spPr>
          <a:xfrm>
            <a:off x="4648200" y="1981200"/>
            <a:ext cx="3810000" cy="4114800"/>
          </a:xfrm>
        </p:spPr>
        <p:txBody>
          <a:bodyPr/>
          <a:lstStyle/>
          <a:p>
            <a:endParaRPr lang="en-US"/>
          </a:p>
        </p:txBody>
      </p:sp>
      <p:sp>
        <p:nvSpPr>
          <p:cNvPr id="5" name="Date Placeholder 4"/>
          <p:cNvSpPr>
            <a:spLocks noGrp="1"/>
          </p:cNvSpPr>
          <p:nvPr>
            <p:ph type="dt" sz="half" idx="10"/>
          </p:nvPr>
        </p:nvSpPr>
        <p:spPr>
          <a:xfrm>
            <a:off x="685800" y="6248400"/>
            <a:ext cx="1905000" cy="457200"/>
          </a:xfrm>
        </p:spPr>
        <p:txBody>
          <a:bodyPr/>
          <a:lstStyle>
            <a:lvl1pPr>
              <a:defRPr/>
            </a:lvl1pPr>
          </a:lstStyle>
          <a:p>
            <a:endParaRPr lang="en-US" altLang="en-US"/>
          </a:p>
        </p:txBody>
      </p:sp>
      <p:sp>
        <p:nvSpPr>
          <p:cNvPr id="6" name="Footer Placeholder 5"/>
          <p:cNvSpPr>
            <a:spLocks noGrp="1"/>
          </p:cNvSpPr>
          <p:nvPr>
            <p:ph type="ftr" sz="quarter" idx="11"/>
          </p:nvPr>
        </p:nvSpPr>
        <p:spPr>
          <a:xfrm>
            <a:off x="3124200" y="6248400"/>
            <a:ext cx="2895600" cy="457200"/>
          </a:xfrm>
        </p:spPr>
        <p:txBody>
          <a:bodyPr/>
          <a:lstStyle>
            <a:lvl1pPr>
              <a:defRPr/>
            </a:lvl1pPr>
          </a:lstStyle>
          <a:p>
            <a:endParaRPr lang="en-US" altLang="en-US"/>
          </a:p>
        </p:txBody>
      </p:sp>
      <p:sp>
        <p:nvSpPr>
          <p:cNvPr id="7" name="Slide Number Placeholder 6"/>
          <p:cNvSpPr>
            <a:spLocks noGrp="1"/>
          </p:cNvSpPr>
          <p:nvPr>
            <p:ph type="sldNum" sz="quarter" idx="12"/>
          </p:nvPr>
        </p:nvSpPr>
        <p:spPr>
          <a:xfrm>
            <a:off x="7086600" y="76200"/>
            <a:ext cx="1905000" cy="457200"/>
          </a:xfrm>
        </p:spPr>
        <p:txBody>
          <a:bodyPr/>
          <a:lstStyle>
            <a:lvl1pPr>
              <a:defRPr/>
            </a:lvl1pPr>
          </a:lstStyle>
          <a:p>
            <a:fld id="{B7088F87-1917-4705-874D-98F4B0C3FE83}" type="slidenum">
              <a:rPr lang="en-US" altLang="en-US"/>
              <a:pPr/>
              <a:t>‹#›</a:t>
            </a:fld>
            <a:endParaRPr lang="en-US"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0" y="609600"/>
            <a:ext cx="7772400" cy="114300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p>
            <a:pPr lvl="0"/>
            <a:r>
              <a:rPr lang="en-US" altLang="en-US" smtClean="0"/>
              <a:t>Click to edit Master title style</a:t>
            </a:r>
          </a:p>
        </p:txBody>
      </p:sp>
      <p:sp>
        <p:nvSpPr>
          <p:cNvPr id="1027" name="Rectangle 3"/>
          <p:cNvSpPr>
            <a:spLocks noGrp="1" noChangeArrowheads="1"/>
          </p:cNvSpPr>
          <p:nvPr>
            <p:ph type="body" idx="1"/>
          </p:nvPr>
        </p:nvSpPr>
        <p:spPr bwMode="auto">
          <a:xfrm>
            <a:off x="685800" y="1981200"/>
            <a:ext cx="7772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altLang="en-US" smtClean="0"/>
              <a:t>Click to 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p>
        </p:txBody>
      </p:sp>
      <p:sp>
        <p:nvSpPr>
          <p:cNvPr id="1028" name="Rectangle 4"/>
          <p:cNvSpPr>
            <a:spLocks noGrp="1" noChangeArrowheads="1"/>
          </p:cNvSpPr>
          <p:nvPr>
            <p:ph type="dt" sz="half" idx="2"/>
          </p:nvPr>
        </p:nvSpPr>
        <p:spPr bwMode="auto">
          <a:xfrm>
            <a:off x="6858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lvl1pPr>
          </a:lstStyle>
          <a:p>
            <a:endParaRPr lang="en-US" altLang="en-US"/>
          </a:p>
        </p:txBody>
      </p:sp>
      <p:sp>
        <p:nvSpPr>
          <p:cNvPr id="1029" name="Rectangle 5"/>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lvl1pPr>
          </a:lstStyle>
          <a:p>
            <a:endParaRPr lang="en-US" altLang="en-US"/>
          </a:p>
        </p:txBody>
      </p:sp>
      <p:sp>
        <p:nvSpPr>
          <p:cNvPr id="1030" name="Rectangle 6"/>
          <p:cNvSpPr>
            <a:spLocks noGrp="1" noChangeArrowheads="1"/>
          </p:cNvSpPr>
          <p:nvPr>
            <p:ph type="sldNum" sz="quarter" idx="4"/>
          </p:nvPr>
        </p:nvSpPr>
        <p:spPr bwMode="auto">
          <a:xfrm>
            <a:off x="7086600" y="762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600" b="1">
                <a:latin typeface="Arial" charset="0"/>
              </a:defRPr>
            </a:lvl1pPr>
          </a:lstStyle>
          <a:p>
            <a:fld id="{790A4D5D-10A5-411A-AF53-A479C7AF6C61}" type="slidenum">
              <a:rPr lang="en-US" altLang="en-US"/>
              <a:pPr/>
              <a:t>‹#›</a:t>
            </a:fld>
            <a:endParaRPr lang="en-US" altLang="en-US"/>
          </a:p>
        </p:txBody>
      </p:sp>
      <p:sp>
        <p:nvSpPr>
          <p:cNvPr id="1031" name="Text Box 7"/>
          <p:cNvSpPr txBox="1">
            <a:spLocks noChangeArrowheads="1"/>
          </p:cNvSpPr>
          <p:nvPr userDrawn="1"/>
        </p:nvSpPr>
        <p:spPr bwMode="auto">
          <a:xfrm rot="16200000">
            <a:off x="-2747963" y="3389313"/>
            <a:ext cx="6073775" cy="1006476"/>
          </a:xfrm>
          <a:prstGeom prst="rect">
            <a:avLst/>
          </a:prstGeom>
          <a:noFill/>
          <a:ln w="9525">
            <a:noFill/>
            <a:miter lim="800000"/>
            <a:headEnd/>
            <a:tailEnd/>
          </a:ln>
          <a:effectLst/>
        </p:spPr>
        <p:txBody>
          <a:bodyPr>
            <a:spAutoFit/>
          </a:bodyPr>
          <a:lstStyle/>
          <a:p>
            <a:r>
              <a:rPr lang="en-US" sz="6000" dirty="0" err="1">
                <a:solidFill>
                  <a:schemeClr val="bg1">
                    <a:lumMod val="85000"/>
                  </a:schemeClr>
                </a:solidFill>
              </a:rPr>
              <a:t>Mansoor</a:t>
            </a:r>
            <a:r>
              <a:rPr lang="en-US" sz="6000" dirty="0">
                <a:solidFill>
                  <a:schemeClr val="bg1">
                    <a:lumMod val="85000"/>
                  </a:schemeClr>
                </a:solidFill>
              </a:rPr>
              <a:t> </a:t>
            </a:r>
            <a:r>
              <a:rPr lang="en-US" sz="6000" dirty="0" err="1">
                <a:solidFill>
                  <a:schemeClr val="bg1">
                    <a:lumMod val="85000"/>
                  </a:schemeClr>
                </a:solidFill>
              </a:rPr>
              <a:t>Shaukat</a:t>
            </a:r>
            <a:endParaRPr lang="en-US" sz="6000" dirty="0">
              <a:solidFill>
                <a:schemeClr val="bg1">
                  <a:lumMod val="85000"/>
                </a:schemeClr>
              </a:solidFill>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iming>
    <p:tnLst>
      <p:par>
        <p:cTn id="1" dur="indefinite" restart="never" nodeType="tmRoot"/>
      </p:par>
    </p:tnLst>
  </p:timing>
  <p:hf hdr="0" ftr="0" dt="0"/>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itchFamily="18" charset="0"/>
        </a:defRPr>
      </a:lvl2pPr>
      <a:lvl3pPr algn="ctr" rtl="0" eaLnBrk="0" fontAlgn="base" hangingPunct="0">
        <a:spcBef>
          <a:spcPct val="0"/>
        </a:spcBef>
        <a:spcAft>
          <a:spcPct val="0"/>
        </a:spcAft>
        <a:defRPr sz="4400">
          <a:solidFill>
            <a:schemeClr val="tx2"/>
          </a:solidFill>
          <a:latin typeface="Times New Roman" pitchFamily="18" charset="0"/>
        </a:defRPr>
      </a:lvl3pPr>
      <a:lvl4pPr algn="ctr" rtl="0" eaLnBrk="0" fontAlgn="base" hangingPunct="0">
        <a:spcBef>
          <a:spcPct val="0"/>
        </a:spcBef>
        <a:spcAft>
          <a:spcPct val="0"/>
        </a:spcAft>
        <a:defRPr sz="4400">
          <a:solidFill>
            <a:schemeClr val="tx2"/>
          </a:solidFill>
          <a:latin typeface="Times New Roman" pitchFamily="18" charset="0"/>
        </a:defRPr>
      </a:lvl4pPr>
      <a:lvl5pPr algn="ctr" rtl="0" eaLnBrk="0" fontAlgn="base" hangingPunct="0">
        <a:spcBef>
          <a:spcPct val="0"/>
        </a:spcBef>
        <a:spcAft>
          <a:spcPct val="0"/>
        </a:spcAft>
        <a:defRPr sz="4400">
          <a:solidFill>
            <a:schemeClr val="tx2"/>
          </a:solidFill>
          <a:latin typeface="Times New Roman" pitchFamily="18" charset="0"/>
        </a:defRPr>
      </a:lvl5pPr>
      <a:lvl6pPr marL="457200" algn="ctr" rtl="0" eaLnBrk="0" fontAlgn="base" hangingPunct="0">
        <a:spcBef>
          <a:spcPct val="0"/>
        </a:spcBef>
        <a:spcAft>
          <a:spcPct val="0"/>
        </a:spcAft>
        <a:defRPr sz="4400">
          <a:solidFill>
            <a:schemeClr val="tx2"/>
          </a:solidFill>
          <a:latin typeface="Times New Roman" pitchFamily="18" charset="0"/>
        </a:defRPr>
      </a:lvl6pPr>
      <a:lvl7pPr marL="914400" algn="ctr" rtl="0" eaLnBrk="0" fontAlgn="base" hangingPunct="0">
        <a:spcBef>
          <a:spcPct val="0"/>
        </a:spcBef>
        <a:spcAft>
          <a:spcPct val="0"/>
        </a:spcAft>
        <a:defRPr sz="4400">
          <a:solidFill>
            <a:schemeClr val="tx2"/>
          </a:solidFill>
          <a:latin typeface="Times New Roman" pitchFamily="18" charset="0"/>
        </a:defRPr>
      </a:lvl7pPr>
      <a:lvl8pPr marL="1371600" algn="ctr" rtl="0" eaLnBrk="0" fontAlgn="base" hangingPunct="0">
        <a:spcBef>
          <a:spcPct val="0"/>
        </a:spcBef>
        <a:spcAft>
          <a:spcPct val="0"/>
        </a:spcAft>
        <a:defRPr sz="4400">
          <a:solidFill>
            <a:schemeClr val="tx2"/>
          </a:solidFill>
          <a:latin typeface="Times New Roman" pitchFamily="18" charset="0"/>
        </a:defRPr>
      </a:lvl8pPr>
      <a:lvl9pPr marL="1828800" algn="ctr" rtl="0" eaLnBrk="0" fontAlgn="base" hangingPunct="0">
        <a:spcBef>
          <a:spcPct val="0"/>
        </a:spcBef>
        <a:spcAft>
          <a:spcPct val="0"/>
        </a:spcAft>
        <a:defRPr sz="4400">
          <a:solidFill>
            <a:schemeClr val="tx2"/>
          </a:solidFill>
          <a:latin typeface="Times New Roman" pitchFamily="18"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0" fontAlgn="base" hangingPunct="0">
        <a:spcBef>
          <a:spcPct val="20000"/>
        </a:spcBef>
        <a:spcAft>
          <a:spcPct val="0"/>
        </a:spcAft>
        <a:buChar char="»"/>
        <a:defRPr sz="2000">
          <a:solidFill>
            <a:schemeClr val="tx1"/>
          </a:solidFill>
          <a:latin typeface="+mn-lt"/>
        </a:defRPr>
      </a:lvl6pPr>
      <a:lvl7pPr marL="2971800" indent="-228600" algn="l" rtl="0" eaLnBrk="0" fontAlgn="base" hangingPunct="0">
        <a:spcBef>
          <a:spcPct val="20000"/>
        </a:spcBef>
        <a:spcAft>
          <a:spcPct val="0"/>
        </a:spcAft>
        <a:buChar char="»"/>
        <a:defRPr sz="2000">
          <a:solidFill>
            <a:schemeClr val="tx1"/>
          </a:solidFill>
          <a:latin typeface="+mn-lt"/>
        </a:defRPr>
      </a:lvl7pPr>
      <a:lvl8pPr marL="3429000" indent="-228600" algn="l" rtl="0" eaLnBrk="0" fontAlgn="base" hangingPunct="0">
        <a:spcBef>
          <a:spcPct val="20000"/>
        </a:spcBef>
        <a:spcAft>
          <a:spcPct val="0"/>
        </a:spcAft>
        <a:buChar char="»"/>
        <a:defRPr sz="2000">
          <a:solidFill>
            <a:schemeClr val="tx1"/>
          </a:solidFill>
          <a:latin typeface="+mn-lt"/>
        </a:defRPr>
      </a:lvl8pPr>
      <a:lvl9pPr marL="3886200" indent="-228600" algn="l" rtl="0" eaLnBrk="0" fontAlgn="base" hangingPunct="0">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8" Type="http://schemas.openxmlformats.org/officeDocument/2006/relationships/image" Target="../media/image6.png"/><Relationship Id="rId3" Type="http://schemas.microsoft.com/office/2007/relationships/hdphoto" Target="../media/hdphoto2.wdp"/><Relationship Id="rId7" Type="http://schemas.microsoft.com/office/2007/relationships/hdphoto" Target="../media/hdphoto4.wdp"/><Relationship Id="rId2" Type="http://schemas.openxmlformats.org/officeDocument/2006/relationships/image" Target="../media/image3.png"/><Relationship Id="rId1" Type="http://schemas.openxmlformats.org/officeDocument/2006/relationships/slideLayout" Target="../slideLayouts/slideLayout12.xml"/><Relationship Id="rId6" Type="http://schemas.openxmlformats.org/officeDocument/2006/relationships/image" Target="../media/image5.png"/><Relationship Id="rId5" Type="http://schemas.microsoft.com/office/2007/relationships/hdphoto" Target="../media/hdphoto3.wdp"/><Relationship Id="rId4" Type="http://schemas.openxmlformats.org/officeDocument/2006/relationships/image" Target="../media/image4.png"/><Relationship Id="rId9" Type="http://schemas.microsoft.com/office/2007/relationships/hdphoto" Target="../media/hdphoto5.wdp"/></Relationships>
</file>

<file path=ppt/slides/_rels/slide6.xml.rels><?xml version="1.0" encoding="UTF-8" standalone="yes"?>
<Relationships xmlns="http://schemas.openxmlformats.org/package/2006/relationships"><Relationship Id="rId3" Type="http://schemas.microsoft.com/office/2007/relationships/hdphoto" Target="../media/hdphoto6.wdp"/><Relationship Id="rId2" Type="http://schemas.openxmlformats.org/officeDocument/2006/relationships/image" Target="../media/image7.png"/><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microsoft.com/office/2007/relationships/hdphoto" Target="../media/hdphoto7.wdp"/><Relationship Id="rId7" Type="http://schemas.microsoft.com/office/2007/relationships/hdphoto" Target="../media/hdphoto9.wdp"/><Relationship Id="rId2" Type="http://schemas.openxmlformats.org/officeDocument/2006/relationships/image" Target="../media/image9.png"/><Relationship Id="rId1" Type="http://schemas.openxmlformats.org/officeDocument/2006/relationships/slideLayout" Target="../slideLayouts/slideLayout13.xml"/><Relationship Id="rId6" Type="http://schemas.openxmlformats.org/officeDocument/2006/relationships/image" Target="../media/image11.png"/><Relationship Id="rId5" Type="http://schemas.microsoft.com/office/2007/relationships/hdphoto" Target="../media/hdphoto8.wdp"/><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7" Type="http://schemas.microsoft.com/office/2007/relationships/hdphoto" Target="../media/hdphoto11.wdp"/><Relationship Id="rId2" Type="http://schemas.openxmlformats.org/officeDocument/2006/relationships/hyperlink" Target="https://circuitglobe.com/wp-content/uploads/2015/10/voltage-current-source-fig-5-compressor.jpg" TargetMode="External"/><Relationship Id="rId1" Type="http://schemas.openxmlformats.org/officeDocument/2006/relationships/slideLayout" Target="../slideLayouts/slideLayout13.xml"/><Relationship Id="rId6" Type="http://schemas.openxmlformats.org/officeDocument/2006/relationships/image" Target="../media/image13.png"/><Relationship Id="rId5" Type="http://schemas.openxmlformats.org/officeDocument/2006/relationships/hyperlink" Target="https://circuitglobe.com/wp-content/uploads/2015/10/voltage-current-source-fig-6-compressor.jpg" TargetMode="External"/><Relationship Id="rId4" Type="http://schemas.microsoft.com/office/2007/relationships/hdphoto" Target="../media/hdphoto10.wdp"/></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microsoft.com/office/2007/relationships/hdphoto" Target="../media/hdphoto12.wdp"/><Relationship Id="rId2" Type="http://schemas.openxmlformats.org/officeDocument/2006/relationships/image" Target="../media/image14.png"/><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3" Type="http://schemas.microsoft.com/office/2007/relationships/hdphoto" Target="../media/hdphoto13.wdp"/><Relationship Id="rId2" Type="http://schemas.openxmlformats.org/officeDocument/2006/relationships/image" Target="../media/image15.png"/><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3" Type="http://schemas.microsoft.com/office/2007/relationships/hdphoto" Target="../media/hdphoto14.wdp"/><Relationship Id="rId2" Type="http://schemas.openxmlformats.org/officeDocument/2006/relationships/image" Target="../media/image16.png"/><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8" Type="http://schemas.openxmlformats.org/officeDocument/2006/relationships/image" Target="../media/image22.png"/><Relationship Id="rId3" Type="http://schemas.microsoft.com/office/2007/relationships/hdphoto" Target="../media/hdphoto15.wdp"/><Relationship Id="rId7" Type="http://schemas.openxmlformats.org/officeDocument/2006/relationships/image" Target="../media/image21.png"/><Relationship Id="rId2" Type="http://schemas.openxmlformats.org/officeDocument/2006/relationships/image" Target="../media/image17.png"/><Relationship Id="rId1" Type="http://schemas.openxmlformats.org/officeDocument/2006/relationships/slideLayout" Target="../slideLayouts/slideLayout13.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 Id="rId9" Type="http://schemas.openxmlformats.org/officeDocument/2006/relationships/image" Target="../media/image23.png"/></Relationships>
</file>

<file path=ppt/slides/_rels/slide20.xml.rels><?xml version="1.0" encoding="UTF-8" standalone="yes"?>
<Relationships xmlns="http://schemas.openxmlformats.org/package/2006/relationships"><Relationship Id="rId2" Type="http://schemas.openxmlformats.org/officeDocument/2006/relationships/image" Target="../media/image24.emf"/><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39618" name="Group 2"/>
          <p:cNvGrpSpPr>
            <a:grpSpLocks/>
          </p:cNvGrpSpPr>
          <p:nvPr/>
        </p:nvGrpSpPr>
        <p:grpSpPr bwMode="auto">
          <a:xfrm>
            <a:off x="904875" y="2276475"/>
            <a:ext cx="7705725" cy="2066925"/>
            <a:chOff x="426" y="1434"/>
            <a:chExt cx="5048" cy="1365"/>
          </a:xfrm>
        </p:grpSpPr>
        <p:pic>
          <p:nvPicPr>
            <p:cNvPr id="239619" name="Picture 3" descr="bismillah1"/>
            <p:cNvPicPr>
              <a:picLocks noChangeAspect="1" noChangeArrowheads="1"/>
            </p:cNvPicPr>
            <p:nvPr/>
          </p:nvPicPr>
          <p:blipFill>
            <a:blip r:embed="rId3" cstate="print">
              <a:clrChange>
                <a:clrFrom>
                  <a:srgbClr val="FFFFFF"/>
                </a:clrFrom>
                <a:clrTo>
                  <a:srgbClr val="FFFFFF">
                    <a:alpha val="0"/>
                  </a:srgbClr>
                </a:clrTo>
              </a:clrChange>
            </a:blip>
            <a:srcRect/>
            <a:stretch>
              <a:fillRect/>
            </a:stretch>
          </p:blipFill>
          <p:spPr bwMode="auto">
            <a:xfrm>
              <a:off x="426" y="1434"/>
              <a:ext cx="5048" cy="1365"/>
            </a:xfrm>
            <a:prstGeom prst="rect">
              <a:avLst/>
            </a:prstGeom>
            <a:noFill/>
          </p:spPr>
        </p:pic>
        <p:sp>
          <p:nvSpPr>
            <p:cNvPr id="239620" name="Rectangle 4"/>
            <p:cNvSpPr>
              <a:spLocks noChangeArrowheads="1"/>
            </p:cNvSpPr>
            <p:nvPr/>
          </p:nvSpPr>
          <p:spPr bwMode="auto">
            <a:xfrm>
              <a:off x="1944" y="2308"/>
              <a:ext cx="47" cy="73"/>
            </a:xfrm>
            <a:prstGeom prst="rect">
              <a:avLst/>
            </a:prstGeom>
            <a:solidFill>
              <a:srgbClr val="0000FF"/>
            </a:solidFill>
            <a:ln w="9525">
              <a:noFill/>
              <a:miter lim="800000"/>
              <a:headEnd/>
              <a:tailEnd/>
            </a:ln>
            <a:effectLst/>
          </p:spPr>
          <p:txBody>
            <a:bodyPr wrap="none" anchor="ctr"/>
            <a:lstStyle/>
            <a:p>
              <a:endParaRPr lang="en-US"/>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 presetClass="entr" presetSubtype="10" fill="hold" nodeType="afterEffect">
                                  <p:stCondLst>
                                    <p:cond delay="0"/>
                                  </p:stCondLst>
                                  <p:childTnLst>
                                    <p:set>
                                      <p:cBhvr>
                                        <p:cTn id="6" dur="1" fill="hold">
                                          <p:stCondLst>
                                            <p:cond delay="0"/>
                                          </p:stCondLst>
                                        </p:cTn>
                                        <p:tgtEl>
                                          <p:spTgt spid="239618"/>
                                        </p:tgtEl>
                                        <p:attrNameLst>
                                          <p:attrName>style.visibility</p:attrName>
                                        </p:attrNameLst>
                                      </p:cBhvr>
                                      <p:to>
                                        <p:strVal val="visible"/>
                                      </p:to>
                                    </p:set>
                                    <p:animEffect transition="in" filter="checkerboard(across)">
                                      <p:cBhvr>
                                        <p:cTn id="7" dur="500"/>
                                        <p:tgtEl>
                                          <p:spTgt spid="2396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6"/>
          <p:cNvSpPr>
            <a:spLocks noGrp="1"/>
          </p:cNvSpPr>
          <p:nvPr>
            <p:ph type="sldNum" sz="quarter" idx="12"/>
          </p:nvPr>
        </p:nvSpPr>
        <p:spPr/>
        <p:txBody>
          <a:bodyPr/>
          <a:lstStyle/>
          <a:p>
            <a:fld id="{16082B3C-CB2B-4944-853B-8670EA63CC2C}" type="slidenum">
              <a:rPr lang="en-US" altLang="en-US"/>
              <a:pPr/>
              <a:t>2</a:t>
            </a:fld>
            <a:endParaRPr lang="en-US" altLang="en-US"/>
          </a:p>
        </p:txBody>
      </p:sp>
      <p:sp>
        <p:nvSpPr>
          <p:cNvPr id="233474" name="Rectangle 2"/>
          <p:cNvSpPr>
            <a:spLocks noGrp="1" noChangeArrowheads="1"/>
          </p:cNvSpPr>
          <p:nvPr>
            <p:ph type="title"/>
          </p:nvPr>
        </p:nvSpPr>
        <p:spPr>
          <a:xfrm>
            <a:off x="838200" y="0"/>
            <a:ext cx="7772400" cy="457200"/>
          </a:xfrm>
        </p:spPr>
        <p:txBody>
          <a:bodyPr/>
          <a:lstStyle/>
          <a:p>
            <a:r>
              <a:rPr lang="en-US" sz="2800" b="1" u="sng" dirty="0" smtClean="0"/>
              <a:t>Power</a:t>
            </a:r>
            <a:endParaRPr lang="en-US" sz="2800" b="1" u="sng" dirty="0"/>
          </a:p>
        </p:txBody>
      </p:sp>
      <p:sp>
        <p:nvSpPr>
          <p:cNvPr id="233475" name="Rectangle 3"/>
          <p:cNvSpPr>
            <a:spLocks noGrp="1" noChangeArrowheads="1"/>
          </p:cNvSpPr>
          <p:nvPr>
            <p:ph type="body" sz="half" idx="1"/>
          </p:nvPr>
        </p:nvSpPr>
        <p:spPr>
          <a:xfrm>
            <a:off x="152400" y="457200"/>
            <a:ext cx="8839199" cy="6248400"/>
          </a:xfrm>
        </p:spPr>
        <p:txBody>
          <a:bodyPr/>
          <a:lstStyle/>
          <a:p>
            <a:pPr algn="just"/>
            <a:r>
              <a:rPr lang="en-US" sz="2000" dirty="0" smtClean="0">
                <a:latin typeface="Arial" pitchFamily="34" charset="0"/>
                <a:cs typeface="Arial" pitchFamily="34" charset="0"/>
              </a:rPr>
              <a:t>Current </a:t>
            </a:r>
            <a:r>
              <a:rPr lang="en-US" sz="2000" dirty="0">
                <a:latin typeface="Arial" pitchFamily="34" charset="0"/>
                <a:cs typeface="Arial" pitchFamily="34" charset="0"/>
              </a:rPr>
              <a:t>and voltage are the two basic variables in an </a:t>
            </a:r>
            <a:r>
              <a:rPr lang="en-US" sz="2000" dirty="0" smtClean="0">
                <a:latin typeface="Arial" pitchFamily="34" charset="0"/>
                <a:cs typeface="Arial" pitchFamily="34" charset="0"/>
              </a:rPr>
              <a:t>electric circuit</a:t>
            </a:r>
            <a:r>
              <a:rPr lang="en-US" sz="2000" dirty="0">
                <a:latin typeface="Arial" pitchFamily="34" charset="0"/>
                <a:cs typeface="Arial" pitchFamily="34" charset="0"/>
              </a:rPr>
              <a:t>, they are not sufficient by themselves. For practical purposes</a:t>
            </a:r>
            <a:r>
              <a:rPr lang="en-US" sz="2000" dirty="0" smtClean="0">
                <a:latin typeface="Arial" pitchFamily="34" charset="0"/>
                <a:cs typeface="Arial" pitchFamily="34" charset="0"/>
              </a:rPr>
              <a:t>, we </a:t>
            </a:r>
            <a:r>
              <a:rPr lang="en-US" sz="2000" dirty="0">
                <a:latin typeface="Arial" pitchFamily="34" charset="0"/>
                <a:cs typeface="Arial" pitchFamily="34" charset="0"/>
              </a:rPr>
              <a:t>need to know how much </a:t>
            </a:r>
            <a:r>
              <a:rPr lang="en-US" sz="2000" b="1" i="1" dirty="0">
                <a:solidFill>
                  <a:srgbClr val="2E2997"/>
                </a:solidFill>
                <a:latin typeface="Arial" pitchFamily="34" charset="0"/>
                <a:cs typeface="Arial" pitchFamily="34" charset="0"/>
              </a:rPr>
              <a:t>power</a:t>
            </a:r>
            <a:r>
              <a:rPr lang="en-US" sz="2000" i="1" dirty="0">
                <a:latin typeface="Arial" pitchFamily="34" charset="0"/>
                <a:cs typeface="Arial" pitchFamily="34" charset="0"/>
              </a:rPr>
              <a:t> </a:t>
            </a:r>
            <a:r>
              <a:rPr lang="en-US" sz="2000" dirty="0">
                <a:latin typeface="Arial" pitchFamily="34" charset="0"/>
                <a:cs typeface="Arial" pitchFamily="34" charset="0"/>
              </a:rPr>
              <a:t>an electric device can handle. </a:t>
            </a:r>
            <a:r>
              <a:rPr lang="en-US" sz="2000" dirty="0" smtClean="0">
                <a:latin typeface="Arial" pitchFamily="34" charset="0"/>
                <a:cs typeface="Arial" pitchFamily="34" charset="0"/>
              </a:rPr>
              <a:t>We all </a:t>
            </a:r>
            <a:r>
              <a:rPr lang="en-US" sz="2000" dirty="0">
                <a:latin typeface="Arial" pitchFamily="34" charset="0"/>
                <a:cs typeface="Arial" pitchFamily="34" charset="0"/>
              </a:rPr>
              <a:t>know from </a:t>
            </a:r>
            <a:r>
              <a:rPr lang="en-US" sz="2000" dirty="0" smtClean="0">
                <a:latin typeface="Arial" pitchFamily="34" charset="0"/>
                <a:cs typeface="Arial" pitchFamily="34" charset="0"/>
              </a:rPr>
              <a:t>experience </a:t>
            </a:r>
            <a:r>
              <a:rPr lang="en-US" sz="2000" dirty="0">
                <a:latin typeface="Arial" pitchFamily="34" charset="0"/>
                <a:cs typeface="Arial" pitchFamily="34" charset="0"/>
              </a:rPr>
              <a:t>that a </a:t>
            </a:r>
            <a:r>
              <a:rPr lang="en-US" sz="2000" b="1" i="1" dirty="0">
                <a:solidFill>
                  <a:schemeClr val="accent2"/>
                </a:solidFill>
                <a:latin typeface="Arial" pitchFamily="34" charset="0"/>
                <a:cs typeface="Arial" pitchFamily="34" charset="0"/>
              </a:rPr>
              <a:t>100-watt bulb </a:t>
            </a:r>
            <a:r>
              <a:rPr lang="en-US" sz="2000" dirty="0">
                <a:latin typeface="Arial" pitchFamily="34" charset="0"/>
                <a:cs typeface="Arial" pitchFamily="34" charset="0"/>
              </a:rPr>
              <a:t>gives more light than </a:t>
            </a:r>
            <a:r>
              <a:rPr lang="en-US" sz="2000" b="1" i="1" dirty="0" smtClean="0">
                <a:solidFill>
                  <a:srgbClr val="FF0000"/>
                </a:solidFill>
                <a:latin typeface="Arial" pitchFamily="34" charset="0"/>
                <a:cs typeface="Arial" pitchFamily="34" charset="0"/>
              </a:rPr>
              <a:t>a 60-watt </a:t>
            </a:r>
            <a:r>
              <a:rPr lang="en-US" sz="2000" b="1" i="1" dirty="0">
                <a:solidFill>
                  <a:srgbClr val="FF0000"/>
                </a:solidFill>
                <a:latin typeface="Arial" pitchFamily="34" charset="0"/>
                <a:cs typeface="Arial" pitchFamily="34" charset="0"/>
              </a:rPr>
              <a:t>bulb</a:t>
            </a:r>
            <a:r>
              <a:rPr lang="en-US" sz="2000" dirty="0">
                <a:latin typeface="Arial" pitchFamily="34" charset="0"/>
                <a:cs typeface="Arial" pitchFamily="34" charset="0"/>
              </a:rPr>
              <a:t>. We also know that when we pay our bills to the </a:t>
            </a:r>
            <a:r>
              <a:rPr lang="en-US" sz="2000" dirty="0" smtClean="0">
                <a:latin typeface="Arial" pitchFamily="34" charset="0"/>
                <a:cs typeface="Arial" pitchFamily="34" charset="0"/>
              </a:rPr>
              <a:t>electric utility </a:t>
            </a:r>
            <a:r>
              <a:rPr lang="en-US" sz="2000" dirty="0">
                <a:latin typeface="Arial" pitchFamily="34" charset="0"/>
                <a:cs typeface="Arial" pitchFamily="34" charset="0"/>
              </a:rPr>
              <a:t>companies, we are paying for the electric </a:t>
            </a:r>
            <a:r>
              <a:rPr lang="en-US" sz="2000" b="1" i="1" dirty="0">
                <a:solidFill>
                  <a:srgbClr val="2E2997"/>
                </a:solidFill>
                <a:latin typeface="Arial" pitchFamily="34" charset="0"/>
                <a:cs typeface="Arial" pitchFamily="34" charset="0"/>
              </a:rPr>
              <a:t>energy</a:t>
            </a:r>
            <a:r>
              <a:rPr lang="en-US" sz="2000" i="1" dirty="0">
                <a:latin typeface="Arial" pitchFamily="34" charset="0"/>
                <a:cs typeface="Arial" pitchFamily="34" charset="0"/>
              </a:rPr>
              <a:t> </a:t>
            </a:r>
            <a:r>
              <a:rPr lang="en-US" sz="2000" dirty="0">
                <a:latin typeface="Arial" pitchFamily="34" charset="0"/>
                <a:cs typeface="Arial" pitchFamily="34" charset="0"/>
              </a:rPr>
              <a:t>consumed </a:t>
            </a:r>
            <a:r>
              <a:rPr lang="en-US" sz="2000" dirty="0" smtClean="0">
                <a:latin typeface="Arial" pitchFamily="34" charset="0"/>
                <a:cs typeface="Arial" pitchFamily="34" charset="0"/>
              </a:rPr>
              <a:t>over a </a:t>
            </a:r>
            <a:r>
              <a:rPr lang="en-US" sz="2000" dirty="0">
                <a:latin typeface="Arial" pitchFamily="34" charset="0"/>
                <a:cs typeface="Arial" pitchFamily="34" charset="0"/>
              </a:rPr>
              <a:t>certain period of time. Thus, power and energy calculations </a:t>
            </a:r>
            <a:r>
              <a:rPr lang="en-US" sz="2000" dirty="0" smtClean="0">
                <a:latin typeface="Arial" pitchFamily="34" charset="0"/>
                <a:cs typeface="Arial" pitchFamily="34" charset="0"/>
              </a:rPr>
              <a:t>are </a:t>
            </a:r>
            <a:r>
              <a:rPr lang="en-US" sz="2000" dirty="0">
                <a:latin typeface="Arial" pitchFamily="34" charset="0"/>
                <a:cs typeface="Arial" pitchFamily="34" charset="0"/>
              </a:rPr>
              <a:t>important in circuit analysis</a:t>
            </a:r>
            <a:r>
              <a:rPr lang="en-US" sz="2000" dirty="0" smtClean="0">
                <a:latin typeface="Arial" pitchFamily="34" charset="0"/>
                <a:cs typeface="Arial" pitchFamily="34" charset="0"/>
              </a:rPr>
              <a:t>.</a:t>
            </a:r>
          </a:p>
          <a:p>
            <a:pPr algn="just"/>
            <a:r>
              <a:rPr lang="en-US" sz="2000" b="1" i="1" dirty="0" smtClean="0">
                <a:solidFill>
                  <a:srgbClr val="C00000"/>
                </a:solidFill>
                <a:latin typeface="Arial" pitchFamily="34" charset="0"/>
                <a:cs typeface="Arial" pitchFamily="34" charset="0"/>
              </a:rPr>
              <a:t>Power </a:t>
            </a:r>
            <a:r>
              <a:rPr lang="en-US" sz="2000" b="1" i="1" dirty="0">
                <a:solidFill>
                  <a:srgbClr val="C00000"/>
                </a:solidFill>
                <a:latin typeface="Arial" pitchFamily="34" charset="0"/>
                <a:cs typeface="Arial" pitchFamily="34" charset="0"/>
              </a:rPr>
              <a:t>is defined as the rate at which work is done or energy is expended. </a:t>
            </a:r>
            <a:endParaRPr lang="en-US" sz="2000" b="1" i="1" dirty="0" smtClean="0">
              <a:solidFill>
                <a:srgbClr val="C00000"/>
              </a:solidFill>
              <a:latin typeface="Arial" pitchFamily="34" charset="0"/>
              <a:cs typeface="Arial" pitchFamily="34" charset="0"/>
            </a:endParaRPr>
          </a:p>
          <a:p>
            <a:pPr algn="just">
              <a:lnSpc>
                <a:spcPct val="110000"/>
              </a:lnSpc>
            </a:pPr>
            <a:r>
              <a:rPr lang="en-US" sz="2000" b="1" i="1" dirty="0" smtClean="0">
                <a:solidFill>
                  <a:srgbClr val="2E2997"/>
                </a:solidFill>
                <a:latin typeface="Arial" pitchFamily="34" charset="0"/>
                <a:cs typeface="Arial" pitchFamily="34" charset="0"/>
              </a:rPr>
              <a:t>It is expressed </a:t>
            </a:r>
            <a:r>
              <a:rPr lang="en-US" sz="2000" b="1" i="1" dirty="0">
                <a:solidFill>
                  <a:srgbClr val="2E2997"/>
                </a:solidFill>
                <a:latin typeface="Arial" pitchFamily="34" charset="0"/>
                <a:cs typeface="Arial" pitchFamily="34" charset="0"/>
              </a:rPr>
              <a:t>in watts (W</a:t>
            </a:r>
            <a:r>
              <a:rPr lang="en-US" sz="2000" b="1" i="1" dirty="0" smtClean="0">
                <a:solidFill>
                  <a:srgbClr val="2E2997"/>
                </a:solidFill>
                <a:latin typeface="Arial" pitchFamily="34" charset="0"/>
                <a:cs typeface="Arial" pitchFamily="34" charset="0"/>
              </a:rPr>
              <a:t>). </a:t>
            </a:r>
            <a:r>
              <a:rPr lang="en-US" sz="2000" b="1" i="1" dirty="0">
                <a:solidFill>
                  <a:srgbClr val="2E2997"/>
                </a:solidFill>
                <a:latin typeface="Arial" pitchFamily="34" charset="0"/>
                <a:cs typeface="Arial" pitchFamily="34" charset="0"/>
              </a:rPr>
              <a:t>Power is one watt if one joule of </a:t>
            </a:r>
            <a:r>
              <a:rPr lang="en-US" sz="2000" b="1" i="1" dirty="0">
                <a:solidFill>
                  <a:srgbClr val="2E2997"/>
                </a:solidFill>
                <a:latin typeface="Arial" charset="0"/>
              </a:rPr>
              <a:t>energy is expended in transferring one coulomb of charge through the device in one second. </a:t>
            </a:r>
            <a:endParaRPr lang="en-US" sz="2000" b="1" i="1" dirty="0" smtClean="0">
              <a:solidFill>
                <a:srgbClr val="2E2997"/>
              </a:solidFill>
              <a:latin typeface="Arial" charset="0"/>
            </a:endParaRPr>
          </a:p>
          <a:p>
            <a:pPr algn="just">
              <a:lnSpc>
                <a:spcPct val="110000"/>
              </a:lnSpc>
            </a:pPr>
            <a:endParaRPr lang="en-US" sz="2000" b="1" i="1" dirty="0">
              <a:solidFill>
                <a:srgbClr val="2E2997"/>
              </a:solidFill>
              <a:latin typeface="Arial" charset="0"/>
            </a:endParaRPr>
          </a:p>
          <a:p>
            <a:pPr algn="just">
              <a:lnSpc>
                <a:spcPct val="110000"/>
              </a:lnSpc>
            </a:pPr>
            <a:r>
              <a:rPr lang="en-US" sz="2000" b="1" dirty="0" smtClean="0">
                <a:latin typeface="Arial" charset="0"/>
              </a:rPr>
              <a:t>Mathematically</a:t>
            </a:r>
            <a:r>
              <a:rPr lang="en-US" sz="2000" b="1" dirty="0">
                <a:latin typeface="Arial" charset="0"/>
              </a:rPr>
              <a:t>, the relationship is </a:t>
            </a:r>
            <a:r>
              <a:rPr lang="en-US" sz="2000" b="1" dirty="0" smtClean="0">
                <a:latin typeface="Arial" charset="0"/>
              </a:rPr>
              <a:t>:-  </a:t>
            </a:r>
            <a:r>
              <a:rPr lang="en-US" sz="2000" b="1" dirty="0">
                <a:latin typeface="Arial" charset="0"/>
              </a:rPr>
              <a:t>	p = </a:t>
            </a:r>
            <a:r>
              <a:rPr lang="en-US" sz="2000" b="1" dirty="0" err="1">
                <a:latin typeface="Arial" charset="0"/>
              </a:rPr>
              <a:t>dw</a:t>
            </a:r>
            <a:r>
              <a:rPr lang="en-US" sz="2000" b="1" dirty="0">
                <a:latin typeface="Arial" charset="0"/>
              </a:rPr>
              <a:t> / </a:t>
            </a:r>
            <a:r>
              <a:rPr lang="en-US" sz="2000" b="1" dirty="0" err="1">
                <a:latin typeface="Arial" charset="0"/>
              </a:rPr>
              <a:t>dt</a:t>
            </a:r>
            <a:r>
              <a:rPr lang="en-US" sz="2000" b="1" dirty="0">
                <a:latin typeface="Arial" charset="0"/>
              </a:rPr>
              <a:t>   </a:t>
            </a:r>
          </a:p>
          <a:p>
            <a:pPr lvl="1" algn="just">
              <a:lnSpc>
                <a:spcPct val="110000"/>
              </a:lnSpc>
              <a:buFontTx/>
              <a:buNone/>
            </a:pPr>
            <a:r>
              <a:rPr lang="en-US" sz="2000" b="1" dirty="0">
                <a:latin typeface="Arial" charset="0"/>
              </a:rPr>
              <a:t>	where ‘p’ is power in watts (W), ‘w’ is energy in joules (J) &amp; ‘t’ is time in seconds. </a:t>
            </a:r>
          </a:p>
          <a:p>
            <a:pPr algn="just">
              <a:lnSpc>
                <a:spcPct val="110000"/>
              </a:lnSpc>
            </a:pPr>
            <a:r>
              <a:rPr lang="en-US" sz="2400" b="1" dirty="0">
                <a:latin typeface="Arial" charset="0"/>
              </a:rPr>
              <a:t>Also p = </a:t>
            </a:r>
            <a:r>
              <a:rPr lang="en-US" sz="2400" b="1" dirty="0" err="1">
                <a:latin typeface="Arial" charset="0"/>
              </a:rPr>
              <a:t>dw</a:t>
            </a:r>
            <a:r>
              <a:rPr lang="en-US" sz="2400" b="1" dirty="0">
                <a:latin typeface="Arial" charset="0"/>
              </a:rPr>
              <a:t> / </a:t>
            </a:r>
            <a:r>
              <a:rPr lang="en-US" sz="2400" b="1" dirty="0" err="1">
                <a:latin typeface="Arial" charset="0"/>
              </a:rPr>
              <a:t>dt</a:t>
            </a:r>
            <a:r>
              <a:rPr lang="en-US" sz="2400" b="1" dirty="0">
                <a:latin typeface="Arial" charset="0"/>
              </a:rPr>
              <a:t> = </a:t>
            </a:r>
            <a:r>
              <a:rPr lang="en-US" sz="2400" b="1" dirty="0" err="1">
                <a:latin typeface="Arial" charset="0"/>
              </a:rPr>
              <a:t>dw</a:t>
            </a:r>
            <a:r>
              <a:rPr lang="en-US" sz="2400" b="1" dirty="0">
                <a:latin typeface="Arial" charset="0"/>
              </a:rPr>
              <a:t> / </a:t>
            </a:r>
            <a:r>
              <a:rPr lang="en-US" sz="2400" b="1" dirty="0" err="1">
                <a:latin typeface="Arial" charset="0"/>
              </a:rPr>
              <a:t>dq</a:t>
            </a:r>
            <a:r>
              <a:rPr lang="en-US" sz="2400" b="1" dirty="0">
                <a:latin typeface="Arial" charset="0"/>
              </a:rPr>
              <a:t> X </a:t>
            </a:r>
            <a:r>
              <a:rPr lang="en-US" sz="2400" b="1" dirty="0" err="1">
                <a:latin typeface="Arial" charset="0"/>
              </a:rPr>
              <a:t>dq</a:t>
            </a:r>
            <a:r>
              <a:rPr lang="en-US" sz="2400" b="1" dirty="0">
                <a:latin typeface="Arial" charset="0"/>
              </a:rPr>
              <a:t> / </a:t>
            </a:r>
            <a:r>
              <a:rPr lang="en-US" sz="2400" b="1" dirty="0" err="1">
                <a:latin typeface="Arial" charset="0"/>
              </a:rPr>
              <a:t>dt</a:t>
            </a:r>
            <a:r>
              <a:rPr lang="en-US" sz="2400" b="1" dirty="0">
                <a:latin typeface="Arial" charset="0"/>
              </a:rPr>
              <a:t> = </a:t>
            </a:r>
            <a:r>
              <a:rPr lang="en-US" sz="2400" b="1" dirty="0" smtClean="0">
                <a:latin typeface="Arial" charset="0"/>
              </a:rPr>
              <a:t>vi</a:t>
            </a:r>
          </a:p>
        </p:txBody>
      </p:sp>
      <p:sp>
        <p:nvSpPr>
          <p:cNvPr id="233476" name="Rectangle 4"/>
          <p:cNvSpPr>
            <a:spLocks noChangeArrowheads="1"/>
          </p:cNvSpPr>
          <p:nvPr/>
        </p:nvSpPr>
        <p:spPr bwMode="auto">
          <a:xfrm>
            <a:off x="8640763" y="6400800"/>
            <a:ext cx="503237" cy="457200"/>
          </a:xfrm>
          <a:prstGeom prst="rect">
            <a:avLst/>
          </a:prstGeom>
          <a:noFill/>
          <a:ln w="9525">
            <a:noFill/>
            <a:miter lim="800000"/>
            <a:headEnd/>
            <a:tailEnd/>
          </a:ln>
          <a:effectLst/>
        </p:spPr>
        <p:txBody>
          <a:bodyPr wrap="none">
            <a:spAutoFit/>
          </a:bodyPr>
          <a:lstStyle/>
          <a:p>
            <a:pPr>
              <a:spcBef>
                <a:spcPct val="50000"/>
              </a:spcBef>
              <a:buFont typeface="Wingdings" pitchFamily="2" charset="2"/>
              <a:buChar char="Ø"/>
            </a:pPr>
            <a:r>
              <a:rPr lang="en-US"/>
              <a:t> </a:t>
            </a:r>
          </a:p>
        </p:txBody>
      </p:sp>
    </p:spTree>
    <p:extLst>
      <p:ext uri="{BB962C8B-B14F-4D97-AF65-F5344CB8AC3E}">
        <p14:creationId xmlns:p14="http://schemas.microsoft.com/office/powerpoint/2010/main" val="241447437"/>
      </p:ext>
    </p:extLst>
  </p:cSld>
  <p:clrMapOvr>
    <a:masterClrMapping/>
  </p:clrMapOvr>
  <p:transition spd="slow">
    <p:cover dir="l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233476"/>
                                        </p:tgtEl>
                                        <p:attrNameLst>
                                          <p:attrName>style.visibility</p:attrName>
                                        </p:attrNameLst>
                                      </p:cBhvr>
                                      <p:to>
                                        <p:strVal val="visible"/>
                                      </p:to>
                                    </p:set>
                                    <p:anim calcmode="lin" valueType="num">
                                      <p:cBhvr additive="base">
                                        <p:cTn id="7" dur="500" fill="hold"/>
                                        <p:tgtEl>
                                          <p:spTgt spid="233476"/>
                                        </p:tgtEl>
                                        <p:attrNameLst>
                                          <p:attrName>ppt_x</p:attrName>
                                        </p:attrNameLst>
                                      </p:cBhvr>
                                      <p:tavLst>
                                        <p:tav tm="0">
                                          <p:val>
                                            <p:strVal val="#ppt_x"/>
                                          </p:val>
                                        </p:tav>
                                        <p:tav tm="100000">
                                          <p:val>
                                            <p:strVal val="#ppt_x"/>
                                          </p:val>
                                        </p:tav>
                                      </p:tavLst>
                                    </p:anim>
                                    <p:anim calcmode="lin" valueType="num">
                                      <p:cBhvr additive="base">
                                        <p:cTn id="8" dur="500" fill="hold"/>
                                        <p:tgtEl>
                                          <p:spTgt spid="23347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3476"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6"/>
          <p:cNvSpPr>
            <a:spLocks noGrp="1"/>
          </p:cNvSpPr>
          <p:nvPr>
            <p:ph type="sldNum" sz="quarter" idx="12"/>
          </p:nvPr>
        </p:nvSpPr>
        <p:spPr/>
        <p:txBody>
          <a:bodyPr/>
          <a:lstStyle/>
          <a:p>
            <a:fld id="{16082B3C-CB2B-4944-853B-8670EA63CC2C}" type="slidenum">
              <a:rPr lang="en-US" altLang="en-US"/>
              <a:pPr/>
              <a:t>3</a:t>
            </a:fld>
            <a:endParaRPr lang="en-US" altLang="en-US"/>
          </a:p>
        </p:txBody>
      </p:sp>
      <p:sp>
        <p:nvSpPr>
          <p:cNvPr id="233474" name="Rectangle 2"/>
          <p:cNvSpPr>
            <a:spLocks noGrp="1" noChangeArrowheads="1"/>
          </p:cNvSpPr>
          <p:nvPr>
            <p:ph type="title"/>
          </p:nvPr>
        </p:nvSpPr>
        <p:spPr>
          <a:xfrm>
            <a:off x="838200" y="0"/>
            <a:ext cx="7772400" cy="457200"/>
          </a:xfrm>
        </p:spPr>
        <p:txBody>
          <a:bodyPr/>
          <a:lstStyle/>
          <a:p>
            <a:r>
              <a:rPr lang="en-US" sz="2800" b="1" u="sng" dirty="0" smtClean="0"/>
              <a:t>Power</a:t>
            </a:r>
            <a:endParaRPr lang="en-US" sz="2800" b="1" u="sng" dirty="0"/>
          </a:p>
        </p:txBody>
      </p:sp>
      <p:sp>
        <p:nvSpPr>
          <p:cNvPr id="233475" name="Rectangle 3"/>
          <p:cNvSpPr>
            <a:spLocks noGrp="1" noChangeArrowheads="1"/>
          </p:cNvSpPr>
          <p:nvPr>
            <p:ph type="body" sz="half" idx="1"/>
          </p:nvPr>
        </p:nvSpPr>
        <p:spPr>
          <a:xfrm>
            <a:off x="152400" y="457200"/>
            <a:ext cx="8839199" cy="6096000"/>
          </a:xfrm>
        </p:spPr>
        <p:txBody>
          <a:bodyPr/>
          <a:lstStyle/>
          <a:p>
            <a:pPr algn="just">
              <a:lnSpc>
                <a:spcPct val="110000"/>
              </a:lnSpc>
            </a:pPr>
            <a:r>
              <a:rPr lang="en-US" sz="2200" b="1" dirty="0" smtClean="0">
                <a:latin typeface="Arial" pitchFamily="34" charset="0"/>
                <a:cs typeface="Arial" pitchFamily="34" charset="0"/>
              </a:rPr>
              <a:t>The </a:t>
            </a:r>
            <a:r>
              <a:rPr lang="en-US" sz="2200" b="1" dirty="0">
                <a:latin typeface="Arial" pitchFamily="34" charset="0"/>
                <a:cs typeface="Arial" pitchFamily="34" charset="0"/>
              </a:rPr>
              <a:t>absorbed power must be proportional both to the number of coulombs transferred per second </a:t>
            </a:r>
            <a:r>
              <a:rPr lang="en-US" sz="2200" b="1" i="1" dirty="0">
                <a:solidFill>
                  <a:schemeClr val="accent2"/>
                </a:solidFill>
                <a:latin typeface="Arial" pitchFamily="34" charset="0"/>
                <a:cs typeface="Arial" pitchFamily="34" charset="0"/>
              </a:rPr>
              <a:t>(current)</a:t>
            </a:r>
            <a:r>
              <a:rPr lang="en-US" sz="2200" b="1" dirty="0">
                <a:solidFill>
                  <a:schemeClr val="accent2"/>
                </a:solidFill>
                <a:latin typeface="Arial" pitchFamily="34" charset="0"/>
                <a:cs typeface="Arial" pitchFamily="34" charset="0"/>
              </a:rPr>
              <a:t> </a:t>
            </a:r>
            <a:r>
              <a:rPr lang="en-US" sz="2200" b="1" dirty="0">
                <a:latin typeface="Arial" pitchFamily="34" charset="0"/>
                <a:cs typeface="Arial" pitchFamily="34" charset="0"/>
              </a:rPr>
              <a:t>and to the energy needed to transfer one coulomb through the element </a:t>
            </a:r>
            <a:r>
              <a:rPr lang="en-US" sz="2200" b="1" i="1" dirty="0">
                <a:solidFill>
                  <a:schemeClr val="accent2"/>
                </a:solidFill>
                <a:latin typeface="Arial" pitchFamily="34" charset="0"/>
                <a:cs typeface="Arial" pitchFamily="34" charset="0"/>
              </a:rPr>
              <a:t>(voltage). </a:t>
            </a:r>
          </a:p>
          <a:p>
            <a:r>
              <a:rPr lang="en-US" sz="2200" b="1" dirty="0">
                <a:latin typeface="Arial" pitchFamily="34" charset="0"/>
                <a:cs typeface="Arial" pitchFamily="34" charset="0"/>
              </a:rPr>
              <a:t>The conventions for current, voltage, </a:t>
            </a:r>
            <a:r>
              <a:rPr lang="en-US" sz="2200" b="1" dirty="0" smtClean="0">
                <a:latin typeface="Arial" pitchFamily="34" charset="0"/>
                <a:cs typeface="Arial" pitchFamily="34" charset="0"/>
              </a:rPr>
              <a:t>and </a:t>
            </a:r>
            <a:r>
              <a:rPr lang="en-US" sz="2200" b="1" dirty="0">
                <a:latin typeface="Arial" pitchFamily="34" charset="0"/>
                <a:cs typeface="Arial" pitchFamily="34" charset="0"/>
              </a:rPr>
              <a:t>power are  shown in Fig. 2.12</a:t>
            </a:r>
            <a:r>
              <a:rPr lang="en-US" sz="2200" b="1" dirty="0" smtClean="0">
                <a:latin typeface="Arial" pitchFamily="34" charset="0"/>
                <a:cs typeface="Arial" pitchFamily="34" charset="0"/>
              </a:rPr>
              <a:t>. </a:t>
            </a:r>
          </a:p>
          <a:p>
            <a:endParaRPr lang="en-US" sz="2200" b="1" dirty="0">
              <a:latin typeface="Arial" pitchFamily="34" charset="0"/>
              <a:cs typeface="Arial" pitchFamily="34" charset="0"/>
            </a:endParaRPr>
          </a:p>
          <a:p>
            <a:endParaRPr lang="en-US" sz="2200" b="1" dirty="0" smtClean="0">
              <a:latin typeface="Arial" pitchFamily="34" charset="0"/>
              <a:cs typeface="Arial" pitchFamily="34" charset="0"/>
            </a:endParaRPr>
          </a:p>
          <a:p>
            <a:endParaRPr lang="en-US" sz="2200" b="1" dirty="0" smtClean="0">
              <a:latin typeface="Arial" pitchFamily="34" charset="0"/>
              <a:cs typeface="Arial" pitchFamily="34" charset="0"/>
            </a:endParaRPr>
          </a:p>
          <a:p>
            <a:endParaRPr lang="en-US" sz="2200" b="1" dirty="0" smtClean="0">
              <a:latin typeface="Arial" pitchFamily="34" charset="0"/>
              <a:cs typeface="Arial" pitchFamily="34" charset="0"/>
            </a:endParaRPr>
          </a:p>
          <a:p>
            <a:endParaRPr lang="en-US" sz="2200" b="1" dirty="0" smtClean="0">
              <a:latin typeface="Arial" pitchFamily="34" charset="0"/>
              <a:cs typeface="Arial" pitchFamily="34" charset="0"/>
            </a:endParaRPr>
          </a:p>
          <a:p>
            <a:pPr algn="just"/>
            <a:r>
              <a:rPr lang="en-US" sz="2200" dirty="0">
                <a:latin typeface="Arial" pitchFamily="34" charset="0"/>
                <a:cs typeface="Arial" pitchFamily="34" charset="0"/>
              </a:rPr>
              <a:t>Thus, the power </a:t>
            </a:r>
            <a:r>
              <a:rPr lang="en-US" sz="2200" b="1" i="1" dirty="0">
                <a:solidFill>
                  <a:srgbClr val="FF0000"/>
                </a:solidFill>
                <a:latin typeface="Arial" pitchFamily="34" charset="0"/>
                <a:cs typeface="Arial" pitchFamily="34" charset="0"/>
              </a:rPr>
              <a:t>absorbed or supplied </a:t>
            </a:r>
            <a:r>
              <a:rPr lang="en-US" sz="2200" dirty="0">
                <a:latin typeface="Arial" pitchFamily="34" charset="0"/>
                <a:cs typeface="Arial" pitchFamily="34" charset="0"/>
              </a:rPr>
              <a:t>by an element is the product of the </a:t>
            </a:r>
            <a:r>
              <a:rPr lang="en-US" sz="2200" b="1" i="1" dirty="0">
                <a:solidFill>
                  <a:srgbClr val="FF0000"/>
                </a:solidFill>
                <a:latin typeface="Arial" pitchFamily="34" charset="0"/>
                <a:cs typeface="Arial" pitchFamily="34" charset="0"/>
              </a:rPr>
              <a:t>voltage</a:t>
            </a:r>
            <a:r>
              <a:rPr lang="en-US" sz="2200" dirty="0">
                <a:latin typeface="Arial" pitchFamily="34" charset="0"/>
                <a:cs typeface="Arial" pitchFamily="34" charset="0"/>
              </a:rPr>
              <a:t> across the element and the </a:t>
            </a:r>
            <a:r>
              <a:rPr lang="en-US" sz="2200" b="1" i="1" dirty="0">
                <a:solidFill>
                  <a:srgbClr val="FF0000"/>
                </a:solidFill>
                <a:latin typeface="Arial" pitchFamily="34" charset="0"/>
                <a:cs typeface="Arial" pitchFamily="34" charset="0"/>
              </a:rPr>
              <a:t>current</a:t>
            </a:r>
            <a:r>
              <a:rPr lang="en-US" sz="2200" dirty="0">
                <a:latin typeface="Arial" pitchFamily="34" charset="0"/>
                <a:cs typeface="Arial" pitchFamily="34" charset="0"/>
              </a:rPr>
              <a:t> through it. If the power has a </a:t>
            </a:r>
            <a:r>
              <a:rPr lang="en-US" sz="2200" b="1" dirty="0" smtClean="0">
                <a:solidFill>
                  <a:schemeClr val="accent2"/>
                </a:solidFill>
                <a:latin typeface="Arial" pitchFamily="34" charset="0"/>
                <a:cs typeface="Arial" pitchFamily="34" charset="0"/>
              </a:rPr>
              <a:t>+</a:t>
            </a:r>
            <a:r>
              <a:rPr lang="en-US" sz="2200" b="1" dirty="0" err="1" smtClean="0">
                <a:solidFill>
                  <a:schemeClr val="accent2"/>
                </a:solidFill>
                <a:latin typeface="Arial" pitchFamily="34" charset="0"/>
                <a:cs typeface="Arial" pitchFamily="34" charset="0"/>
              </a:rPr>
              <a:t>ve</a:t>
            </a:r>
            <a:r>
              <a:rPr lang="en-US" sz="2200" dirty="0" smtClean="0">
                <a:latin typeface="Arial" pitchFamily="34" charset="0"/>
                <a:cs typeface="Arial" pitchFamily="34" charset="0"/>
              </a:rPr>
              <a:t> </a:t>
            </a:r>
            <a:r>
              <a:rPr lang="en-US" sz="2200" dirty="0">
                <a:latin typeface="Arial" pitchFamily="34" charset="0"/>
                <a:cs typeface="Arial" pitchFamily="34" charset="0"/>
              </a:rPr>
              <a:t>sign, power is being delivered to or </a:t>
            </a:r>
            <a:r>
              <a:rPr lang="en-US" sz="2200" b="1" i="1" dirty="0">
                <a:solidFill>
                  <a:srgbClr val="2E2997"/>
                </a:solidFill>
                <a:latin typeface="Arial" pitchFamily="34" charset="0"/>
                <a:cs typeface="Arial" pitchFamily="34" charset="0"/>
              </a:rPr>
              <a:t>absorbed</a:t>
            </a:r>
            <a:r>
              <a:rPr lang="en-US" sz="2200" dirty="0">
                <a:latin typeface="Arial" pitchFamily="34" charset="0"/>
                <a:cs typeface="Arial" pitchFamily="34" charset="0"/>
              </a:rPr>
              <a:t> by the element. If, on the other hand, the power has a </a:t>
            </a:r>
            <a:r>
              <a:rPr lang="en-US" sz="2200" dirty="0" smtClean="0">
                <a:latin typeface="Arial" pitchFamily="34" charset="0"/>
                <a:cs typeface="Arial" pitchFamily="34" charset="0"/>
              </a:rPr>
              <a:t>   </a:t>
            </a:r>
            <a:r>
              <a:rPr lang="en-US" sz="2200" b="1" dirty="0" smtClean="0">
                <a:solidFill>
                  <a:srgbClr val="FF0000"/>
                </a:solidFill>
                <a:latin typeface="Arial" pitchFamily="34" charset="0"/>
                <a:cs typeface="Arial" pitchFamily="34" charset="0"/>
              </a:rPr>
              <a:t>-</a:t>
            </a:r>
            <a:r>
              <a:rPr lang="en-US" sz="2200" b="1" dirty="0" err="1" smtClean="0">
                <a:solidFill>
                  <a:srgbClr val="FF0000"/>
                </a:solidFill>
                <a:latin typeface="Arial" pitchFamily="34" charset="0"/>
                <a:cs typeface="Arial" pitchFamily="34" charset="0"/>
              </a:rPr>
              <a:t>ve</a:t>
            </a:r>
            <a:r>
              <a:rPr lang="en-US" sz="2200" dirty="0" smtClean="0">
                <a:latin typeface="Arial" pitchFamily="34" charset="0"/>
                <a:cs typeface="Arial" pitchFamily="34" charset="0"/>
              </a:rPr>
              <a:t> </a:t>
            </a:r>
            <a:r>
              <a:rPr lang="en-US" sz="2200" dirty="0">
                <a:latin typeface="Arial" pitchFamily="34" charset="0"/>
                <a:cs typeface="Arial" pitchFamily="34" charset="0"/>
              </a:rPr>
              <a:t>sign, power is being </a:t>
            </a:r>
            <a:r>
              <a:rPr lang="en-US" sz="2200" b="1" i="1" dirty="0">
                <a:solidFill>
                  <a:srgbClr val="FF0000"/>
                </a:solidFill>
                <a:latin typeface="Arial" pitchFamily="34" charset="0"/>
                <a:cs typeface="Arial" pitchFamily="34" charset="0"/>
              </a:rPr>
              <a:t>supplied</a:t>
            </a:r>
            <a:r>
              <a:rPr lang="en-US" sz="2200" dirty="0">
                <a:latin typeface="Arial" pitchFamily="34" charset="0"/>
                <a:cs typeface="Arial" pitchFamily="34" charset="0"/>
              </a:rPr>
              <a:t> by the element. </a:t>
            </a:r>
            <a:endParaRPr lang="en-US" sz="2200" b="1" dirty="0">
              <a:latin typeface="Arial" pitchFamily="34" charset="0"/>
              <a:cs typeface="Arial" pitchFamily="34" charset="0"/>
            </a:endParaRPr>
          </a:p>
          <a:p>
            <a:pPr algn="just">
              <a:lnSpc>
                <a:spcPct val="110000"/>
              </a:lnSpc>
            </a:pPr>
            <a:endParaRPr lang="en-US" sz="2400" b="1" dirty="0" smtClean="0">
              <a:latin typeface="Arial" charset="0"/>
            </a:endParaRPr>
          </a:p>
        </p:txBody>
      </p:sp>
      <p:sp>
        <p:nvSpPr>
          <p:cNvPr id="233476" name="Rectangle 4"/>
          <p:cNvSpPr>
            <a:spLocks noChangeArrowheads="1"/>
          </p:cNvSpPr>
          <p:nvPr/>
        </p:nvSpPr>
        <p:spPr bwMode="auto">
          <a:xfrm>
            <a:off x="8640763" y="6400800"/>
            <a:ext cx="503237" cy="457200"/>
          </a:xfrm>
          <a:prstGeom prst="rect">
            <a:avLst/>
          </a:prstGeom>
          <a:noFill/>
          <a:ln w="9525">
            <a:noFill/>
            <a:miter lim="800000"/>
            <a:headEnd/>
            <a:tailEnd/>
          </a:ln>
          <a:effectLst/>
        </p:spPr>
        <p:txBody>
          <a:bodyPr wrap="none">
            <a:spAutoFit/>
          </a:bodyPr>
          <a:lstStyle/>
          <a:p>
            <a:pPr>
              <a:spcBef>
                <a:spcPct val="50000"/>
              </a:spcBef>
              <a:buFont typeface="Wingdings" pitchFamily="2" charset="2"/>
              <a:buChar char="Ø"/>
            </a:pPr>
            <a:r>
              <a:rPr lang="en-US"/>
              <a:t> </a:t>
            </a:r>
          </a:p>
        </p:txBody>
      </p:sp>
      <p:pic>
        <p:nvPicPr>
          <p:cNvPr id="1026" name="Picture 2"/>
          <p:cNvPicPr>
            <a:picLocks noChangeAspect="1" noChangeArrowheads="1"/>
          </p:cNvPicPr>
          <p:nvPr/>
        </p:nvPicPr>
        <p:blipFill>
          <a:blip r:embed="rId2">
            <a:extLst>
              <a:ext uri="{BEBA8EAE-BF5A-486C-A8C5-ECC9F3942E4B}">
                <a14:imgProps xmlns:a14="http://schemas.microsoft.com/office/drawing/2010/main">
                  <a14:imgLayer r:embed="rId3">
                    <a14:imgEffect>
                      <a14:sharpenSoften amount="31000"/>
                    </a14:imgEffect>
                    <a14:imgEffect>
                      <a14:brightnessContrast bright="-23000" contrast="64000"/>
                    </a14:imgEffect>
                  </a14:imgLayer>
                </a14:imgProps>
              </a:ext>
              <a:ext uri="{28A0092B-C50C-407E-A947-70E740481C1C}">
                <a14:useLocalDpi xmlns:a14="http://schemas.microsoft.com/office/drawing/2010/main" val="0"/>
              </a:ext>
            </a:extLst>
          </a:blip>
          <a:srcRect/>
          <a:stretch>
            <a:fillRect/>
          </a:stretch>
        </p:blipFill>
        <p:spPr bwMode="auto">
          <a:xfrm>
            <a:off x="3200400" y="2514600"/>
            <a:ext cx="2743200" cy="2209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817709993"/>
      </p:ext>
    </p:extLst>
  </p:cSld>
  <p:clrMapOvr>
    <a:masterClrMapping/>
  </p:clrMapOvr>
  <p:transition spd="slow">
    <p:cover dir="l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233476"/>
                                        </p:tgtEl>
                                        <p:attrNameLst>
                                          <p:attrName>style.visibility</p:attrName>
                                        </p:attrNameLst>
                                      </p:cBhvr>
                                      <p:to>
                                        <p:strVal val="visible"/>
                                      </p:to>
                                    </p:set>
                                    <p:anim calcmode="lin" valueType="num">
                                      <p:cBhvr additive="base">
                                        <p:cTn id="7" dur="500" fill="hold"/>
                                        <p:tgtEl>
                                          <p:spTgt spid="233476"/>
                                        </p:tgtEl>
                                        <p:attrNameLst>
                                          <p:attrName>ppt_x</p:attrName>
                                        </p:attrNameLst>
                                      </p:cBhvr>
                                      <p:tavLst>
                                        <p:tav tm="0">
                                          <p:val>
                                            <p:strVal val="#ppt_x"/>
                                          </p:val>
                                        </p:tav>
                                        <p:tav tm="100000">
                                          <p:val>
                                            <p:strVal val="#ppt_x"/>
                                          </p:val>
                                        </p:tav>
                                      </p:tavLst>
                                    </p:anim>
                                    <p:anim calcmode="lin" valueType="num">
                                      <p:cBhvr additive="base">
                                        <p:cTn id="8" dur="500" fill="hold"/>
                                        <p:tgtEl>
                                          <p:spTgt spid="23347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3476"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Slide Number Placeholder 6"/>
          <p:cNvSpPr>
            <a:spLocks noGrp="1"/>
          </p:cNvSpPr>
          <p:nvPr>
            <p:ph type="sldNum" sz="quarter" idx="12"/>
          </p:nvPr>
        </p:nvSpPr>
        <p:spPr/>
        <p:txBody>
          <a:bodyPr/>
          <a:lstStyle/>
          <a:p>
            <a:fld id="{CA88CBB6-20E3-43F5-975F-63A7FD825C88}" type="slidenum">
              <a:rPr lang="en-US" altLang="en-US"/>
              <a:pPr/>
              <a:t>4</a:t>
            </a:fld>
            <a:endParaRPr lang="en-US" altLang="en-US"/>
          </a:p>
        </p:txBody>
      </p:sp>
      <p:sp>
        <p:nvSpPr>
          <p:cNvPr id="281602" name="Rectangle 2"/>
          <p:cNvSpPr>
            <a:spLocks noGrp="1" noChangeArrowheads="1"/>
          </p:cNvSpPr>
          <p:nvPr>
            <p:ph type="title"/>
          </p:nvPr>
        </p:nvSpPr>
        <p:spPr>
          <a:xfrm>
            <a:off x="2362200" y="228600"/>
            <a:ext cx="4800600" cy="457200"/>
          </a:xfrm>
        </p:spPr>
        <p:txBody>
          <a:bodyPr/>
          <a:lstStyle/>
          <a:p>
            <a:r>
              <a:rPr lang="en-US" sz="2800" b="1" u="sng" dirty="0" smtClean="0"/>
              <a:t>Passive Sign Convention</a:t>
            </a:r>
            <a:endParaRPr lang="en-US" sz="2800" b="1" u="sng" dirty="0"/>
          </a:p>
        </p:txBody>
      </p:sp>
      <p:sp>
        <p:nvSpPr>
          <p:cNvPr id="281603" name="Rectangle 3"/>
          <p:cNvSpPr>
            <a:spLocks noGrp="1" noChangeArrowheads="1"/>
          </p:cNvSpPr>
          <p:nvPr>
            <p:ph type="body" sz="half" idx="1"/>
          </p:nvPr>
        </p:nvSpPr>
        <p:spPr>
          <a:xfrm>
            <a:off x="0" y="762000"/>
            <a:ext cx="5791200" cy="5867400"/>
          </a:xfrm>
        </p:spPr>
        <p:txBody>
          <a:bodyPr/>
          <a:lstStyle/>
          <a:p>
            <a:pPr algn="just"/>
            <a:r>
              <a:rPr lang="en-US" sz="2000" b="1" dirty="0">
                <a:latin typeface="Arial" charset="0"/>
              </a:rPr>
              <a:t>The passive sign convention is satisfied when the current arrow is directed into the element at the </a:t>
            </a:r>
            <a:r>
              <a:rPr lang="en-US" sz="2000" b="1" i="1" dirty="0" smtClean="0">
                <a:solidFill>
                  <a:srgbClr val="2E2997"/>
                </a:solidFill>
                <a:latin typeface="Arial" charset="0"/>
              </a:rPr>
              <a:t>plus-marked </a:t>
            </a:r>
            <a:r>
              <a:rPr lang="en-US" sz="2000" b="1" i="1" dirty="0">
                <a:solidFill>
                  <a:srgbClr val="2E2997"/>
                </a:solidFill>
                <a:latin typeface="Arial" charset="0"/>
              </a:rPr>
              <a:t>terminal</a:t>
            </a:r>
            <a:r>
              <a:rPr lang="en-US" sz="2000" b="1" dirty="0">
                <a:latin typeface="Arial" charset="0"/>
              </a:rPr>
              <a:t>.</a:t>
            </a:r>
          </a:p>
          <a:p>
            <a:pPr algn="just"/>
            <a:r>
              <a:rPr lang="en-US" sz="2000" b="1" dirty="0">
                <a:latin typeface="Arial" charset="0"/>
              </a:rPr>
              <a:t>It says that if the current arrow and the voltage polarity signs are placed such that the current enters that end of the element marked with the positive sign, then the power </a:t>
            </a:r>
            <a:r>
              <a:rPr lang="en-US" sz="2000" b="1" i="1" dirty="0">
                <a:solidFill>
                  <a:schemeClr val="accent2"/>
                </a:solidFill>
                <a:latin typeface="Arial" charset="0"/>
              </a:rPr>
              <a:t>absorbed</a:t>
            </a:r>
            <a:r>
              <a:rPr lang="en-US" sz="2000" b="1" dirty="0">
                <a:latin typeface="Arial" charset="0"/>
              </a:rPr>
              <a:t> can be expressed by the product of the specified current and voltage variables.</a:t>
            </a:r>
          </a:p>
          <a:p>
            <a:pPr lvl="1" algn="just"/>
            <a:r>
              <a:rPr lang="en-US" sz="2000" b="1" dirty="0">
                <a:latin typeface="Arial" charset="0"/>
              </a:rPr>
              <a:t>If the numerical value of the </a:t>
            </a:r>
            <a:r>
              <a:rPr lang="en-US" sz="2000" b="1" i="1" dirty="0">
                <a:solidFill>
                  <a:srgbClr val="FF0000"/>
                </a:solidFill>
                <a:latin typeface="Arial" charset="0"/>
              </a:rPr>
              <a:t>product is negative, then we say that the element is absorbing negative power</a:t>
            </a:r>
            <a:r>
              <a:rPr lang="en-US" sz="2000" b="1" dirty="0">
                <a:solidFill>
                  <a:srgbClr val="FF0000"/>
                </a:solidFill>
                <a:latin typeface="Arial" charset="0"/>
              </a:rPr>
              <a:t>,</a:t>
            </a:r>
            <a:r>
              <a:rPr lang="en-US" sz="2000" b="1" dirty="0">
                <a:latin typeface="Arial" charset="0"/>
              </a:rPr>
              <a:t> or that it is actually </a:t>
            </a:r>
            <a:r>
              <a:rPr lang="en-US" sz="2000" b="1" i="1" dirty="0">
                <a:solidFill>
                  <a:srgbClr val="FF0000"/>
                </a:solidFill>
                <a:latin typeface="Arial" charset="0"/>
              </a:rPr>
              <a:t>generating power </a:t>
            </a:r>
            <a:r>
              <a:rPr lang="en-US" sz="2000" b="1" dirty="0">
                <a:latin typeface="Arial" charset="0"/>
              </a:rPr>
              <a:t>and delivering it to some external element.</a:t>
            </a:r>
          </a:p>
          <a:p>
            <a:pPr lvl="2" algn="just"/>
            <a:r>
              <a:rPr lang="en-US" sz="2000" b="1" dirty="0">
                <a:latin typeface="Arial" charset="0"/>
              </a:rPr>
              <a:t>In the first case the +</a:t>
            </a:r>
            <a:r>
              <a:rPr lang="en-US" sz="2000" b="1" dirty="0" err="1">
                <a:latin typeface="Arial" charset="0"/>
              </a:rPr>
              <a:t>ve</a:t>
            </a:r>
            <a:r>
              <a:rPr lang="en-US" sz="2000" b="1" dirty="0">
                <a:latin typeface="Arial" charset="0"/>
              </a:rPr>
              <a:t> terminal is at 5 volts </a:t>
            </a:r>
            <a:r>
              <a:rPr lang="en-US" sz="2000" b="1" dirty="0" err="1">
                <a:latin typeface="Arial" charset="0"/>
              </a:rPr>
              <a:t>wrt</a:t>
            </a:r>
            <a:r>
              <a:rPr lang="en-US" sz="2000" b="1" dirty="0">
                <a:latin typeface="Arial" charset="0"/>
              </a:rPr>
              <a:t> the other terminal.</a:t>
            </a:r>
          </a:p>
          <a:p>
            <a:pPr lvl="2" algn="just"/>
            <a:r>
              <a:rPr lang="en-US" sz="2000" b="1" dirty="0">
                <a:latin typeface="Arial" charset="0"/>
              </a:rPr>
              <a:t>In the second case the +</a:t>
            </a:r>
            <a:r>
              <a:rPr lang="en-US" sz="2000" b="1" dirty="0" err="1">
                <a:latin typeface="Arial" charset="0"/>
              </a:rPr>
              <a:t>ve</a:t>
            </a:r>
            <a:r>
              <a:rPr lang="en-US" sz="2000" b="1" dirty="0">
                <a:latin typeface="Arial" charset="0"/>
              </a:rPr>
              <a:t> terminal is at – 5 volts </a:t>
            </a:r>
            <a:r>
              <a:rPr lang="en-US" sz="2000" b="1" dirty="0" err="1">
                <a:latin typeface="Arial" charset="0"/>
              </a:rPr>
              <a:t>wrt</a:t>
            </a:r>
            <a:r>
              <a:rPr lang="en-US" sz="2000" b="1" dirty="0">
                <a:latin typeface="Arial" charset="0"/>
              </a:rPr>
              <a:t> the other terminal</a:t>
            </a:r>
            <a:r>
              <a:rPr lang="en-US" sz="2000" b="1" dirty="0" smtClean="0">
                <a:latin typeface="Arial" charset="0"/>
              </a:rPr>
              <a:t>.</a:t>
            </a:r>
            <a:endParaRPr lang="en-US" sz="2000" b="1" dirty="0">
              <a:latin typeface="Arial" charset="0"/>
            </a:endParaRPr>
          </a:p>
        </p:txBody>
      </p:sp>
      <p:sp>
        <p:nvSpPr>
          <p:cNvPr id="281604" name="Rectangle 4"/>
          <p:cNvSpPr>
            <a:spLocks noChangeArrowheads="1"/>
          </p:cNvSpPr>
          <p:nvPr/>
        </p:nvSpPr>
        <p:spPr bwMode="auto">
          <a:xfrm>
            <a:off x="8640763" y="6400800"/>
            <a:ext cx="503237" cy="457200"/>
          </a:xfrm>
          <a:prstGeom prst="rect">
            <a:avLst/>
          </a:prstGeom>
          <a:noFill/>
          <a:ln w="9525">
            <a:noFill/>
            <a:miter lim="800000"/>
            <a:headEnd/>
            <a:tailEnd/>
          </a:ln>
          <a:effectLst/>
        </p:spPr>
        <p:txBody>
          <a:bodyPr wrap="none">
            <a:spAutoFit/>
          </a:bodyPr>
          <a:lstStyle/>
          <a:p>
            <a:pPr>
              <a:spcBef>
                <a:spcPct val="50000"/>
              </a:spcBef>
              <a:buFont typeface="Wingdings" pitchFamily="2" charset="2"/>
              <a:buChar char="Ø"/>
            </a:pPr>
            <a:r>
              <a:rPr lang="en-US"/>
              <a:t> </a:t>
            </a:r>
          </a:p>
        </p:txBody>
      </p:sp>
      <p:grpSp>
        <p:nvGrpSpPr>
          <p:cNvPr id="2" name="Group 42"/>
          <p:cNvGrpSpPr>
            <a:grpSpLocks/>
          </p:cNvGrpSpPr>
          <p:nvPr/>
        </p:nvGrpSpPr>
        <p:grpSpPr bwMode="auto">
          <a:xfrm>
            <a:off x="6286500" y="762000"/>
            <a:ext cx="2705100" cy="5562600"/>
            <a:chOff x="3888" y="480"/>
            <a:chExt cx="1776" cy="3504"/>
          </a:xfrm>
        </p:grpSpPr>
        <p:grpSp>
          <p:nvGrpSpPr>
            <p:cNvPr id="3" name="Group 6"/>
            <p:cNvGrpSpPr>
              <a:grpSpLocks/>
            </p:cNvGrpSpPr>
            <p:nvPr/>
          </p:nvGrpSpPr>
          <p:grpSpPr bwMode="auto">
            <a:xfrm>
              <a:off x="4320" y="816"/>
              <a:ext cx="576" cy="816"/>
              <a:chOff x="4032" y="960"/>
              <a:chExt cx="1056" cy="1392"/>
            </a:xfrm>
          </p:grpSpPr>
          <p:sp>
            <p:nvSpPr>
              <p:cNvPr id="281607" name="Line 7"/>
              <p:cNvSpPr>
                <a:spLocks noChangeShapeType="1"/>
              </p:cNvSpPr>
              <p:nvPr/>
            </p:nvSpPr>
            <p:spPr bwMode="auto">
              <a:xfrm>
                <a:off x="4128" y="960"/>
                <a:ext cx="768" cy="0"/>
              </a:xfrm>
              <a:prstGeom prst="line">
                <a:avLst/>
              </a:prstGeom>
              <a:noFill/>
              <a:ln w="9525">
                <a:solidFill>
                  <a:schemeClr val="tx1"/>
                </a:solidFill>
                <a:round/>
                <a:headEnd/>
                <a:tailEnd/>
              </a:ln>
              <a:effectLst/>
            </p:spPr>
            <p:txBody>
              <a:bodyPr/>
              <a:lstStyle/>
              <a:p>
                <a:endParaRPr lang="en-US"/>
              </a:p>
            </p:txBody>
          </p:sp>
          <p:sp>
            <p:nvSpPr>
              <p:cNvPr id="281608" name="Line 8"/>
              <p:cNvSpPr>
                <a:spLocks noChangeShapeType="1"/>
              </p:cNvSpPr>
              <p:nvPr/>
            </p:nvSpPr>
            <p:spPr bwMode="auto">
              <a:xfrm>
                <a:off x="4884" y="960"/>
                <a:ext cx="0" cy="384"/>
              </a:xfrm>
              <a:prstGeom prst="line">
                <a:avLst/>
              </a:prstGeom>
              <a:noFill/>
              <a:ln w="9525">
                <a:solidFill>
                  <a:schemeClr val="tx1"/>
                </a:solidFill>
                <a:round/>
                <a:headEnd/>
                <a:tailEnd/>
              </a:ln>
              <a:effectLst/>
            </p:spPr>
            <p:txBody>
              <a:bodyPr/>
              <a:lstStyle/>
              <a:p>
                <a:endParaRPr lang="en-US"/>
              </a:p>
            </p:txBody>
          </p:sp>
          <p:sp>
            <p:nvSpPr>
              <p:cNvPr id="281609" name="Rectangle 9"/>
              <p:cNvSpPr>
                <a:spLocks noChangeArrowheads="1"/>
              </p:cNvSpPr>
              <p:nvPr/>
            </p:nvSpPr>
            <p:spPr bwMode="auto">
              <a:xfrm>
                <a:off x="4704" y="1344"/>
                <a:ext cx="384" cy="624"/>
              </a:xfrm>
              <a:prstGeom prst="rect">
                <a:avLst/>
              </a:prstGeom>
              <a:noFill/>
              <a:ln w="9525">
                <a:solidFill>
                  <a:schemeClr val="tx1"/>
                </a:solidFill>
                <a:miter lim="800000"/>
                <a:headEnd/>
                <a:tailEnd/>
              </a:ln>
              <a:effectLst/>
            </p:spPr>
            <p:txBody>
              <a:bodyPr wrap="none" anchor="ctr"/>
              <a:lstStyle/>
              <a:p>
                <a:endParaRPr lang="en-US"/>
              </a:p>
            </p:txBody>
          </p:sp>
          <p:sp>
            <p:nvSpPr>
              <p:cNvPr id="281610" name="Line 10"/>
              <p:cNvSpPr>
                <a:spLocks noChangeShapeType="1"/>
              </p:cNvSpPr>
              <p:nvPr/>
            </p:nvSpPr>
            <p:spPr bwMode="auto">
              <a:xfrm>
                <a:off x="4896" y="1968"/>
                <a:ext cx="0" cy="384"/>
              </a:xfrm>
              <a:prstGeom prst="line">
                <a:avLst/>
              </a:prstGeom>
              <a:noFill/>
              <a:ln w="9525">
                <a:solidFill>
                  <a:schemeClr val="tx1"/>
                </a:solidFill>
                <a:round/>
                <a:headEnd/>
                <a:tailEnd/>
              </a:ln>
              <a:effectLst/>
            </p:spPr>
            <p:txBody>
              <a:bodyPr/>
              <a:lstStyle/>
              <a:p>
                <a:endParaRPr lang="en-US"/>
              </a:p>
            </p:txBody>
          </p:sp>
          <p:sp>
            <p:nvSpPr>
              <p:cNvPr id="281611" name="Line 11"/>
              <p:cNvSpPr>
                <a:spLocks noChangeShapeType="1"/>
              </p:cNvSpPr>
              <p:nvPr/>
            </p:nvSpPr>
            <p:spPr bwMode="auto">
              <a:xfrm>
                <a:off x="4032" y="2352"/>
                <a:ext cx="864" cy="0"/>
              </a:xfrm>
              <a:prstGeom prst="line">
                <a:avLst/>
              </a:prstGeom>
              <a:noFill/>
              <a:ln w="9525">
                <a:solidFill>
                  <a:schemeClr val="tx1"/>
                </a:solidFill>
                <a:round/>
                <a:headEnd/>
                <a:tailEnd/>
              </a:ln>
              <a:effectLst/>
            </p:spPr>
            <p:txBody>
              <a:bodyPr/>
              <a:lstStyle/>
              <a:p>
                <a:endParaRPr lang="en-US"/>
              </a:p>
            </p:txBody>
          </p:sp>
        </p:grpSp>
        <p:grpSp>
          <p:nvGrpSpPr>
            <p:cNvPr id="4" name="Group 12"/>
            <p:cNvGrpSpPr>
              <a:grpSpLocks/>
            </p:cNvGrpSpPr>
            <p:nvPr/>
          </p:nvGrpSpPr>
          <p:grpSpPr bwMode="auto">
            <a:xfrm>
              <a:off x="4332" y="1968"/>
              <a:ext cx="576" cy="816"/>
              <a:chOff x="4032" y="960"/>
              <a:chExt cx="1056" cy="1392"/>
            </a:xfrm>
          </p:grpSpPr>
          <p:sp>
            <p:nvSpPr>
              <p:cNvPr id="281613" name="Line 13"/>
              <p:cNvSpPr>
                <a:spLocks noChangeShapeType="1"/>
              </p:cNvSpPr>
              <p:nvPr/>
            </p:nvSpPr>
            <p:spPr bwMode="auto">
              <a:xfrm>
                <a:off x="4128" y="960"/>
                <a:ext cx="768" cy="0"/>
              </a:xfrm>
              <a:prstGeom prst="line">
                <a:avLst/>
              </a:prstGeom>
              <a:noFill/>
              <a:ln w="9525">
                <a:solidFill>
                  <a:schemeClr val="tx1"/>
                </a:solidFill>
                <a:round/>
                <a:headEnd/>
                <a:tailEnd/>
              </a:ln>
              <a:effectLst/>
            </p:spPr>
            <p:txBody>
              <a:bodyPr/>
              <a:lstStyle/>
              <a:p>
                <a:endParaRPr lang="en-US"/>
              </a:p>
            </p:txBody>
          </p:sp>
          <p:sp>
            <p:nvSpPr>
              <p:cNvPr id="281614" name="Line 14"/>
              <p:cNvSpPr>
                <a:spLocks noChangeShapeType="1"/>
              </p:cNvSpPr>
              <p:nvPr/>
            </p:nvSpPr>
            <p:spPr bwMode="auto">
              <a:xfrm>
                <a:off x="4884" y="960"/>
                <a:ext cx="0" cy="384"/>
              </a:xfrm>
              <a:prstGeom prst="line">
                <a:avLst/>
              </a:prstGeom>
              <a:noFill/>
              <a:ln w="9525">
                <a:solidFill>
                  <a:schemeClr val="tx1"/>
                </a:solidFill>
                <a:round/>
                <a:headEnd/>
                <a:tailEnd/>
              </a:ln>
              <a:effectLst/>
            </p:spPr>
            <p:txBody>
              <a:bodyPr/>
              <a:lstStyle/>
              <a:p>
                <a:endParaRPr lang="en-US"/>
              </a:p>
            </p:txBody>
          </p:sp>
          <p:sp>
            <p:nvSpPr>
              <p:cNvPr id="281615" name="Rectangle 15"/>
              <p:cNvSpPr>
                <a:spLocks noChangeArrowheads="1"/>
              </p:cNvSpPr>
              <p:nvPr/>
            </p:nvSpPr>
            <p:spPr bwMode="auto">
              <a:xfrm>
                <a:off x="4704" y="1344"/>
                <a:ext cx="384" cy="624"/>
              </a:xfrm>
              <a:prstGeom prst="rect">
                <a:avLst/>
              </a:prstGeom>
              <a:noFill/>
              <a:ln w="9525">
                <a:solidFill>
                  <a:schemeClr val="tx1"/>
                </a:solidFill>
                <a:miter lim="800000"/>
                <a:headEnd/>
                <a:tailEnd/>
              </a:ln>
              <a:effectLst/>
            </p:spPr>
            <p:txBody>
              <a:bodyPr wrap="none" anchor="ctr"/>
              <a:lstStyle/>
              <a:p>
                <a:endParaRPr lang="en-US"/>
              </a:p>
            </p:txBody>
          </p:sp>
          <p:sp>
            <p:nvSpPr>
              <p:cNvPr id="281616" name="Line 16"/>
              <p:cNvSpPr>
                <a:spLocks noChangeShapeType="1"/>
              </p:cNvSpPr>
              <p:nvPr/>
            </p:nvSpPr>
            <p:spPr bwMode="auto">
              <a:xfrm>
                <a:off x="4896" y="1968"/>
                <a:ext cx="0" cy="384"/>
              </a:xfrm>
              <a:prstGeom prst="line">
                <a:avLst/>
              </a:prstGeom>
              <a:noFill/>
              <a:ln w="9525">
                <a:solidFill>
                  <a:schemeClr val="tx1"/>
                </a:solidFill>
                <a:round/>
                <a:headEnd/>
                <a:tailEnd/>
              </a:ln>
              <a:effectLst/>
            </p:spPr>
            <p:txBody>
              <a:bodyPr/>
              <a:lstStyle/>
              <a:p>
                <a:endParaRPr lang="en-US"/>
              </a:p>
            </p:txBody>
          </p:sp>
          <p:sp>
            <p:nvSpPr>
              <p:cNvPr id="281617" name="Line 17"/>
              <p:cNvSpPr>
                <a:spLocks noChangeShapeType="1"/>
              </p:cNvSpPr>
              <p:nvPr/>
            </p:nvSpPr>
            <p:spPr bwMode="auto">
              <a:xfrm>
                <a:off x="4032" y="2352"/>
                <a:ext cx="864" cy="0"/>
              </a:xfrm>
              <a:prstGeom prst="line">
                <a:avLst/>
              </a:prstGeom>
              <a:noFill/>
              <a:ln w="9525">
                <a:solidFill>
                  <a:schemeClr val="tx1"/>
                </a:solidFill>
                <a:round/>
                <a:headEnd/>
                <a:tailEnd/>
              </a:ln>
              <a:effectLst/>
            </p:spPr>
            <p:txBody>
              <a:bodyPr/>
              <a:lstStyle/>
              <a:p>
                <a:endParaRPr lang="en-US"/>
              </a:p>
            </p:txBody>
          </p:sp>
        </p:grpSp>
        <p:grpSp>
          <p:nvGrpSpPr>
            <p:cNvPr id="5" name="Group 18"/>
            <p:cNvGrpSpPr>
              <a:grpSpLocks/>
            </p:cNvGrpSpPr>
            <p:nvPr/>
          </p:nvGrpSpPr>
          <p:grpSpPr bwMode="auto">
            <a:xfrm>
              <a:off x="4356" y="3024"/>
              <a:ext cx="576" cy="816"/>
              <a:chOff x="4032" y="960"/>
              <a:chExt cx="1056" cy="1392"/>
            </a:xfrm>
          </p:grpSpPr>
          <p:sp>
            <p:nvSpPr>
              <p:cNvPr id="281619" name="Line 19"/>
              <p:cNvSpPr>
                <a:spLocks noChangeShapeType="1"/>
              </p:cNvSpPr>
              <p:nvPr/>
            </p:nvSpPr>
            <p:spPr bwMode="auto">
              <a:xfrm>
                <a:off x="4128" y="960"/>
                <a:ext cx="768" cy="0"/>
              </a:xfrm>
              <a:prstGeom prst="line">
                <a:avLst/>
              </a:prstGeom>
              <a:noFill/>
              <a:ln w="9525">
                <a:solidFill>
                  <a:schemeClr val="tx1"/>
                </a:solidFill>
                <a:round/>
                <a:headEnd/>
                <a:tailEnd/>
              </a:ln>
              <a:effectLst/>
            </p:spPr>
            <p:txBody>
              <a:bodyPr/>
              <a:lstStyle/>
              <a:p>
                <a:endParaRPr lang="en-US"/>
              </a:p>
            </p:txBody>
          </p:sp>
          <p:sp>
            <p:nvSpPr>
              <p:cNvPr id="281620" name="Line 20"/>
              <p:cNvSpPr>
                <a:spLocks noChangeShapeType="1"/>
              </p:cNvSpPr>
              <p:nvPr/>
            </p:nvSpPr>
            <p:spPr bwMode="auto">
              <a:xfrm>
                <a:off x="4884" y="960"/>
                <a:ext cx="0" cy="384"/>
              </a:xfrm>
              <a:prstGeom prst="line">
                <a:avLst/>
              </a:prstGeom>
              <a:noFill/>
              <a:ln w="9525">
                <a:solidFill>
                  <a:schemeClr val="tx1"/>
                </a:solidFill>
                <a:round/>
                <a:headEnd/>
                <a:tailEnd/>
              </a:ln>
              <a:effectLst/>
            </p:spPr>
            <p:txBody>
              <a:bodyPr/>
              <a:lstStyle/>
              <a:p>
                <a:endParaRPr lang="en-US"/>
              </a:p>
            </p:txBody>
          </p:sp>
          <p:sp>
            <p:nvSpPr>
              <p:cNvPr id="281621" name="Rectangle 21"/>
              <p:cNvSpPr>
                <a:spLocks noChangeArrowheads="1"/>
              </p:cNvSpPr>
              <p:nvPr/>
            </p:nvSpPr>
            <p:spPr bwMode="auto">
              <a:xfrm>
                <a:off x="4704" y="1344"/>
                <a:ext cx="384" cy="624"/>
              </a:xfrm>
              <a:prstGeom prst="rect">
                <a:avLst/>
              </a:prstGeom>
              <a:noFill/>
              <a:ln w="9525">
                <a:solidFill>
                  <a:schemeClr val="tx1"/>
                </a:solidFill>
                <a:miter lim="800000"/>
                <a:headEnd/>
                <a:tailEnd/>
              </a:ln>
              <a:effectLst/>
            </p:spPr>
            <p:txBody>
              <a:bodyPr wrap="none" anchor="ctr"/>
              <a:lstStyle/>
              <a:p>
                <a:endParaRPr lang="en-US"/>
              </a:p>
            </p:txBody>
          </p:sp>
          <p:sp>
            <p:nvSpPr>
              <p:cNvPr id="281622" name="Line 22"/>
              <p:cNvSpPr>
                <a:spLocks noChangeShapeType="1"/>
              </p:cNvSpPr>
              <p:nvPr/>
            </p:nvSpPr>
            <p:spPr bwMode="auto">
              <a:xfrm>
                <a:off x="4896" y="1968"/>
                <a:ext cx="0" cy="384"/>
              </a:xfrm>
              <a:prstGeom prst="line">
                <a:avLst/>
              </a:prstGeom>
              <a:noFill/>
              <a:ln w="9525">
                <a:solidFill>
                  <a:schemeClr val="tx1"/>
                </a:solidFill>
                <a:round/>
                <a:headEnd/>
                <a:tailEnd/>
              </a:ln>
              <a:effectLst/>
            </p:spPr>
            <p:txBody>
              <a:bodyPr/>
              <a:lstStyle/>
              <a:p>
                <a:endParaRPr lang="en-US"/>
              </a:p>
            </p:txBody>
          </p:sp>
          <p:sp>
            <p:nvSpPr>
              <p:cNvPr id="281623" name="Line 23"/>
              <p:cNvSpPr>
                <a:spLocks noChangeShapeType="1"/>
              </p:cNvSpPr>
              <p:nvPr/>
            </p:nvSpPr>
            <p:spPr bwMode="auto">
              <a:xfrm>
                <a:off x="4032" y="2352"/>
                <a:ext cx="864" cy="0"/>
              </a:xfrm>
              <a:prstGeom prst="line">
                <a:avLst/>
              </a:prstGeom>
              <a:noFill/>
              <a:ln w="9525">
                <a:solidFill>
                  <a:schemeClr val="tx1"/>
                </a:solidFill>
                <a:round/>
                <a:headEnd/>
                <a:tailEnd/>
              </a:ln>
              <a:effectLst/>
            </p:spPr>
            <p:txBody>
              <a:bodyPr/>
              <a:lstStyle/>
              <a:p>
                <a:endParaRPr lang="en-US"/>
              </a:p>
            </p:txBody>
          </p:sp>
        </p:grpSp>
        <p:sp>
          <p:nvSpPr>
            <p:cNvPr id="281624" name="Text Box 24"/>
            <p:cNvSpPr txBox="1">
              <a:spLocks noChangeArrowheads="1"/>
            </p:cNvSpPr>
            <p:nvPr/>
          </p:nvSpPr>
          <p:spPr bwMode="auto">
            <a:xfrm>
              <a:off x="4080" y="576"/>
              <a:ext cx="178" cy="288"/>
            </a:xfrm>
            <a:prstGeom prst="rect">
              <a:avLst/>
            </a:prstGeom>
            <a:noFill/>
            <a:ln w="9525">
              <a:noFill/>
              <a:miter lim="800000"/>
              <a:headEnd/>
              <a:tailEnd/>
            </a:ln>
            <a:effectLst/>
          </p:spPr>
          <p:txBody>
            <a:bodyPr>
              <a:spAutoFit/>
            </a:bodyPr>
            <a:lstStyle/>
            <a:p>
              <a:pPr>
                <a:spcBef>
                  <a:spcPct val="50000"/>
                </a:spcBef>
              </a:pPr>
              <a:r>
                <a:rPr lang="en-US"/>
                <a:t>+</a:t>
              </a:r>
            </a:p>
          </p:txBody>
        </p:sp>
        <p:sp>
          <p:nvSpPr>
            <p:cNvPr id="281625" name="Text Box 25"/>
            <p:cNvSpPr txBox="1">
              <a:spLocks noChangeArrowheads="1"/>
            </p:cNvSpPr>
            <p:nvPr/>
          </p:nvSpPr>
          <p:spPr bwMode="auto">
            <a:xfrm>
              <a:off x="4092" y="1632"/>
              <a:ext cx="178" cy="288"/>
            </a:xfrm>
            <a:prstGeom prst="rect">
              <a:avLst/>
            </a:prstGeom>
            <a:noFill/>
            <a:ln w="9525">
              <a:noFill/>
              <a:miter lim="800000"/>
              <a:headEnd/>
              <a:tailEnd/>
            </a:ln>
            <a:effectLst/>
          </p:spPr>
          <p:txBody>
            <a:bodyPr>
              <a:spAutoFit/>
            </a:bodyPr>
            <a:lstStyle/>
            <a:p>
              <a:pPr>
                <a:spcBef>
                  <a:spcPct val="50000"/>
                </a:spcBef>
              </a:pPr>
              <a:r>
                <a:rPr lang="en-US"/>
                <a:t>_</a:t>
              </a:r>
            </a:p>
          </p:txBody>
        </p:sp>
        <p:sp>
          <p:nvSpPr>
            <p:cNvPr id="281626" name="Text Box 26"/>
            <p:cNvSpPr txBox="1">
              <a:spLocks noChangeArrowheads="1"/>
            </p:cNvSpPr>
            <p:nvPr/>
          </p:nvSpPr>
          <p:spPr bwMode="auto">
            <a:xfrm>
              <a:off x="4176" y="3696"/>
              <a:ext cx="178" cy="288"/>
            </a:xfrm>
            <a:prstGeom prst="rect">
              <a:avLst/>
            </a:prstGeom>
            <a:noFill/>
            <a:ln w="9525">
              <a:noFill/>
              <a:miter lim="800000"/>
              <a:headEnd/>
              <a:tailEnd/>
            </a:ln>
            <a:effectLst/>
          </p:spPr>
          <p:txBody>
            <a:bodyPr>
              <a:spAutoFit/>
            </a:bodyPr>
            <a:lstStyle/>
            <a:p>
              <a:pPr>
                <a:spcBef>
                  <a:spcPct val="50000"/>
                </a:spcBef>
              </a:pPr>
              <a:r>
                <a:rPr lang="en-US"/>
                <a:t>_</a:t>
              </a:r>
            </a:p>
          </p:txBody>
        </p:sp>
        <p:sp>
          <p:nvSpPr>
            <p:cNvPr id="281627" name="Text Box 27"/>
            <p:cNvSpPr txBox="1">
              <a:spLocks noChangeArrowheads="1"/>
            </p:cNvSpPr>
            <p:nvPr/>
          </p:nvSpPr>
          <p:spPr bwMode="auto">
            <a:xfrm>
              <a:off x="4080" y="1488"/>
              <a:ext cx="178" cy="288"/>
            </a:xfrm>
            <a:prstGeom prst="rect">
              <a:avLst/>
            </a:prstGeom>
            <a:noFill/>
            <a:ln w="9525">
              <a:noFill/>
              <a:miter lim="800000"/>
              <a:headEnd/>
              <a:tailEnd/>
            </a:ln>
            <a:effectLst/>
          </p:spPr>
          <p:txBody>
            <a:bodyPr>
              <a:spAutoFit/>
            </a:bodyPr>
            <a:lstStyle/>
            <a:p>
              <a:pPr>
                <a:spcBef>
                  <a:spcPct val="50000"/>
                </a:spcBef>
              </a:pPr>
              <a:r>
                <a:rPr lang="en-US"/>
                <a:t>_</a:t>
              </a:r>
            </a:p>
          </p:txBody>
        </p:sp>
        <p:sp>
          <p:nvSpPr>
            <p:cNvPr id="281628" name="Text Box 28"/>
            <p:cNvSpPr txBox="1">
              <a:spLocks noChangeArrowheads="1"/>
            </p:cNvSpPr>
            <p:nvPr/>
          </p:nvSpPr>
          <p:spPr bwMode="auto">
            <a:xfrm>
              <a:off x="4032" y="2640"/>
              <a:ext cx="178" cy="288"/>
            </a:xfrm>
            <a:prstGeom prst="rect">
              <a:avLst/>
            </a:prstGeom>
            <a:noFill/>
            <a:ln w="9525">
              <a:noFill/>
              <a:miter lim="800000"/>
              <a:headEnd/>
              <a:tailEnd/>
            </a:ln>
            <a:effectLst/>
          </p:spPr>
          <p:txBody>
            <a:bodyPr>
              <a:spAutoFit/>
            </a:bodyPr>
            <a:lstStyle/>
            <a:p>
              <a:pPr>
                <a:spcBef>
                  <a:spcPct val="50000"/>
                </a:spcBef>
              </a:pPr>
              <a:r>
                <a:rPr lang="en-US"/>
                <a:t>+</a:t>
              </a:r>
            </a:p>
          </p:txBody>
        </p:sp>
        <p:sp>
          <p:nvSpPr>
            <p:cNvPr id="281629" name="Text Box 29"/>
            <p:cNvSpPr txBox="1">
              <a:spLocks noChangeArrowheads="1"/>
            </p:cNvSpPr>
            <p:nvPr/>
          </p:nvSpPr>
          <p:spPr bwMode="auto">
            <a:xfrm>
              <a:off x="4080" y="2976"/>
              <a:ext cx="178" cy="288"/>
            </a:xfrm>
            <a:prstGeom prst="rect">
              <a:avLst/>
            </a:prstGeom>
            <a:noFill/>
            <a:ln w="9525">
              <a:noFill/>
              <a:miter lim="800000"/>
              <a:headEnd/>
              <a:tailEnd/>
            </a:ln>
            <a:effectLst/>
          </p:spPr>
          <p:txBody>
            <a:bodyPr>
              <a:spAutoFit/>
            </a:bodyPr>
            <a:lstStyle/>
            <a:p>
              <a:pPr>
                <a:spcBef>
                  <a:spcPct val="50000"/>
                </a:spcBef>
              </a:pPr>
              <a:r>
                <a:rPr lang="en-US"/>
                <a:t>+</a:t>
              </a:r>
            </a:p>
          </p:txBody>
        </p:sp>
        <p:sp>
          <p:nvSpPr>
            <p:cNvPr id="281630" name="Text Box 30"/>
            <p:cNvSpPr txBox="1">
              <a:spLocks noChangeArrowheads="1"/>
            </p:cNvSpPr>
            <p:nvPr/>
          </p:nvSpPr>
          <p:spPr bwMode="auto">
            <a:xfrm>
              <a:off x="3936" y="1056"/>
              <a:ext cx="432" cy="250"/>
            </a:xfrm>
            <a:prstGeom prst="rect">
              <a:avLst/>
            </a:prstGeom>
            <a:noFill/>
            <a:ln w="9525">
              <a:noFill/>
              <a:miter lim="800000"/>
              <a:headEnd/>
              <a:tailEnd/>
            </a:ln>
            <a:effectLst/>
          </p:spPr>
          <p:txBody>
            <a:bodyPr>
              <a:spAutoFit/>
            </a:bodyPr>
            <a:lstStyle/>
            <a:p>
              <a:pPr>
                <a:spcBef>
                  <a:spcPct val="50000"/>
                </a:spcBef>
              </a:pPr>
              <a:r>
                <a:rPr lang="en-US" sz="2000" b="1">
                  <a:latin typeface="Arial" charset="0"/>
                </a:rPr>
                <a:t>5 V</a:t>
              </a:r>
            </a:p>
          </p:txBody>
        </p:sp>
        <p:sp>
          <p:nvSpPr>
            <p:cNvPr id="281631" name="Text Box 31"/>
            <p:cNvSpPr txBox="1">
              <a:spLocks noChangeArrowheads="1"/>
            </p:cNvSpPr>
            <p:nvPr/>
          </p:nvSpPr>
          <p:spPr bwMode="auto">
            <a:xfrm>
              <a:off x="3888" y="2208"/>
              <a:ext cx="480" cy="250"/>
            </a:xfrm>
            <a:prstGeom prst="rect">
              <a:avLst/>
            </a:prstGeom>
            <a:noFill/>
            <a:ln w="9525">
              <a:noFill/>
              <a:miter lim="800000"/>
              <a:headEnd/>
              <a:tailEnd/>
            </a:ln>
            <a:effectLst/>
          </p:spPr>
          <p:txBody>
            <a:bodyPr>
              <a:spAutoFit/>
            </a:bodyPr>
            <a:lstStyle/>
            <a:p>
              <a:pPr>
                <a:spcBef>
                  <a:spcPct val="50000"/>
                </a:spcBef>
              </a:pPr>
              <a:r>
                <a:rPr lang="en-US" sz="2000" b="1">
                  <a:latin typeface="Arial" charset="0"/>
                </a:rPr>
                <a:t>- 5 V</a:t>
              </a:r>
            </a:p>
          </p:txBody>
        </p:sp>
        <p:sp>
          <p:nvSpPr>
            <p:cNvPr id="281632" name="Text Box 32"/>
            <p:cNvSpPr txBox="1">
              <a:spLocks noChangeArrowheads="1"/>
            </p:cNvSpPr>
            <p:nvPr/>
          </p:nvSpPr>
          <p:spPr bwMode="auto">
            <a:xfrm>
              <a:off x="3960" y="3312"/>
              <a:ext cx="432" cy="250"/>
            </a:xfrm>
            <a:prstGeom prst="rect">
              <a:avLst/>
            </a:prstGeom>
            <a:noFill/>
            <a:ln w="9525">
              <a:noFill/>
              <a:miter lim="800000"/>
              <a:headEnd/>
              <a:tailEnd/>
            </a:ln>
            <a:effectLst/>
          </p:spPr>
          <p:txBody>
            <a:bodyPr>
              <a:spAutoFit/>
            </a:bodyPr>
            <a:lstStyle/>
            <a:p>
              <a:pPr>
                <a:spcBef>
                  <a:spcPct val="50000"/>
                </a:spcBef>
              </a:pPr>
              <a:r>
                <a:rPr lang="en-US" sz="2000" b="1">
                  <a:latin typeface="Arial" charset="0"/>
                </a:rPr>
                <a:t>5 V</a:t>
              </a:r>
            </a:p>
          </p:txBody>
        </p:sp>
        <p:sp>
          <p:nvSpPr>
            <p:cNvPr id="281633" name="Line 33"/>
            <p:cNvSpPr>
              <a:spLocks noChangeShapeType="1"/>
            </p:cNvSpPr>
            <p:nvPr/>
          </p:nvSpPr>
          <p:spPr bwMode="auto">
            <a:xfrm>
              <a:off x="4416" y="720"/>
              <a:ext cx="288" cy="0"/>
            </a:xfrm>
            <a:prstGeom prst="line">
              <a:avLst/>
            </a:prstGeom>
            <a:noFill/>
            <a:ln w="9525">
              <a:solidFill>
                <a:schemeClr val="tx1"/>
              </a:solidFill>
              <a:round/>
              <a:headEnd/>
              <a:tailEnd type="triangle" w="med" len="med"/>
            </a:ln>
            <a:effectLst/>
          </p:spPr>
          <p:txBody>
            <a:bodyPr/>
            <a:lstStyle/>
            <a:p>
              <a:endParaRPr lang="en-US"/>
            </a:p>
          </p:txBody>
        </p:sp>
        <p:sp>
          <p:nvSpPr>
            <p:cNvPr id="281634" name="Line 34"/>
            <p:cNvSpPr>
              <a:spLocks noChangeShapeType="1"/>
            </p:cNvSpPr>
            <p:nvPr/>
          </p:nvSpPr>
          <p:spPr bwMode="auto">
            <a:xfrm>
              <a:off x="4320" y="2688"/>
              <a:ext cx="288" cy="0"/>
            </a:xfrm>
            <a:prstGeom prst="line">
              <a:avLst/>
            </a:prstGeom>
            <a:noFill/>
            <a:ln w="9525">
              <a:solidFill>
                <a:schemeClr val="tx1"/>
              </a:solidFill>
              <a:round/>
              <a:headEnd/>
              <a:tailEnd type="triangle" w="med" len="med"/>
            </a:ln>
            <a:effectLst/>
          </p:spPr>
          <p:txBody>
            <a:bodyPr/>
            <a:lstStyle/>
            <a:p>
              <a:endParaRPr lang="en-US"/>
            </a:p>
          </p:txBody>
        </p:sp>
        <p:sp>
          <p:nvSpPr>
            <p:cNvPr id="281635" name="Line 35"/>
            <p:cNvSpPr>
              <a:spLocks noChangeShapeType="1"/>
            </p:cNvSpPr>
            <p:nvPr/>
          </p:nvSpPr>
          <p:spPr bwMode="auto">
            <a:xfrm>
              <a:off x="4320" y="3120"/>
              <a:ext cx="288" cy="0"/>
            </a:xfrm>
            <a:prstGeom prst="line">
              <a:avLst/>
            </a:prstGeom>
            <a:noFill/>
            <a:ln w="9525">
              <a:solidFill>
                <a:schemeClr val="tx1"/>
              </a:solidFill>
              <a:round/>
              <a:headEnd/>
              <a:tailEnd type="triangle" w="med" len="med"/>
            </a:ln>
            <a:effectLst/>
          </p:spPr>
          <p:txBody>
            <a:bodyPr/>
            <a:lstStyle/>
            <a:p>
              <a:endParaRPr lang="en-US"/>
            </a:p>
          </p:txBody>
        </p:sp>
        <p:sp>
          <p:nvSpPr>
            <p:cNvPr id="281636" name="Text Box 36"/>
            <p:cNvSpPr txBox="1">
              <a:spLocks noChangeArrowheads="1"/>
            </p:cNvSpPr>
            <p:nvPr/>
          </p:nvSpPr>
          <p:spPr bwMode="auto">
            <a:xfrm>
              <a:off x="4320" y="480"/>
              <a:ext cx="432" cy="250"/>
            </a:xfrm>
            <a:prstGeom prst="rect">
              <a:avLst/>
            </a:prstGeom>
            <a:noFill/>
            <a:ln w="9525">
              <a:noFill/>
              <a:miter lim="800000"/>
              <a:headEnd/>
              <a:tailEnd/>
            </a:ln>
            <a:effectLst/>
          </p:spPr>
          <p:txBody>
            <a:bodyPr>
              <a:spAutoFit/>
            </a:bodyPr>
            <a:lstStyle/>
            <a:p>
              <a:pPr>
                <a:spcBef>
                  <a:spcPct val="50000"/>
                </a:spcBef>
              </a:pPr>
              <a:r>
                <a:rPr lang="en-US" sz="2000" b="1">
                  <a:latin typeface="Arial" charset="0"/>
                </a:rPr>
                <a:t>3 A</a:t>
              </a:r>
            </a:p>
          </p:txBody>
        </p:sp>
        <p:sp>
          <p:nvSpPr>
            <p:cNvPr id="281637" name="Text Box 37"/>
            <p:cNvSpPr txBox="1">
              <a:spLocks noChangeArrowheads="1"/>
            </p:cNvSpPr>
            <p:nvPr/>
          </p:nvSpPr>
          <p:spPr bwMode="auto">
            <a:xfrm>
              <a:off x="4176" y="2438"/>
              <a:ext cx="504" cy="250"/>
            </a:xfrm>
            <a:prstGeom prst="rect">
              <a:avLst/>
            </a:prstGeom>
            <a:noFill/>
            <a:ln w="9525">
              <a:noFill/>
              <a:miter lim="800000"/>
              <a:headEnd/>
              <a:tailEnd/>
            </a:ln>
            <a:effectLst/>
          </p:spPr>
          <p:txBody>
            <a:bodyPr>
              <a:spAutoFit/>
            </a:bodyPr>
            <a:lstStyle/>
            <a:p>
              <a:pPr>
                <a:spcBef>
                  <a:spcPct val="50000"/>
                </a:spcBef>
              </a:pPr>
              <a:r>
                <a:rPr lang="en-US" sz="2000" b="1">
                  <a:latin typeface="Arial" charset="0"/>
                </a:rPr>
                <a:t>- 3 A</a:t>
              </a:r>
            </a:p>
          </p:txBody>
        </p:sp>
        <p:sp>
          <p:nvSpPr>
            <p:cNvPr id="281638" name="Text Box 38"/>
            <p:cNvSpPr txBox="1">
              <a:spLocks noChangeArrowheads="1"/>
            </p:cNvSpPr>
            <p:nvPr/>
          </p:nvSpPr>
          <p:spPr bwMode="auto">
            <a:xfrm>
              <a:off x="4224" y="3110"/>
              <a:ext cx="480" cy="250"/>
            </a:xfrm>
            <a:prstGeom prst="rect">
              <a:avLst/>
            </a:prstGeom>
            <a:noFill/>
            <a:ln w="9525">
              <a:noFill/>
              <a:miter lim="800000"/>
              <a:headEnd/>
              <a:tailEnd/>
            </a:ln>
            <a:effectLst/>
          </p:spPr>
          <p:txBody>
            <a:bodyPr>
              <a:spAutoFit/>
            </a:bodyPr>
            <a:lstStyle/>
            <a:p>
              <a:pPr>
                <a:spcBef>
                  <a:spcPct val="50000"/>
                </a:spcBef>
              </a:pPr>
              <a:r>
                <a:rPr lang="en-US" sz="2000" b="1">
                  <a:latin typeface="Arial" charset="0"/>
                </a:rPr>
                <a:t>- 3 A</a:t>
              </a:r>
            </a:p>
          </p:txBody>
        </p:sp>
        <p:sp>
          <p:nvSpPr>
            <p:cNvPr id="281639" name="Text Box 39"/>
            <p:cNvSpPr txBox="1">
              <a:spLocks noChangeArrowheads="1"/>
            </p:cNvSpPr>
            <p:nvPr/>
          </p:nvSpPr>
          <p:spPr bwMode="auto">
            <a:xfrm>
              <a:off x="4992" y="1104"/>
              <a:ext cx="672" cy="375"/>
            </a:xfrm>
            <a:prstGeom prst="rect">
              <a:avLst/>
            </a:prstGeom>
            <a:noFill/>
            <a:ln w="9525">
              <a:noFill/>
              <a:miter lim="800000"/>
              <a:headEnd/>
              <a:tailEnd/>
            </a:ln>
            <a:effectLst/>
          </p:spPr>
          <p:txBody>
            <a:bodyPr>
              <a:spAutoFit/>
            </a:bodyPr>
            <a:lstStyle/>
            <a:p>
              <a:pPr>
                <a:spcBef>
                  <a:spcPct val="50000"/>
                </a:spcBef>
              </a:pPr>
              <a:r>
                <a:rPr lang="en-US" sz="1800" b="1">
                  <a:latin typeface="Arial" charset="0"/>
                </a:rPr>
                <a:t>15 w</a:t>
              </a:r>
            </a:p>
            <a:p>
              <a:pPr>
                <a:spcBef>
                  <a:spcPct val="50000"/>
                </a:spcBef>
              </a:pPr>
              <a:r>
                <a:rPr lang="en-US" sz="1000" b="1">
                  <a:latin typeface="Arial" charset="0"/>
                </a:rPr>
                <a:t>(absorbed)</a:t>
              </a:r>
            </a:p>
          </p:txBody>
        </p:sp>
        <p:sp>
          <p:nvSpPr>
            <p:cNvPr id="281640" name="Text Box 40"/>
            <p:cNvSpPr txBox="1">
              <a:spLocks noChangeArrowheads="1"/>
            </p:cNvSpPr>
            <p:nvPr/>
          </p:nvSpPr>
          <p:spPr bwMode="auto">
            <a:xfrm>
              <a:off x="4992" y="2246"/>
              <a:ext cx="576" cy="375"/>
            </a:xfrm>
            <a:prstGeom prst="rect">
              <a:avLst/>
            </a:prstGeom>
            <a:noFill/>
            <a:ln w="9525">
              <a:noFill/>
              <a:miter lim="800000"/>
              <a:headEnd/>
              <a:tailEnd/>
            </a:ln>
            <a:effectLst/>
          </p:spPr>
          <p:txBody>
            <a:bodyPr>
              <a:spAutoFit/>
            </a:bodyPr>
            <a:lstStyle/>
            <a:p>
              <a:pPr>
                <a:spcBef>
                  <a:spcPct val="50000"/>
                </a:spcBef>
              </a:pPr>
              <a:r>
                <a:rPr lang="en-US" sz="1800" b="1">
                  <a:latin typeface="Arial" charset="0"/>
                </a:rPr>
                <a:t>15 w</a:t>
              </a:r>
            </a:p>
            <a:p>
              <a:pPr>
                <a:spcBef>
                  <a:spcPct val="50000"/>
                </a:spcBef>
              </a:pPr>
              <a:r>
                <a:rPr lang="en-US" sz="1000" b="1">
                  <a:latin typeface="Arial" charset="0"/>
                </a:rPr>
                <a:t>(absorbed)</a:t>
              </a:r>
            </a:p>
          </p:txBody>
        </p:sp>
        <p:sp>
          <p:nvSpPr>
            <p:cNvPr id="281641" name="Text Box 41"/>
            <p:cNvSpPr txBox="1">
              <a:spLocks noChangeArrowheads="1"/>
            </p:cNvSpPr>
            <p:nvPr/>
          </p:nvSpPr>
          <p:spPr bwMode="auto">
            <a:xfrm>
              <a:off x="5028" y="3312"/>
              <a:ext cx="588" cy="378"/>
            </a:xfrm>
            <a:prstGeom prst="rect">
              <a:avLst/>
            </a:prstGeom>
            <a:noFill/>
            <a:ln w="9525">
              <a:noFill/>
              <a:miter lim="800000"/>
              <a:headEnd/>
              <a:tailEnd/>
            </a:ln>
            <a:effectLst/>
          </p:spPr>
          <p:txBody>
            <a:bodyPr>
              <a:spAutoFit/>
            </a:bodyPr>
            <a:lstStyle/>
            <a:p>
              <a:pPr>
                <a:spcBef>
                  <a:spcPct val="50000"/>
                </a:spcBef>
              </a:pPr>
              <a:r>
                <a:rPr lang="en-US" sz="1800" b="1" dirty="0">
                  <a:latin typeface="Arial" charset="0"/>
                </a:rPr>
                <a:t>-15 w</a:t>
              </a:r>
            </a:p>
            <a:p>
              <a:pPr>
                <a:spcBef>
                  <a:spcPct val="50000"/>
                </a:spcBef>
              </a:pPr>
              <a:r>
                <a:rPr lang="en-US" sz="1000" b="1" dirty="0" smtClean="0">
                  <a:latin typeface="Arial" charset="0"/>
                </a:rPr>
                <a:t>(absorbed)</a:t>
              </a:r>
              <a:endParaRPr lang="en-US" sz="1000" b="1" dirty="0">
                <a:latin typeface="Arial" charset="0"/>
              </a:endParaRPr>
            </a:p>
          </p:txBody>
        </p:sp>
      </p:grpSp>
    </p:spTree>
    <p:extLst>
      <p:ext uri="{BB962C8B-B14F-4D97-AF65-F5344CB8AC3E}">
        <p14:creationId xmlns:p14="http://schemas.microsoft.com/office/powerpoint/2010/main" val="2197471529"/>
      </p:ext>
    </p:extLst>
  </p:cSld>
  <p:clrMapOvr>
    <a:masterClrMapping/>
  </p:clrMapOvr>
  <p:transition spd="slow">
    <p:cover dir="l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par>
                                <p:cTn id="8" presetID="2" presetClass="entr" presetSubtype="4" fill="hold" grpId="0" nodeType="withEffect">
                                  <p:stCondLst>
                                    <p:cond delay="0"/>
                                  </p:stCondLst>
                                  <p:childTnLst>
                                    <p:set>
                                      <p:cBhvr>
                                        <p:cTn id="9" dur="1" fill="hold">
                                          <p:stCondLst>
                                            <p:cond delay="0"/>
                                          </p:stCondLst>
                                        </p:cTn>
                                        <p:tgtEl>
                                          <p:spTgt spid="281604"/>
                                        </p:tgtEl>
                                        <p:attrNameLst>
                                          <p:attrName>style.visibility</p:attrName>
                                        </p:attrNameLst>
                                      </p:cBhvr>
                                      <p:to>
                                        <p:strVal val="visible"/>
                                      </p:to>
                                    </p:set>
                                    <p:anim calcmode="lin" valueType="num">
                                      <p:cBhvr additive="base">
                                        <p:cTn id="10" dur="500" fill="hold"/>
                                        <p:tgtEl>
                                          <p:spTgt spid="281604"/>
                                        </p:tgtEl>
                                        <p:attrNameLst>
                                          <p:attrName>ppt_x</p:attrName>
                                        </p:attrNameLst>
                                      </p:cBhvr>
                                      <p:tavLst>
                                        <p:tav tm="0">
                                          <p:val>
                                            <p:strVal val="#ppt_x"/>
                                          </p:val>
                                        </p:tav>
                                        <p:tav tm="100000">
                                          <p:val>
                                            <p:strVal val="#ppt_x"/>
                                          </p:val>
                                        </p:tav>
                                      </p:tavLst>
                                    </p:anim>
                                    <p:anim calcmode="lin" valueType="num">
                                      <p:cBhvr additive="base">
                                        <p:cTn id="11" dur="500" fill="hold"/>
                                        <p:tgtEl>
                                          <p:spTgt spid="28160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1604"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6"/>
          <p:cNvSpPr>
            <a:spLocks noGrp="1"/>
          </p:cNvSpPr>
          <p:nvPr>
            <p:ph type="sldNum" sz="quarter" idx="12"/>
          </p:nvPr>
        </p:nvSpPr>
        <p:spPr/>
        <p:txBody>
          <a:bodyPr/>
          <a:lstStyle/>
          <a:p>
            <a:fld id="{458E946A-BDAA-40EC-8D5A-FA01F80BEB3E}" type="slidenum">
              <a:rPr lang="en-US" altLang="en-US"/>
              <a:pPr/>
              <a:t>5</a:t>
            </a:fld>
            <a:endParaRPr lang="en-US" altLang="en-US"/>
          </a:p>
        </p:txBody>
      </p:sp>
      <p:sp>
        <p:nvSpPr>
          <p:cNvPr id="355330" name="Rectangle 2"/>
          <p:cNvSpPr>
            <a:spLocks noGrp="1" noChangeArrowheads="1"/>
          </p:cNvSpPr>
          <p:nvPr>
            <p:ph type="title"/>
          </p:nvPr>
        </p:nvSpPr>
        <p:spPr>
          <a:xfrm>
            <a:off x="868363" y="76200"/>
            <a:ext cx="7772400" cy="457200"/>
          </a:xfrm>
        </p:spPr>
        <p:txBody>
          <a:bodyPr/>
          <a:lstStyle/>
          <a:p>
            <a:r>
              <a:rPr lang="en-US" sz="2800" b="1" u="sng" dirty="0" smtClean="0"/>
              <a:t>Example </a:t>
            </a:r>
            <a:r>
              <a:rPr lang="en-US" sz="2800" b="1" u="sng" dirty="0"/>
              <a:t>: </a:t>
            </a:r>
            <a:r>
              <a:rPr lang="en-US" sz="2800" b="1" u="sng" dirty="0" smtClean="0"/>
              <a:t>Power</a:t>
            </a:r>
            <a:endParaRPr lang="en-US" sz="2800" b="1" u="sng" dirty="0"/>
          </a:p>
        </p:txBody>
      </p:sp>
      <p:sp>
        <p:nvSpPr>
          <p:cNvPr id="355332" name="Rectangle 4"/>
          <p:cNvSpPr>
            <a:spLocks noChangeArrowheads="1"/>
          </p:cNvSpPr>
          <p:nvPr/>
        </p:nvSpPr>
        <p:spPr bwMode="auto">
          <a:xfrm>
            <a:off x="8640763" y="6400800"/>
            <a:ext cx="503237" cy="457200"/>
          </a:xfrm>
          <a:prstGeom prst="rect">
            <a:avLst/>
          </a:prstGeom>
          <a:noFill/>
          <a:ln w="9525">
            <a:noFill/>
            <a:miter lim="800000"/>
            <a:headEnd/>
            <a:tailEnd/>
          </a:ln>
          <a:effectLst/>
        </p:spPr>
        <p:txBody>
          <a:bodyPr wrap="none">
            <a:spAutoFit/>
          </a:bodyPr>
          <a:lstStyle/>
          <a:p>
            <a:pPr>
              <a:spcBef>
                <a:spcPct val="50000"/>
              </a:spcBef>
              <a:buFont typeface="Wingdings" pitchFamily="2" charset="2"/>
              <a:buChar char="Ø"/>
            </a:pPr>
            <a:r>
              <a:rPr lang="en-US"/>
              <a:t> </a:t>
            </a:r>
          </a:p>
        </p:txBody>
      </p:sp>
      <p:pic>
        <p:nvPicPr>
          <p:cNvPr id="1026" name="Picture 2"/>
          <p:cNvPicPr>
            <a:picLocks noChangeAspect="1" noChangeArrowheads="1"/>
          </p:cNvPicPr>
          <p:nvPr/>
        </p:nvPicPr>
        <p:blipFill>
          <a:blip r:embed="rId2">
            <a:extLst>
              <a:ext uri="{BEBA8EAE-BF5A-486C-A8C5-ECC9F3942E4B}">
                <a14:imgProps xmlns:a14="http://schemas.microsoft.com/office/drawing/2010/main">
                  <a14:imgLayer r:embed="rId3">
                    <a14:imgEffect>
                      <a14:sharpenSoften amount="82000"/>
                    </a14:imgEffect>
                    <a14:imgEffect>
                      <a14:brightnessContrast bright="-10000" contrast="47000"/>
                    </a14:imgEffect>
                  </a14:imgLayer>
                </a14:imgProps>
              </a:ext>
              <a:ext uri="{28A0092B-C50C-407E-A947-70E740481C1C}">
                <a14:useLocalDpi xmlns:a14="http://schemas.microsoft.com/office/drawing/2010/main" val="0"/>
              </a:ext>
            </a:extLst>
          </a:blip>
          <a:srcRect/>
          <a:stretch>
            <a:fillRect/>
          </a:stretch>
        </p:blipFill>
        <p:spPr bwMode="auto">
          <a:xfrm>
            <a:off x="2514600" y="533400"/>
            <a:ext cx="4619625" cy="2419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7" name="Picture 3"/>
          <p:cNvPicPr>
            <a:picLocks noChangeAspect="1" noChangeArrowheads="1"/>
          </p:cNvPicPr>
          <p:nvPr/>
        </p:nvPicPr>
        <p:blipFill>
          <a:blip r:embed="rId4">
            <a:extLst>
              <a:ext uri="{BEBA8EAE-BF5A-486C-A8C5-ECC9F3942E4B}">
                <a14:imgProps xmlns:a14="http://schemas.microsoft.com/office/drawing/2010/main">
                  <a14:imgLayer r:embed="rId5">
                    <a14:imgEffect>
                      <a14:sharpenSoften amount="94000"/>
                    </a14:imgEffect>
                    <a14:imgEffect>
                      <a14:brightnessContrast bright="-9000" contrast="42000"/>
                    </a14:imgEffect>
                  </a14:imgLayer>
                </a14:imgProps>
              </a:ext>
              <a:ext uri="{28A0092B-C50C-407E-A947-70E740481C1C}">
                <a14:useLocalDpi xmlns:a14="http://schemas.microsoft.com/office/drawing/2010/main" val="0"/>
              </a:ext>
            </a:extLst>
          </a:blip>
          <a:srcRect/>
          <a:stretch>
            <a:fillRect/>
          </a:stretch>
        </p:blipFill>
        <p:spPr bwMode="auto">
          <a:xfrm>
            <a:off x="76200" y="2952750"/>
            <a:ext cx="4581525" cy="1695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8" name="Picture 4"/>
          <p:cNvPicPr>
            <a:picLocks noChangeAspect="1" noChangeArrowheads="1"/>
          </p:cNvPicPr>
          <p:nvPr/>
        </p:nvPicPr>
        <p:blipFill>
          <a:blip r:embed="rId6">
            <a:extLst>
              <a:ext uri="{BEBA8EAE-BF5A-486C-A8C5-ECC9F3942E4B}">
                <a14:imgProps xmlns:a14="http://schemas.microsoft.com/office/drawing/2010/main">
                  <a14:imgLayer r:embed="rId7">
                    <a14:imgEffect>
                      <a14:sharpenSoften amount="80000"/>
                    </a14:imgEffect>
                    <a14:imgEffect>
                      <a14:brightnessContrast bright="-10000" contrast="55000"/>
                    </a14:imgEffect>
                  </a14:imgLayer>
                </a14:imgProps>
              </a:ext>
              <a:ext uri="{28A0092B-C50C-407E-A947-70E740481C1C}">
                <a14:useLocalDpi xmlns:a14="http://schemas.microsoft.com/office/drawing/2010/main" val="0"/>
              </a:ext>
            </a:extLst>
          </a:blip>
          <a:srcRect/>
          <a:stretch>
            <a:fillRect/>
          </a:stretch>
        </p:blipFill>
        <p:spPr bwMode="auto">
          <a:xfrm>
            <a:off x="4678507" y="2895600"/>
            <a:ext cx="4465493" cy="1752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9" name="Picture 5"/>
          <p:cNvPicPr>
            <a:picLocks noChangeAspect="1" noChangeArrowheads="1"/>
          </p:cNvPicPr>
          <p:nvPr/>
        </p:nvPicPr>
        <p:blipFill>
          <a:blip r:embed="rId8">
            <a:extLst>
              <a:ext uri="{BEBA8EAE-BF5A-486C-A8C5-ECC9F3942E4B}">
                <a14:imgProps xmlns:a14="http://schemas.microsoft.com/office/drawing/2010/main">
                  <a14:imgLayer r:embed="rId9">
                    <a14:imgEffect>
                      <a14:sharpenSoften amount="76000"/>
                    </a14:imgEffect>
                    <a14:imgEffect>
                      <a14:brightnessContrast bright="-17000" contrast="47000"/>
                    </a14:imgEffect>
                  </a14:imgLayer>
                </a14:imgProps>
              </a:ext>
              <a:ext uri="{28A0092B-C50C-407E-A947-70E740481C1C}">
                <a14:useLocalDpi xmlns:a14="http://schemas.microsoft.com/office/drawing/2010/main" val="0"/>
              </a:ext>
            </a:extLst>
          </a:blip>
          <a:srcRect/>
          <a:stretch>
            <a:fillRect/>
          </a:stretch>
        </p:blipFill>
        <p:spPr bwMode="auto">
          <a:xfrm>
            <a:off x="2057401" y="4800600"/>
            <a:ext cx="5076824" cy="1828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587800663"/>
      </p:ext>
    </p:extLst>
  </p:cSld>
  <p:clrMapOvr>
    <a:masterClrMapping/>
  </p:clrMapOvr>
  <p:transition spd="slow">
    <p:cover dir="l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355332"/>
                                        </p:tgtEl>
                                        <p:attrNameLst>
                                          <p:attrName>style.visibility</p:attrName>
                                        </p:attrNameLst>
                                      </p:cBhvr>
                                      <p:to>
                                        <p:strVal val="visible"/>
                                      </p:to>
                                    </p:set>
                                    <p:anim calcmode="lin" valueType="num">
                                      <p:cBhvr additive="base">
                                        <p:cTn id="7" dur="500" fill="hold"/>
                                        <p:tgtEl>
                                          <p:spTgt spid="355332"/>
                                        </p:tgtEl>
                                        <p:attrNameLst>
                                          <p:attrName>ppt_x</p:attrName>
                                        </p:attrNameLst>
                                      </p:cBhvr>
                                      <p:tavLst>
                                        <p:tav tm="0">
                                          <p:val>
                                            <p:strVal val="#ppt_x"/>
                                          </p:val>
                                        </p:tav>
                                        <p:tav tm="100000">
                                          <p:val>
                                            <p:strVal val="#ppt_x"/>
                                          </p:val>
                                        </p:tav>
                                      </p:tavLst>
                                    </p:anim>
                                    <p:anim calcmode="lin" valueType="num">
                                      <p:cBhvr additive="base">
                                        <p:cTn id="8" dur="500" fill="hold"/>
                                        <p:tgtEl>
                                          <p:spTgt spid="35533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2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02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028"/>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0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533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6"/>
          <p:cNvSpPr>
            <a:spLocks noGrp="1"/>
          </p:cNvSpPr>
          <p:nvPr>
            <p:ph type="sldNum" sz="quarter" idx="12"/>
          </p:nvPr>
        </p:nvSpPr>
        <p:spPr/>
        <p:txBody>
          <a:bodyPr/>
          <a:lstStyle/>
          <a:p>
            <a:fld id="{458E946A-BDAA-40EC-8D5A-FA01F80BEB3E}" type="slidenum">
              <a:rPr lang="en-US" altLang="en-US"/>
              <a:pPr/>
              <a:t>6</a:t>
            </a:fld>
            <a:endParaRPr lang="en-US" altLang="en-US"/>
          </a:p>
        </p:txBody>
      </p:sp>
      <p:sp>
        <p:nvSpPr>
          <p:cNvPr id="355330" name="Rectangle 2"/>
          <p:cNvSpPr>
            <a:spLocks noGrp="1" noChangeArrowheads="1"/>
          </p:cNvSpPr>
          <p:nvPr>
            <p:ph type="title"/>
          </p:nvPr>
        </p:nvSpPr>
        <p:spPr>
          <a:xfrm>
            <a:off x="868363" y="76200"/>
            <a:ext cx="7772400" cy="457200"/>
          </a:xfrm>
        </p:spPr>
        <p:txBody>
          <a:bodyPr/>
          <a:lstStyle/>
          <a:p>
            <a:r>
              <a:rPr lang="en-US" sz="2800" b="1" u="sng" dirty="0" smtClean="0"/>
              <a:t>PRACTICE </a:t>
            </a:r>
            <a:r>
              <a:rPr lang="en-US" sz="2800" b="1" u="sng" dirty="0"/>
              <a:t>: </a:t>
            </a:r>
            <a:r>
              <a:rPr lang="en-US" sz="2800" b="1" u="sng" dirty="0" smtClean="0"/>
              <a:t>Power</a:t>
            </a:r>
            <a:endParaRPr lang="en-US" sz="2800" b="1" u="sng" dirty="0"/>
          </a:p>
        </p:txBody>
      </p:sp>
      <p:sp>
        <p:nvSpPr>
          <p:cNvPr id="355332" name="Rectangle 4"/>
          <p:cNvSpPr>
            <a:spLocks noChangeArrowheads="1"/>
          </p:cNvSpPr>
          <p:nvPr/>
        </p:nvSpPr>
        <p:spPr bwMode="auto">
          <a:xfrm>
            <a:off x="8640763" y="6400800"/>
            <a:ext cx="503237" cy="457200"/>
          </a:xfrm>
          <a:prstGeom prst="rect">
            <a:avLst/>
          </a:prstGeom>
          <a:noFill/>
          <a:ln w="9525">
            <a:noFill/>
            <a:miter lim="800000"/>
            <a:headEnd/>
            <a:tailEnd/>
          </a:ln>
          <a:effectLst/>
        </p:spPr>
        <p:txBody>
          <a:bodyPr wrap="none">
            <a:spAutoFit/>
          </a:bodyPr>
          <a:lstStyle/>
          <a:p>
            <a:pPr>
              <a:spcBef>
                <a:spcPct val="50000"/>
              </a:spcBef>
              <a:buFont typeface="Wingdings" pitchFamily="2" charset="2"/>
              <a:buChar char="Ø"/>
            </a:pPr>
            <a:r>
              <a:rPr lang="en-US"/>
              <a:t> </a:t>
            </a:r>
          </a:p>
        </p:txBody>
      </p:sp>
      <p:pic>
        <p:nvPicPr>
          <p:cNvPr id="2050" name="Picture 2"/>
          <p:cNvPicPr>
            <a:picLocks noChangeAspect="1" noChangeArrowheads="1"/>
          </p:cNvPicPr>
          <p:nvPr/>
        </p:nvPicPr>
        <p:blipFill>
          <a:blip r:embed="rId2">
            <a:extLst>
              <a:ext uri="{BEBA8EAE-BF5A-486C-A8C5-ECC9F3942E4B}">
                <a14:imgProps xmlns:a14="http://schemas.microsoft.com/office/drawing/2010/main">
                  <a14:imgLayer r:embed="rId3">
                    <a14:imgEffect>
                      <a14:sharpenSoften amount="59000"/>
                    </a14:imgEffect>
                  </a14:imgLayer>
                </a14:imgProps>
              </a:ext>
              <a:ext uri="{28A0092B-C50C-407E-A947-70E740481C1C}">
                <a14:useLocalDpi xmlns:a14="http://schemas.microsoft.com/office/drawing/2010/main" val="0"/>
              </a:ext>
            </a:extLst>
          </a:blip>
          <a:srcRect/>
          <a:stretch>
            <a:fillRect/>
          </a:stretch>
        </p:blipFill>
        <p:spPr bwMode="auto">
          <a:xfrm>
            <a:off x="472698" y="914400"/>
            <a:ext cx="8061702" cy="5410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699742565"/>
      </p:ext>
    </p:extLst>
  </p:cSld>
  <p:clrMapOvr>
    <a:masterClrMapping/>
  </p:clrMapOvr>
  <p:transition spd="slow">
    <p:cover dir="l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355332"/>
                                        </p:tgtEl>
                                        <p:attrNameLst>
                                          <p:attrName>style.visibility</p:attrName>
                                        </p:attrNameLst>
                                      </p:cBhvr>
                                      <p:to>
                                        <p:strVal val="visible"/>
                                      </p:to>
                                    </p:set>
                                    <p:anim calcmode="lin" valueType="num">
                                      <p:cBhvr additive="base">
                                        <p:cTn id="7" dur="500" fill="hold"/>
                                        <p:tgtEl>
                                          <p:spTgt spid="355332"/>
                                        </p:tgtEl>
                                        <p:attrNameLst>
                                          <p:attrName>ppt_x</p:attrName>
                                        </p:attrNameLst>
                                      </p:cBhvr>
                                      <p:tavLst>
                                        <p:tav tm="0">
                                          <p:val>
                                            <p:strVal val="#ppt_x"/>
                                          </p:val>
                                        </p:tav>
                                        <p:tav tm="100000">
                                          <p:val>
                                            <p:strVal val="#ppt_x"/>
                                          </p:val>
                                        </p:tav>
                                      </p:tavLst>
                                    </p:anim>
                                    <p:anim calcmode="lin" valueType="num">
                                      <p:cBhvr additive="base">
                                        <p:cTn id="8" dur="500" fill="hold"/>
                                        <p:tgtEl>
                                          <p:spTgt spid="35533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533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6"/>
          <p:cNvSpPr>
            <a:spLocks noGrp="1"/>
          </p:cNvSpPr>
          <p:nvPr>
            <p:ph type="sldNum" sz="quarter" idx="12"/>
          </p:nvPr>
        </p:nvSpPr>
        <p:spPr/>
        <p:txBody>
          <a:bodyPr/>
          <a:lstStyle/>
          <a:p>
            <a:fld id="{458E946A-BDAA-40EC-8D5A-FA01F80BEB3E}" type="slidenum">
              <a:rPr lang="en-US" altLang="en-US"/>
              <a:pPr/>
              <a:t>7</a:t>
            </a:fld>
            <a:endParaRPr lang="en-US" altLang="en-US"/>
          </a:p>
        </p:txBody>
      </p:sp>
      <p:sp>
        <p:nvSpPr>
          <p:cNvPr id="355330" name="Rectangle 2"/>
          <p:cNvSpPr>
            <a:spLocks noGrp="1" noChangeArrowheads="1"/>
          </p:cNvSpPr>
          <p:nvPr>
            <p:ph type="title"/>
          </p:nvPr>
        </p:nvSpPr>
        <p:spPr>
          <a:xfrm>
            <a:off x="838200" y="304800"/>
            <a:ext cx="7772400" cy="457200"/>
          </a:xfrm>
        </p:spPr>
        <p:txBody>
          <a:bodyPr/>
          <a:lstStyle/>
          <a:p>
            <a:r>
              <a:rPr lang="en-US" sz="2800" b="1" u="sng" dirty="0" smtClean="0"/>
              <a:t>Example </a:t>
            </a:r>
            <a:r>
              <a:rPr lang="en-US" sz="2800" b="1" u="sng" dirty="0"/>
              <a:t>: </a:t>
            </a:r>
            <a:r>
              <a:rPr lang="en-US" sz="2800" b="1" u="sng" dirty="0" smtClean="0"/>
              <a:t>Power</a:t>
            </a:r>
            <a:endParaRPr lang="en-US" sz="2800" b="1" u="sng" dirty="0"/>
          </a:p>
        </p:txBody>
      </p:sp>
      <p:sp>
        <p:nvSpPr>
          <p:cNvPr id="355332" name="Rectangle 4"/>
          <p:cNvSpPr>
            <a:spLocks noChangeArrowheads="1"/>
          </p:cNvSpPr>
          <p:nvPr/>
        </p:nvSpPr>
        <p:spPr bwMode="auto">
          <a:xfrm>
            <a:off x="8640763" y="6400800"/>
            <a:ext cx="503237" cy="457200"/>
          </a:xfrm>
          <a:prstGeom prst="rect">
            <a:avLst/>
          </a:prstGeom>
          <a:noFill/>
          <a:ln w="9525">
            <a:noFill/>
            <a:miter lim="800000"/>
            <a:headEnd/>
            <a:tailEnd/>
          </a:ln>
          <a:effectLst/>
        </p:spPr>
        <p:txBody>
          <a:bodyPr wrap="none">
            <a:spAutoFit/>
          </a:bodyPr>
          <a:lstStyle/>
          <a:p>
            <a:pPr>
              <a:spcBef>
                <a:spcPct val="50000"/>
              </a:spcBef>
              <a:buFont typeface="Wingdings" pitchFamily="2" charset="2"/>
              <a:buChar char="Ø"/>
            </a:pPr>
            <a:r>
              <a:rPr lang="en-US"/>
              <a:t> </a:t>
            </a:r>
          </a:p>
        </p:txBody>
      </p:sp>
      <p:sp>
        <p:nvSpPr>
          <p:cNvPr id="355333" name="Rectangle 5"/>
          <p:cNvSpPr>
            <a:spLocks noChangeArrowheads="1"/>
          </p:cNvSpPr>
          <p:nvPr/>
        </p:nvSpPr>
        <p:spPr bwMode="auto">
          <a:xfrm>
            <a:off x="304800" y="914400"/>
            <a:ext cx="8610600" cy="5791200"/>
          </a:xfrm>
          <a:prstGeom prst="rect">
            <a:avLst/>
          </a:prstGeom>
          <a:noFill/>
          <a:ln w="9525">
            <a:noFill/>
            <a:miter lim="800000"/>
            <a:headEnd/>
            <a:tailEnd/>
          </a:ln>
          <a:effectLst/>
        </p:spPr>
        <p:txBody>
          <a:bodyPr/>
          <a:lstStyle/>
          <a:p>
            <a:pPr marL="342900" indent="-342900">
              <a:lnSpc>
                <a:spcPct val="110000"/>
              </a:lnSpc>
              <a:spcBef>
                <a:spcPct val="20000"/>
              </a:spcBef>
              <a:buFontTx/>
              <a:buChar char="•"/>
            </a:pPr>
            <a:r>
              <a:rPr lang="en-US" sz="2000" b="1" dirty="0">
                <a:latin typeface="Arial" charset="0"/>
              </a:rPr>
              <a:t>How much energy does a 100 - watt electric bulb consume in two hours? </a:t>
            </a:r>
          </a:p>
          <a:p>
            <a:pPr marL="342900" indent="-342900">
              <a:lnSpc>
                <a:spcPct val="110000"/>
              </a:lnSpc>
              <a:spcBef>
                <a:spcPct val="20000"/>
              </a:spcBef>
              <a:buFontTx/>
              <a:buChar char="•"/>
            </a:pPr>
            <a:endParaRPr lang="en-US" sz="2000" b="1" dirty="0">
              <a:latin typeface="Arial" charset="0"/>
            </a:endParaRPr>
          </a:p>
          <a:p>
            <a:pPr>
              <a:lnSpc>
                <a:spcPct val="110000"/>
              </a:lnSpc>
              <a:spcBef>
                <a:spcPct val="20000"/>
              </a:spcBef>
            </a:pPr>
            <a:r>
              <a:rPr lang="en-US" sz="2000" b="1" dirty="0">
                <a:solidFill>
                  <a:srgbClr val="FF0000"/>
                </a:solidFill>
                <a:latin typeface="Arial" charset="0"/>
              </a:rPr>
              <a:t>We know p = </a:t>
            </a:r>
            <a:r>
              <a:rPr lang="en-US" sz="2000" b="1" dirty="0" err="1">
                <a:solidFill>
                  <a:srgbClr val="FF0000"/>
                </a:solidFill>
                <a:latin typeface="Arial" charset="0"/>
              </a:rPr>
              <a:t>dw</a:t>
            </a:r>
            <a:r>
              <a:rPr lang="en-US" sz="2000" b="1" dirty="0">
                <a:solidFill>
                  <a:srgbClr val="FF0000"/>
                </a:solidFill>
                <a:latin typeface="Arial" charset="0"/>
              </a:rPr>
              <a:t> / </a:t>
            </a:r>
            <a:r>
              <a:rPr lang="en-US" sz="2000" b="1" dirty="0" err="1" smtClean="0">
                <a:solidFill>
                  <a:srgbClr val="FF0000"/>
                </a:solidFill>
                <a:latin typeface="Arial" charset="0"/>
              </a:rPr>
              <a:t>dt</a:t>
            </a:r>
            <a:r>
              <a:rPr lang="en-US" sz="2000" b="1" dirty="0" smtClean="0">
                <a:solidFill>
                  <a:srgbClr val="FF0000"/>
                </a:solidFill>
                <a:latin typeface="Arial" charset="0"/>
              </a:rPr>
              <a:t>   where w is in joules and t in seconds.</a:t>
            </a:r>
            <a:endParaRPr lang="en-US" sz="2000" b="1" dirty="0">
              <a:solidFill>
                <a:srgbClr val="FF0000"/>
              </a:solidFill>
              <a:latin typeface="Arial" charset="0"/>
            </a:endParaRPr>
          </a:p>
          <a:p>
            <a:pPr marL="342900" indent="-342900">
              <a:lnSpc>
                <a:spcPct val="110000"/>
              </a:lnSpc>
              <a:spcBef>
                <a:spcPct val="20000"/>
              </a:spcBef>
              <a:buFontTx/>
              <a:buChar char="•"/>
            </a:pPr>
            <a:r>
              <a:rPr lang="en-US" sz="2000" b="1" dirty="0">
                <a:latin typeface="Arial" charset="0"/>
              </a:rPr>
              <a:t>So 100 = w (joules) / (2X60X60)</a:t>
            </a:r>
          </a:p>
          <a:p>
            <a:pPr marL="342900" indent="-342900">
              <a:lnSpc>
                <a:spcPct val="110000"/>
              </a:lnSpc>
              <a:spcBef>
                <a:spcPct val="20000"/>
              </a:spcBef>
              <a:buFontTx/>
              <a:buChar char="•"/>
            </a:pPr>
            <a:r>
              <a:rPr lang="en-US" sz="2000" b="1" dirty="0">
                <a:latin typeface="Arial" charset="0"/>
              </a:rPr>
              <a:t>Hence w = 720 k joules.</a:t>
            </a:r>
          </a:p>
          <a:p>
            <a:pPr marL="342900" indent="-342900">
              <a:lnSpc>
                <a:spcPct val="110000"/>
              </a:lnSpc>
              <a:spcBef>
                <a:spcPct val="20000"/>
              </a:spcBef>
              <a:buFontTx/>
              <a:buChar char="•"/>
            </a:pPr>
            <a:endParaRPr lang="en-US" sz="2000" b="1" dirty="0">
              <a:latin typeface="Arial" charset="0"/>
            </a:endParaRPr>
          </a:p>
          <a:p>
            <a:pPr>
              <a:lnSpc>
                <a:spcPct val="110000"/>
              </a:lnSpc>
              <a:spcBef>
                <a:spcPct val="20000"/>
              </a:spcBef>
            </a:pPr>
            <a:r>
              <a:rPr lang="en-US" sz="2000" b="1" dirty="0">
                <a:solidFill>
                  <a:schemeClr val="accent2"/>
                </a:solidFill>
                <a:latin typeface="Arial" charset="0"/>
              </a:rPr>
              <a:t>Also </a:t>
            </a:r>
            <a:r>
              <a:rPr lang="en-US" sz="2000" b="1" dirty="0" err="1">
                <a:solidFill>
                  <a:schemeClr val="accent2"/>
                </a:solidFill>
                <a:latin typeface="Arial" charset="0"/>
              </a:rPr>
              <a:t>pdt</a:t>
            </a:r>
            <a:r>
              <a:rPr lang="en-US" sz="2000" b="1" dirty="0">
                <a:solidFill>
                  <a:schemeClr val="accent2"/>
                </a:solidFill>
                <a:latin typeface="Arial" charset="0"/>
              </a:rPr>
              <a:t> = </a:t>
            </a:r>
            <a:r>
              <a:rPr lang="en-US" sz="2000" b="1" dirty="0" err="1">
                <a:solidFill>
                  <a:schemeClr val="accent2"/>
                </a:solidFill>
                <a:latin typeface="Arial" charset="0"/>
              </a:rPr>
              <a:t>dw</a:t>
            </a:r>
            <a:endParaRPr lang="en-US" sz="2000" b="1" dirty="0">
              <a:solidFill>
                <a:schemeClr val="accent2"/>
              </a:solidFill>
              <a:latin typeface="Arial" charset="0"/>
            </a:endParaRPr>
          </a:p>
          <a:p>
            <a:pPr marL="342900" indent="-342900">
              <a:lnSpc>
                <a:spcPct val="110000"/>
              </a:lnSpc>
              <a:spcBef>
                <a:spcPct val="20000"/>
              </a:spcBef>
              <a:buFontTx/>
              <a:buChar char="•"/>
            </a:pPr>
            <a:r>
              <a:rPr lang="en-US" sz="2000" b="1" dirty="0">
                <a:latin typeface="Arial" charset="0"/>
              </a:rPr>
              <a:t>So         watt X sec = joules </a:t>
            </a:r>
          </a:p>
          <a:p>
            <a:pPr marL="342900" indent="-342900">
              <a:lnSpc>
                <a:spcPct val="110000"/>
              </a:lnSpc>
              <a:spcBef>
                <a:spcPct val="20000"/>
              </a:spcBef>
              <a:buFontTx/>
              <a:buChar char="•"/>
            </a:pPr>
            <a:r>
              <a:rPr lang="en-US" sz="2000" b="1" dirty="0">
                <a:latin typeface="Arial" charset="0"/>
              </a:rPr>
              <a:t>Or        watt X 3600 X sec = joules X 3600</a:t>
            </a:r>
          </a:p>
          <a:p>
            <a:pPr marL="342900" indent="-342900">
              <a:lnSpc>
                <a:spcPct val="110000"/>
              </a:lnSpc>
              <a:spcBef>
                <a:spcPct val="20000"/>
              </a:spcBef>
              <a:buFontTx/>
              <a:buChar char="•"/>
            </a:pPr>
            <a:r>
              <a:rPr lang="en-US" sz="2000" b="1" dirty="0">
                <a:latin typeface="Arial" charset="0"/>
              </a:rPr>
              <a:t>Hence 1watt-hour = 3600 joules</a:t>
            </a:r>
          </a:p>
          <a:p>
            <a:pPr marL="342900" indent="-342900">
              <a:lnSpc>
                <a:spcPct val="110000"/>
              </a:lnSpc>
              <a:spcBef>
                <a:spcPct val="20000"/>
              </a:spcBef>
              <a:buFontTx/>
              <a:buChar char="•"/>
            </a:pPr>
            <a:r>
              <a:rPr lang="en-US" sz="2000" b="1" dirty="0">
                <a:latin typeface="Arial" charset="0"/>
              </a:rPr>
              <a:t>And     </a:t>
            </a:r>
            <a:r>
              <a:rPr lang="en-US" sz="2000" b="1" dirty="0" smtClean="0">
                <a:latin typeface="Arial" charset="0"/>
              </a:rPr>
              <a:t>200 watt - hr  = 720 </a:t>
            </a:r>
            <a:r>
              <a:rPr lang="en-US" sz="2000" b="1" dirty="0">
                <a:latin typeface="Arial" charset="0"/>
              </a:rPr>
              <a:t>k joules </a:t>
            </a:r>
            <a:r>
              <a:rPr lang="en-US" sz="2000" b="1" dirty="0" smtClean="0">
                <a:latin typeface="Arial" charset="0"/>
              </a:rPr>
              <a:t> </a:t>
            </a:r>
            <a:r>
              <a:rPr lang="en-US" sz="1600" b="1" i="1" dirty="0" smtClean="0">
                <a:solidFill>
                  <a:srgbClr val="FF0000"/>
                </a:solidFill>
                <a:latin typeface="Arial" charset="0"/>
              </a:rPr>
              <a:t>(watt-hr is the </a:t>
            </a:r>
            <a:r>
              <a:rPr lang="en-US" sz="1600" b="1" i="1" dirty="0">
                <a:solidFill>
                  <a:srgbClr val="FF0000"/>
                </a:solidFill>
                <a:latin typeface="Arial" charset="0"/>
              </a:rPr>
              <a:t>unit used by electrical companies)</a:t>
            </a:r>
          </a:p>
        </p:txBody>
      </p:sp>
      <p:sp>
        <p:nvSpPr>
          <p:cNvPr id="7" name="Rectangle 6"/>
          <p:cNvSpPr/>
          <p:nvPr/>
        </p:nvSpPr>
        <p:spPr>
          <a:xfrm>
            <a:off x="304800" y="6102965"/>
            <a:ext cx="3432350" cy="461665"/>
          </a:xfrm>
          <a:prstGeom prst="rect">
            <a:avLst/>
          </a:prstGeom>
        </p:spPr>
        <p:txBody>
          <a:bodyPr wrap="none">
            <a:spAutoFit/>
          </a:bodyPr>
          <a:lstStyle/>
          <a:p>
            <a:r>
              <a:rPr lang="en-US" b="1" dirty="0">
                <a:solidFill>
                  <a:srgbClr val="FF0000"/>
                </a:solidFill>
                <a:latin typeface="Arial" charset="0"/>
              </a:rPr>
              <a:t>The Circuit Elements !</a:t>
            </a:r>
            <a:endParaRPr lang="en-US" b="1" baseline="-25000" dirty="0">
              <a:solidFill>
                <a:srgbClr val="FF0000"/>
              </a:solidFill>
              <a:latin typeface="Arial" charset="0"/>
            </a:endParaRPr>
          </a:p>
        </p:txBody>
      </p:sp>
    </p:spTree>
    <p:extLst>
      <p:ext uri="{BB962C8B-B14F-4D97-AF65-F5344CB8AC3E}">
        <p14:creationId xmlns:p14="http://schemas.microsoft.com/office/powerpoint/2010/main" val="1890844177"/>
      </p:ext>
    </p:extLst>
  </p:cSld>
  <p:clrMapOvr>
    <a:masterClrMapping/>
  </p:clrMapOvr>
  <p:transition spd="slow">
    <p:cover dir="l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355332"/>
                                        </p:tgtEl>
                                        <p:attrNameLst>
                                          <p:attrName>style.visibility</p:attrName>
                                        </p:attrNameLst>
                                      </p:cBhvr>
                                      <p:to>
                                        <p:strVal val="visible"/>
                                      </p:to>
                                    </p:set>
                                    <p:anim calcmode="lin" valueType="num">
                                      <p:cBhvr additive="base">
                                        <p:cTn id="7" dur="500" fill="hold"/>
                                        <p:tgtEl>
                                          <p:spTgt spid="355332"/>
                                        </p:tgtEl>
                                        <p:attrNameLst>
                                          <p:attrName>ppt_x</p:attrName>
                                        </p:attrNameLst>
                                      </p:cBhvr>
                                      <p:tavLst>
                                        <p:tav tm="0">
                                          <p:val>
                                            <p:strVal val="#ppt_x"/>
                                          </p:val>
                                        </p:tav>
                                        <p:tav tm="100000">
                                          <p:val>
                                            <p:strVal val="#ppt_x"/>
                                          </p:val>
                                        </p:tav>
                                      </p:tavLst>
                                    </p:anim>
                                    <p:anim calcmode="lin" valueType="num">
                                      <p:cBhvr additive="base">
                                        <p:cTn id="8" dur="500" fill="hold"/>
                                        <p:tgtEl>
                                          <p:spTgt spid="35533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533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 name="Slide Number Placeholder 6"/>
          <p:cNvSpPr>
            <a:spLocks noGrp="1"/>
          </p:cNvSpPr>
          <p:nvPr>
            <p:ph type="sldNum" sz="quarter" idx="12"/>
          </p:nvPr>
        </p:nvSpPr>
        <p:spPr/>
        <p:txBody>
          <a:bodyPr/>
          <a:lstStyle/>
          <a:p>
            <a:fld id="{D8CB8DB7-1486-42F9-821D-DD9FF69F95A6}" type="slidenum">
              <a:rPr lang="en-US" altLang="en-US"/>
              <a:pPr/>
              <a:t>8</a:t>
            </a:fld>
            <a:endParaRPr lang="en-US" altLang="en-US"/>
          </a:p>
        </p:txBody>
      </p:sp>
      <p:sp>
        <p:nvSpPr>
          <p:cNvPr id="247812" name="Rectangle 4"/>
          <p:cNvSpPr>
            <a:spLocks noChangeArrowheads="1"/>
          </p:cNvSpPr>
          <p:nvPr/>
        </p:nvSpPr>
        <p:spPr bwMode="auto">
          <a:xfrm>
            <a:off x="8640763" y="6477000"/>
            <a:ext cx="503237" cy="457200"/>
          </a:xfrm>
          <a:prstGeom prst="rect">
            <a:avLst/>
          </a:prstGeom>
          <a:noFill/>
          <a:ln w="9525">
            <a:noFill/>
            <a:miter lim="800000"/>
            <a:headEnd/>
            <a:tailEnd/>
          </a:ln>
          <a:effectLst/>
        </p:spPr>
        <p:txBody>
          <a:bodyPr wrap="none">
            <a:spAutoFit/>
          </a:bodyPr>
          <a:lstStyle/>
          <a:p>
            <a:pPr>
              <a:spcBef>
                <a:spcPct val="50000"/>
              </a:spcBef>
              <a:buFont typeface="Wingdings" pitchFamily="2" charset="2"/>
              <a:buChar char="Ø"/>
            </a:pPr>
            <a:r>
              <a:rPr lang="en-US"/>
              <a:t> </a:t>
            </a:r>
          </a:p>
        </p:txBody>
      </p:sp>
      <p:pic>
        <p:nvPicPr>
          <p:cNvPr id="2" name="Picture 1"/>
          <p:cNvPicPr>
            <a:picLocks noChangeAspect="1"/>
          </p:cNvPicPr>
          <p:nvPr/>
        </p:nvPicPr>
        <p:blipFill>
          <a:blip r:embed="rId2"/>
          <a:stretch>
            <a:fillRect/>
          </a:stretch>
        </p:blipFill>
        <p:spPr>
          <a:xfrm>
            <a:off x="761999" y="1217941"/>
            <a:ext cx="7878763" cy="3125459"/>
          </a:xfrm>
          <a:prstGeom prst="rect">
            <a:avLst/>
          </a:prstGeom>
        </p:spPr>
      </p:pic>
    </p:spTree>
    <p:extLst>
      <p:ext uri="{BB962C8B-B14F-4D97-AF65-F5344CB8AC3E}">
        <p14:creationId xmlns:p14="http://schemas.microsoft.com/office/powerpoint/2010/main" val="9964119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247812"/>
                                        </p:tgtEl>
                                        <p:attrNameLst>
                                          <p:attrName>style.visibility</p:attrName>
                                        </p:attrNameLst>
                                      </p:cBhvr>
                                      <p:to>
                                        <p:strVal val="visible"/>
                                      </p:to>
                                    </p:set>
                                    <p:anim calcmode="lin" valueType="num">
                                      <p:cBhvr additive="base">
                                        <p:cTn id="7" dur="500" fill="hold"/>
                                        <p:tgtEl>
                                          <p:spTgt spid="247812"/>
                                        </p:tgtEl>
                                        <p:attrNameLst>
                                          <p:attrName>ppt_x</p:attrName>
                                        </p:attrNameLst>
                                      </p:cBhvr>
                                      <p:tavLst>
                                        <p:tav tm="0">
                                          <p:val>
                                            <p:strVal val="#ppt_x"/>
                                          </p:val>
                                        </p:tav>
                                        <p:tav tm="100000">
                                          <p:val>
                                            <p:strVal val="#ppt_x"/>
                                          </p:val>
                                        </p:tav>
                                      </p:tavLst>
                                    </p:anim>
                                    <p:anim calcmode="lin" valueType="num">
                                      <p:cBhvr additive="base">
                                        <p:cTn id="8" dur="500" fill="hold"/>
                                        <p:tgtEl>
                                          <p:spTgt spid="2478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7812" grpId="0"/>
    </p:bldLst>
  </p:timing>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Slide Number Placeholder 6"/>
          <p:cNvSpPr>
            <a:spLocks noGrp="1"/>
          </p:cNvSpPr>
          <p:nvPr>
            <p:ph type="sldNum" sz="quarter" idx="12"/>
          </p:nvPr>
        </p:nvSpPr>
        <p:spPr/>
        <p:txBody>
          <a:bodyPr/>
          <a:lstStyle/>
          <a:p>
            <a:fld id="{E11ED867-8A41-47CD-BDC5-F00836B2B8CC}" type="slidenum">
              <a:rPr lang="en-US" altLang="en-US"/>
              <a:pPr/>
              <a:t>9</a:t>
            </a:fld>
            <a:endParaRPr lang="en-US" altLang="en-US"/>
          </a:p>
        </p:txBody>
      </p:sp>
      <p:sp>
        <p:nvSpPr>
          <p:cNvPr id="241666" name="Rectangle 2"/>
          <p:cNvSpPr>
            <a:spLocks noGrp="1" noChangeArrowheads="1"/>
          </p:cNvSpPr>
          <p:nvPr>
            <p:ph type="title"/>
          </p:nvPr>
        </p:nvSpPr>
        <p:spPr>
          <a:xfrm>
            <a:off x="838200" y="381000"/>
            <a:ext cx="7772400" cy="457200"/>
          </a:xfrm>
        </p:spPr>
        <p:txBody>
          <a:bodyPr/>
          <a:lstStyle/>
          <a:p>
            <a:r>
              <a:rPr lang="en-US" sz="2800" b="1" u="sng" dirty="0" smtClean="0"/>
              <a:t>The Circuit Elements</a:t>
            </a:r>
            <a:endParaRPr lang="en-US" sz="2800" b="1" u="sng" dirty="0"/>
          </a:p>
        </p:txBody>
      </p:sp>
      <p:sp>
        <p:nvSpPr>
          <p:cNvPr id="241667" name="Rectangle 3"/>
          <p:cNvSpPr>
            <a:spLocks noGrp="1" noChangeArrowheads="1"/>
          </p:cNvSpPr>
          <p:nvPr>
            <p:ph type="body" sz="half" idx="1"/>
          </p:nvPr>
        </p:nvSpPr>
        <p:spPr>
          <a:xfrm>
            <a:off x="457200" y="990600"/>
            <a:ext cx="8534400" cy="5638800"/>
          </a:xfrm>
        </p:spPr>
        <p:txBody>
          <a:bodyPr/>
          <a:lstStyle/>
          <a:p>
            <a:pPr algn="just">
              <a:lnSpc>
                <a:spcPct val="80000"/>
              </a:lnSpc>
            </a:pPr>
            <a:r>
              <a:rPr lang="en-US" sz="2000" b="1" dirty="0" smtClean="0">
                <a:latin typeface="Arial" charset="0"/>
              </a:rPr>
              <a:t>Each component of the circuit is called </a:t>
            </a:r>
            <a:r>
              <a:rPr lang="en-US" sz="2000" b="1" i="1" dirty="0" smtClean="0">
                <a:solidFill>
                  <a:schemeClr val="accent2"/>
                </a:solidFill>
                <a:latin typeface="Arial" charset="0"/>
              </a:rPr>
              <a:t>an element</a:t>
            </a:r>
            <a:r>
              <a:rPr lang="en-US" sz="2000" b="1" dirty="0" smtClean="0">
                <a:solidFill>
                  <a:schemeClr val="accent2"/>
                </a:solidFill>
                <a:latin typeface="Arial" charset="0"/>
              </a:rPr>
              <a:t>.</a:t>
            </a:r>
          </a:p>
          <a:p>
            <a:pPr algn="just">
              <a:lnSpc>
                <a:spcPct val="80000"/>
              </a:lnSpc>
            </a:pPr>
            <a:r>
              <a:rPr lang="en-US" sz="2000" b="1" dirty="0" smtClean="0">
                <a:latin typeface="Arial" charset="0"/>
              </a:rPr>
              <a:t>The </a:t>
            </a:r>
            <a:r>
              <a:rPr lang="en-US" sz="2000" b="1" dirty="0">
                <a:latin typeface="Arial" charset="0"/>
              </a:rPr>
              <a:t>circuit elements can be described as </a:t>
            </a:r>
            <a:r>
              <a:rPr lang="en-US" sz="2000" b="1" dirty="0" smtClean="0">
                <a:latin typeface="Arial" charset="0"/>
              </a:rPr>
              <a:t>:-</a:t>
            </a:r>
          </a:p>
          <a:p>
            <a:pPr marL="0" indent="0" algn="just">
              <a:lnSpc>
                <a:spcPct val="80000"/>
              </a:lnSpc>
              <a:buNone/>
            </a:pPr>
            <a:endParaRPr lang="en-US" sz="2000" b="1" dirty="0">
              <a:latin typeface="Arial" charset="0"/>
            </a:endParaRPr>
          </a:p>
          <a:p>
            <a:pPr lvl="1" algn="just">
              <a:lnSpc>
                <a:spcPct val="80000"/>
              </a:lnSpc>
            </a:pPr>
            <a:r>
              <a:rPr lang="en-US" sz="2400" b="1" dirty="0">
                <a:solidFill>
                  <a:srgbClr val="CC00CC"/>
                </a:solidFill>
                <a:latin typeface="Arial" charset="0"/>
              </a:rPr>
              <a:t>Active elements and</a:t>
            </a:r>
          </a:p>
          <a:p>
            <a:pPr lvl="1" algn="just">
              <a:lnSpc>
                <a:spcPct val="80000"/>
              </a:lnSpc>
            </a:pPr>
            <a:r>
              <a:rPr lang="en-US" sz="2400" b="1" dirty="0">
                <a:solidFill>
                  <a:srgbClr val="CC00CC"/>
                </a:solidFill>
                <a:latin typeface="Arial" charset="0"/>
              </a:rPr>
              <a:t>Passive </a:t>
            </a:r>
            <a:r>
              <a:rPr lang="en-US" sz="2400" b="1" dirty="0" smtClean="0">
                <a:solidFill>
                  <a:srgbClr val="CC00CC"/>
                </a:solidFill>
                <a:latin typeface="Arial" charset="0"/>
              </a:rPr>
              <a:t>elements</a:t>
            </a:r>
          </a:p>
          <a:p>
            <a:pPr marL="457200" lvl="1" indent="0" algn="just">
              <a:lnSpc>
                <a:spcPct val="80000"/>
              </a:lnSpc>
              <a:buNone/>
            </a:pPr>
            <a:endParaRPr lang="en-US" sz="2000" b="1" dirty="0">
              <a:latin typeface="Arial" charset="0"/>
            </a:endParaRPr>
          </a:p>
          <a:p>
            <a:pPr algn="just">
              <a:lnSpc>
                <a:spcPct val="80000"/>
              </a:lnSpc>
            </a:pPr>
            <a:r>
              <a:rPr lang="en-US" sz="2000" b="1" i="1" dirty="0">
                <a:solidFill>
                  <a:schemeClr val="accent2"/>
                </a:solidFill>
                <a:latin typeface="Arial" charset="0"/>
              </a:rPr>
              <a:t>Voltage sources </a:t>
            </a:r>
            <a:r>
              <a:rPr lang="en-US" sz="2000" b="1" dirty="0">
                <a:latin typeface="Arial" charset="0"/>
              </a:rPr>
              <a:t>and </a:t>
            </a:r>
            <a:r>
              <a:rPr lang="en-US" sz="2000" b="1" i="1" dirty="0">
                <a:solidFill>
                  <a:schemeClr val="accent2"/>
                </a:solidFill>
                <a:latin typeface="Arial" charset="0"/>
              </a:rPr>
              <a:t>current sources </a:t>
            </a:r>
            <a:r>
              <a:rPr lang="en-US" sz="2000" b="1" dirty="0">
                <a:latin typeface="Arial" charset="0"/>
              </a:rPr>
              <a:t>are classified as </a:t>
            </a:r>
            <a:r>
              <a:rPr lang="en-US" sz="2000" b="1" i="1" dirty="0">
                <a:solidFill>
                  <a:schemeClr val="accent2"/>
                </a:solidFill>
                <a:latin typeface="Arial" charset="0"/>
              </a:rPr>
              <a:t>active elements</a:t>
            </a:r>
            <a:r>
              <a:rPr lang="en-US" sz="2000" b="1" dirty="0">
                <a:latin typeface="Arial" charset="0"/>
              </a:rPr>
              <a:t>. These are capable of </a:t>
            </a:r>
            <a:r>
              <a:rPr lang="en-US" sz="2000" b="1" i="1" dirty="0">
                <a:solidFill>
                  <a:srgbClr val="FF0000"/>
                </a:solidFill>
                <a:latin typeface="Arial" charset="0"/>
              </a:rPr>
              <a:t>delivering power </a:t>
            </a:r>
            <a:r>
              <a:rPr lang="en-US" sz="2000" b="1" dirty="0">
                <a:latin typeface="Arial" charset="0"/>
              </a:rPr>
              <a:t>to some external device</a:t>
            </a:r>
            <a:r>
              <a:rPr lang="en-US" sz="2000" b="1" dirty="0" smtClean="0">
                <a:latin typeface="Arial" charset="0"/>
              </a:rPr>
              <a:t>.</a:t>
            </a:r>
          </a:p>
          <a:p>
            <a:pPr marL="0" indent="0" algn="just">
              <a:lnSpc>
                <a:spcPct val="80000"/>
              </a:lnSpc>
              <a:buNone/>
            </a:pPr>
            <a:endParaRPr lang="en-US" sz="2000" b="1" dirty="0">
              <a:latin typeface="Arial" charset="0"/>
            </a:endParaRPr>
          </a:p>
          <a:p>
            <a:pPr algn="just">
              <a:lnSpc>
                <a:spcPct val="80000"/>
              </a:lnSpc>
            </a:pPr>
            <a:r>
              <a:rPr lang="en-US" sz="2000" b="1" i="1" dirty="0">
                <a:solidFill>
                  <a:srgbClr val="FF0000"/>
                </a:solidFill>
                <a:latin typeface="Arial" charset="0"/>
              </a:rPr>
              <a:t>Passive elements </a:t>
            </a:r>
            <a:r>
              <a:rPr lang="en-US" sz="2000" b="1" dirty="0">
                <a:latin typeface="Arial" charset="0"/>
              </a:rPr>
              <a:t>include </a:t>
            </a:r>
            <a:r>
              <a:rPr lang="en-US" sz="2000" b="1" i="1" dirty="0">
                <a:solidFill>
                  <a:srgbClr val="FF0000"/>
                </a:solidFill>
                <a:latin typeface="Arial" charset="0"/>
              </a:rPr>
              <a:t>resistors, capacitors and inductors</a:t>
            </a:r>
            <a:r>
              <a:rPr lang="en-US" sz="2000" b="1" dirty="0" smtClean="0">
                <a:solidFill>
                  <a:srgbClr val="FF0000"/>
                </a:solidFill>
                <a:latin typeface="Arial" charset="0"/>
              </a:rPr>
              <a:t>.</a:t>
            </a:r>
          </a:p>
          <a:p>
            <a:pPr algn="just">
              <a:lnSpc>
                <a:spcPct val="80000"/>
              </a:lnSpc>
            </a:pPr>
            <a:endParaRPr lang="en-US" sz="2000" b="1" dirty="0">
              <a:solidFill>
                <a:srgbClr val="FF0000"/>
              </a:solidFill>
              <a:latin typeface="Arial" charset="0"/>
            </a:endParaRPr>
          </a:p>
          <a:p>
            <a:pPr algn="just">
              <a:lnSpc>
                <a:spcPct val="80000"/>
              </a:lnSpc>
            </a:pPr>
            <a:r>
              <a:rPr lang="en-US" sz="2000" b="1" dirty="0">
                <a:latin typeface="Arial" charset="0"/>
              </a:rPr>
              <a:t>Incidentally, the voltage – current relationship is </a:t>
            </a:r>
            <a:r>
              <a:rPr lang="en-US" sz="2000" b="1" dirty="0" smtClean="0">
                <a:latin typeface="Arial" charset="0"/>
              </a:rPr>
              <a:t>:-</a:t>
            </a:r>
          </a:p>
          <a:p>
            <a:pPr marL="0" indent="0" algn="just">
              <a:lnSpc>
                <a:spcPct val="80000"/>
              </a:lnSpc>
              <a:buNone/>
            </a:pPr>
            <a:endParaRPr lang="en-US" sz="2000" b="1" dirty="0">
              <a:latin typeface="Arial" charset="0"/>
            </a:endParaRPr>
          </a:p>
          <a:p>
            <a:pPr marL="457200" lvl="1" indent="0" algn="just">
              <a:lnSpc>
                <a:spcPct val="80000"/>
              </a:lnSpc>
              <a:buNone/>
            </a:pPr>
            <a:r>
              <a:rPr lang="en-US" sz="2000" b="1" i="1" dirty="0" smtClean="0">
                <a:solidFill>
                  <a:srgbClr val="FF0000"/>
                </a:solidFill>
                <a:latin typeface="Arial" charset="0"/>
              </a:rPr>
              <a:t>	</a:t>
            </a:r>
            <a:r>
              <a:rPr lang="en-US" sz="2400" b="1" i="1" dirty="0" smtClean="0">
                <a:solidFill>
                  <a:schemeClr val="accent2"/>
                </a:solidFill>
                <a:latin typeface="Arial" charset="0"/>
              </a:rPr>
              <a:t>V </a:t>
            </a:r>
            <a:r>
              <a:rPr lang="en-US" sz="2400" b="1" i="1" dirty="0" smtClean="0">
                <a:solidFill>
                  <a:schemeClr val="accent2"/>
                </a:solidFill>
                <a:latin typeface="Arial" charset="0"/>
                <a:cs typeface="Arial" charset="0"/>
              </a:rPr>
              <a:t>∞ </a:t>
            </a:r>
            <a:r>
              <a:rPr lang="en-US" sz="2400" b="1" i="1" dirty="0" err="1" smtClean="0">
                <a:solidFill>
                  <a:schemeClr val="accent2"/>
                </a:solidFill>
                <a:latin typeface="Arial" charset="0"/>
                <a:cs typeface="Arial" charset="0"/>
              </a:rPr>
              <a:t>i</a:t>
            </a:r>
            <a:r>
              <a:rPr lang="en-US" sz="2400" b="1" dirty="0" smtClean="0">
                <a:solidFill>
                  <a:schemeClr val="accent2"/>
                </a:solidFill>
                <a:latin typeface="Arial" charset="0"/>
                <a:cs typeface="Arial" charset="0"/>
              </a:rPr>
              <a:t>  </a:t>
            </a:r>
            <a:r>
              <a:rPr lang="en-US" sz="2400" b="1" dirty="0">
                <a:solidFill>
                  <a:schemeClr val="accent2"/>
                </a:solidFill>
                <a:latin typeface="Arial" charset="0"/>
                <a:cs typeface="Arial" charset="0"/>
              </a:rPr>
              <a:t>, </a:t>
            </a:r>
            <a:r>
              <a:rPr lang="en-US" sz="2400" b="1" dirty="0" smtClean="0">
                <a:solidFill>
                  <a:schemeClr val="accent2"/>
                </a:solidFill>
                <a:latin typeface="Arial" charset="0"/>
                <a:cs typeface="Arial" charset="0"/>
              </a:rPr>
              <a:t>	 </a:t>
            </a:r>
            <a:r>
              <a:rPr lang="en-US" sz="2400" b="1" i="1" dirty="0" smtClean="0">
                <a:solidFill>
                  <a:schemeClr val="accent2"/>
                </a:solidFill>
                <a:latin typeface="Arial" charset="0"/>
              </a:rPr>
              <a:t>V </a:t>
            </a:r>
            <a:r>
              <a:rPr lang="en-US" sz="2400" b="1" i="1" dirty="0" smtClean="0">
                <a:solidFill>
                  <a:schemeClr val="accent2"/>
                </a:solidFill>
                <a:latin typeface="Arial" charset="0"/>
                <a:cs typeface="Arial" charset="0"/>
              </a:rPr>
              <a:t>∞ ∫ </a:t>
            </a:r>
            <a:r>
              <a:rPr lang="en-US" sz="2400" b="1" i="1" dirty="0" err="1" smtClean="0">
                <a:solidFill>
                  <a:schemeClr val="accent2"/>
                </a:solidFill>
                <a:latin typeface="Arial" charset="0"/>
                <a:cs typeface="Arial" charset="0"/>
              </a:rPr>
              <a:t>idt</a:t>
            </a:r>
            <a:r>
              <a:rPr lang="en-US" sz="2400" b="1" i="1" dirty="0" smtClean="0">
                <a:solidFill>
                  <a:schemeClr val="accent2"/>
                </a:solidFill>
                <a:latin typeface="Arial" charset="0"/>
                <a:cs typeface="Arial" charset="0"/>
              </a:rPr>
              <a:t> </a:t>
            </a:r>
            <a:r>
              <a:rPr lang="en-US" sz="2400" b="1" i="1" dirty="0" smtClean="0">
                <a:solidFill>
                  <a:schemeClr val="accent2"/>
                </a:solidFill>
                <a:latin typeface="Arial" charset="0"/>
              </a:rPr>
              <a:t> </a:t>
            </a:r>
            <a:r>
              <a:rPr lang="en-US" sz="2400" b="1" dirty="0">
                <a:solidFill>
                  <a:schemeClr val="accent2"/>
                </a:solidFill>
                <a:latin typeface="Arial" charset="0"/>
              </a:rPr>
              <a:t>,   </a:t>
            </a:r>
            <a:r>
              <a:rPr lang="en-US" sz="2400" b="1" dirty="0" smtClean="0">
                <a:solidFill>
                  <a:schemeClr val="accent2"/>
                </a:solidFill>
                <a:latin typeface="Arial" charset="0"/>
              </a:rPr>
              <a:t>	</a:t>
            </a:r>
            <a:r>
              <a:rPr lang="en-US" sz="2400" b="1" i="1" dirty="0" smtClean="0">
                <a:solidFill>
                  <a:schemeClr val="accent2"/>
                </a:solidFill>
                <a:latin typeface="Arial" charset="0"/>
              </a:rPr>
              <a:t>V </a:t>
            </a:r>
            <a:r>
              <a:rPr lang="en-US" sz="2400" b="1" i="1" dirty="0" smtClean="0">
                <a:solidFill>
                  <a:schemeClr val="accent2"/>
                </a:solidFill>
                <a:latin typeface="Arial" charset="0"/>
                <a:cs typeface="Arial" charset="0"/>
              </a:rPr>
              <a:t>∞ di </a:t>
            </a:r>
            <a:r>
              <a:rPr lang="en-US" sz="2400" b="1" i="1" dirty="0">
                <a:solidFill>
                  <a:schemeClr val="accent2"/>
                </a:solidFill>
                <a:latin typeface="Arial" charset="0"/>
                <a:cs typeface="Arial" charset="0"/>
              </a:rPr>
              <a:t>/</a:t>
            </a:r>
            <a:r>
              <a:rPr lang="en-US" sz="2400" b="1" i="1" dirty="0" err="1">
                <a:solidFill>
                  <a:schemeClr val="accent2"/>
                </a:solidFill>
                <a:latin typeface="Arial" charset="0"/>
                <a:cs typeface="Arial" charset="0"/>
              </a:rPr>
              <a:t>dt</a:t>
            </a:r>
            <a:r>
              <a:rPr lang="en-US" sz="2400" b="1" i="1" dirty="0">
                <a:solidFill>
                  <a:schemeClr val="accent2"/>
                </a:solidFill>
                <a:latin typeface="Arial" charset="0"/>
                <a:cs typeface="Arial" charset="0"/>
              </a:rPr>
              <a:t>  </a:t>
            </a:r>
            <a:endParaRPr lang="en-US" sz="2400" b="1" i="1" dirty="0" smtClean="0">
              <a:solidFill>
                <a:schemeClr val="accent2"/>
              </a:solidFill>
              <a:latin typeface="Arial" charset="0"/>
              <a:cs typeface="Arial" charset="0"/>
            </a:endParaRPr>
          </a:p>
          <a:p>
            <a:pPr lvl="1" algn="just">
              <a:lnSpc>
                <a:spcPct val="80000"/>
              </a:lnSpc>
            </a:pPr>
            <a:endParaRPr lang="en-US" sz="2000" dirty="0">
              <a:latin typeface="Arial" charset="0"/>
              <a:cs typeface="Arial" charset="0"/>
            </a:endParaRPr>
          </a:p>
          <a:p>
            <a:pPr algn="just">
              <a:lnSpc>
                <a:spcPct val="80000"/>
              </a:lnSpc>
            </a:pPr>
            <a:r>
              <a:rPr lang="en-US" sz="2000" b="1" dirty="0" smtClean="0">
                <a:solidFill>
                  <a:srgbClr val="FF0000"/>
                </a:solidFill>
                <a:latin typeface="Arial" charset="0"/>
              </a:rPr>
              <a:t>Voltage &amp; Current Sources !</a:t>
            </a:r>
            <a:r>
              <a:rPr lang="en-US" sz="3600" b="1" dirty="0" smtClean="0">
                <a:solidFill>
                  <a:srgbClr val="FF0000"/>
                </a:solidFill>
                <a:latin typeface="Arial" charset="0"/>
              </a:rPr>
              <a:t>                       </a:t>
            </a:r>
            <a:endParaRPr lang="en-US" sz="3600" b="1" dirty="0">
              <a:solidFill>
                <a:srgbClr val="FF0000"/>
              </a:solidFill>
              <a:latin typeface="Arial" charset="0"/>
            </a:endParaRPr>
          </a:p>
          <a:p>
            <a:pPr>
              <a:lnSpc>
                <a:spcPct val="80000"/>
              </a:lnSpc>
            </a:pPr>
            <a:endParaRPr lang="en-US" sz="3600" b="1" baseline="-25000" dirty="0">
              <a:solidFill>
                <a:srgbClr val="FF0000"/>
              </a:solidFill>
              <a:latin typeface="Arial" charset="0"/>
            </a:endParaRPr>
          </a:p>
        </p:txBody>
      </p:sp>
      <p:sp>
        <p:nvSpPr>
          <p:cNvPr id="241668" name="Rectangle 4"/>
          <p:cNvSpPr>
            <a:spLocks noChangeArrowheads="1"/>
          </p:cNvSpPr>
          <p:nvPr/>
        </p:nvSpPr>
        <p:spPr bwMode="auto">
          <a:xfrm>
            <a:off x="8640763" y="6400800"/>
            <a:ext cx="503237" cy="457200"/>
          </a:xfrm>
          <a:prstGeom prst="rect">
            <a:avLst/>
          </a:prstGeom>
          <a:noFill/>
          <a:ln w="9525">
            <a:noFill/>
            <a:miter lim="800000"/>
            <a:headEnd/>
            <a:tailEnd/>
          </a:ln>
          <a:effectLst/>
        </p:spPr>
        <p:txBody>
          <a:bodyPr wrap="none">
            <a:spAutoFit/>
          </a:bodyPr>
          <a:lstStyle/>
          <a:p>
            <a:pPr>
              <a:spcBef>
                <a:spcPct val="50000"/>
              </a:spcBef>
              <a:buFont typeface="Wingdings" pitchFamily="2" charset="2"/>
              <a:buChar char="Ø"/>
            </a:pPr>
            <a:r>
              <a:rPr lang="en-US"/>
              <a:t> </a:t>
            </a:r>
          </a:p>
        </p:txBody>
      </p:sp>
    </p:spTree>
  </p:cSld>
  <p:clrMapOvr>
    <a:masterClrMapping/>
  </p:clrMapOvr>
  <p:transition spd="slow">
    <p:cover dir="l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241668"/>
                                        </p:tgtEl>
                                        <p:attrNameLst>
                                          <p:attrName>style.visibility</p:attrName>
                                        </p:attrNameLst>
                                      </p:cBhvr>
                                      <p:to>
                                        <p:strVal val="visible"/>
                                      </p:to>
                                    </p:set>
                                    <p:anim calcmode="lin" valueType="num">
                                      <p:cBhvr additive="base">
                                        <p:cTn id="7" dur="500" fill="hold"/>
                                        <p:tgtEl>
                                          <p:spTgt spid="241668"/>
                                        </p:tgtEl>
                                        <p:attrNameLst>
                                          <p:attrName>ppt_x</p:attrName>
                                        </p:attrNameLst>
                                      </p:cBhvr>
                                      <p:tavLst>
                                        <p:tav tm="0">
                                          <p:val>
                                            <p:strVal val="#ppt_x"/>
                                          </p:val>
                                        </p:tav>
                                        <p:tav tm="100000">
                                          <p:val>
                                            <p:strVal val="#ppt_x"/>
                                          </p:val>
                                        </p:tav>
                                      </p:tavLst>
                                    </p:anim>
                                    <p:anim calcmode="lin" valueType="num">
                                      <p:cBhvr additive="base">
                                        <p:cTn id="8" dur="500" fill="hold"/>
                                        <p:tgtEl>
                                          <p:spTgt spid="24166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1668" grpId="0"/>
    </p:bldLst>
  </p:timing>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8" name="Slide Number Placeholder 6"/>
          <p:cNvSpPr>
            <a:spLocks noGrp="1"/>
          </p:cNvSpPr>
          <p:nvPr>
            <p:ph type="sldNum" sz="quarter" idx="12"/>
          </p:nvPr>
        </p:nvSpPr>
        <p:spPr/>
        <p:txBody>
          <a:bodyPr/>
          <a:lstStyle/>
          <a:p>
            <a:fld id="{82E50041-B907-4170-8678-ACF5A2F7D65E}" type="slidenum">
              <a:rPr lang="en-US" altLang="en-US"/>
              <a:pPr/>
              <a:t>10</a:t>
            </a:fld>
            <a:endParaRPr lang="en-US" altLang="en-US"/>
          </a:p>
        </p:txBody>
      </p:sp>
      <p:sp>
        <p:nvSpPr>
          <p:cNvPr id="242690" name="Rectangle 2"/>
          <p:cNvSpPr>
            <a:spLocks noGrp="1" noChangeArrowheads="1"/>
          </p:cNvSpPr>
          <p:nvPr>
            <p:ph type="title"/>
          </p:nvPr>
        </p:nvSpPr>
        <p:spPr>
          <a:xfrm>
            <a:off x="1828800" y="381000"/>
            <a:ext cx="5562600" cy="381000"/>
          </a:xfrm>
        </p:spPr>
        <p:txBody>
          <a:bodyPr/>
          <a:lstStyle/>
          <a:p>
            <a:r>
              <a:rPr lang="en-US" sz="2800" b="1" u="sng" dirty="0" smtClean="0"/>
              <a:t>Independent Voltage Sources</a:t>
            </a:r>
            <a:endParaRPr lang="en-US" sz="2800" b="1" u="sng" dirty="0"/>
          </a:p>
        </p:txBody>
      </p:sp>
      <p:sp>
        <p:nvSpPr>
          <p:cNvPr id="242691" name="Rectangle 3"/>
          <p:cNvSpPr>
            <a:spLocks noGrp="1" noChangeArrowheads="1"/>
          </p:cNvSpPr>
          <p:nvPr>
            <p:ph type="body" sz="half" idx="1"/>
          </p:nvPr>
        </p:nvSpPr>
        <p:spPr>
          <a:xfrm>
            <a:off x="304800" y="914400"/>
            <a:ext cx="4724400" cy="5181600"/>
          </a:xfrm>
        </p:spPr>
        <p:txBody>
          <a:bodyPr/>
          <a:lstStyle/>
          <a:p>
            <a:r>
              <a:rPr lang="en-US" sz="2200" dirty="0">
                <a:latin typeface="Arial" pitchFamily="34" charset="0"/>
                <a:cs typeface="Arial" pitchFamily="34" charset="0"/>
              </a:rPr>
              <a:t>An </a:t>
            </a:r>
            <a:r>
              <a:rPr lang="en-US" sz="2200" b="1" i="1" dirty="0">
                <a:solidFill>
                  <a:schemeClr val="accent2"/>
                </a:solidFill>
                <a:latin typeface="Arial" pitchFamily="34" charset="0"/>
                <a:cs typeface="Arial" pitchFamily="34" charset="0"/>
              </a:rPr>
              <a:t>Ideal </a:t>
            </a:r>
            <a:r>
              <a:rPr lang="en-US" sz="2200" b="1" i="1" dirty="0" smtClean="0">
                <a:solidFill>
                  <a:schemeClr val="accent2"/>
                </a:solidFill>
                <a:latin typeface="Arial" pitchFamily="34" charset="0"/>
                <a:cs typeface="Arial" pitchFamily="34" charset="0"/>
              </a:rPr>
              <a:t>Independent voltage </a:t>
            </a:r>
            <a:r>
              <a:rPr lang="en-US" sz="2200" b="1" i="1" dirty="0">
                <a:solidFill>
                  <a:schemeClr val="accent2"/>
                </a:solidFill>
                <a:latin typeface="Arial" pitchFamily="34" charset="0"/>
                <a:cs typeface="Arial" pitchFamily="34" charset="0"/>
              </a:rPr>
              <a:t>source</a:t>
            </a:r>
            <a:r>
              <a:rPr lang="en-US" sz="2200" dirty="0">
                <a:latin typeface="Arial" pitchFamily="34" charset="0"/>
                <a:cs typeface="Arial" pitchFamily="34" charset="0"/>
              </a:rPr>
              <a:t> is a voltage source that maintains the constant Voltage across its terminals no matter how much current is drawn from it. </a:t>
            </a:r>
            <a:endParaRPr lang="en-US" sz="2200" dirty="0" smtClean="0">
              <a:latin typeface="Arial" pitchFamily="34" charset="0"/>
              <a:cs typeface="Arial" pitchFamily="34" charset="0"/>
            </a:endParaRPr>
          </a:p>
          <a:p>
            <a:r>
              <a:rPr lang="en-US" sz="2200" b="1" dirty="0" smtClean="0">
                <a:latin typeface="Arial" pitchFamily="34" charset="0"/>
                <a:cs typeface="Arial" pitchFamily="34" charset="0"/>
              </a:rPr>
              <a:t>An </a:t>
            </a:r>
            <a:r>
              <a:rPr lang="en-US" sz="2200" b="1" dirty="0">
                <a:latin typeface="Arial" pitchFamily="34" charset="0"/>
                <a:cs typeface="Arial" pitchFamily="34" charset="0"/>
              </a:rPr>
              <a:t>ideal Voltage </a:t>
            </a:r>
            <a:r>
              <a:rPr lang="en-US" sz="2200" b="1" dirty="0" smtClean="0">
                <a:latin typeface="Arial" pitchFamily="34" charset="0"/>
                <a:cs typeface="Arial" pitchFamily="34" charset="0"/>
              </a:rPr>
              <a:t>source </a:t>
            </a:r>
            <a:r>
              <a:rPr lang="en-US" sz="2200" b="1" dirty="0">
                <a:latin typeface="Arial" pitchFamily="34" charset="0"/>
                <a:cs typeface="Arial" pitchFamily="34" charset="0"/>
              </a:rPr>
              <a:t>will have Zero internal resistance.</a:t>
            </a:r>
          </a:p>
          <a:p>
            <a:pPr marL="0" indent="0">
              <a:buNone/>
            </a:pPr>
            <a:endParaRPr lang="en-US" sz="2200" dirty="0" smtClean="0">
              <a:latin typeface="Arial" pitchFamily="34" charset="0"/>
              <a:cs typeface="Arial" pitchFamily="34" charset="0"/>
            </a:endParaRPr>
          </a:p>
          <a:p>
            <a:r>
              <a:rPr lang="en-US" sz="2200" b="1" dirty="0" smtClean="0">
                <a:latin typeface="Arial" pitchFamily="34" charset="0"/>
                <a:cs typeface="Arial" pitchFamily="34" charset="0"/>
              </a:rPr>
              <a:t>The </a:t>
            </a:r>
            <a:r>
              <a:rPr lang="en-US" sz="2200" b="1" dirty="0">
                <a:latin typeface="Arial" pitchFamily="34" charset="0"/>
                <a:cs typeface="Arial" pitchFamily="34" charset="0"/>
              </a:rPr>
              <a:t>symbols for </a:t>
            </a:r>
            <a:r>
              <a:rPr lang="en-US" sz="2200" b="1" i="1" dirty="0">
                <a:solidFill>
                  <a:schemeClr val="accent2"/>
                </a:solidFill>
                <a:latin typeface="Arial" pitchFamily="34" charset="0"/>
                <a:cs typeface="Arial" pitchFamily="34" charset="0"/>
              </a:rPr>
              <a:t>independent voltage sources </a:t>
            </a:r>
            <a:r>
              <a:rPr lang="en-US" sz="2200" b="1" dirty="0">
                <a:latin typeface="Arial" pitchFamily="34" charset="0"/>
                <a:cs typeface="Arial" pitchFamily="34" charset="0"/>
              </a:rPr>
              <a:t>are:-</a:t>
            </a:r>
          </a:p>
          <a:p>
            <a:pPr lvl="1">
              <a:lnSpc>
                <a:spcPct val="80000"/>
              </a:lnSpc>
            </a:pPr>
            <a:r>
              <a:rPr lang="en-US" sz="2000" b="1" dirty="0" smtClean="0">
                <a:latin typeface="Arial" pitchFamily="34" charset="0"/>
                <a:cs typeface="Arial" pitchFamily="34" charset="0"/>
              </a:rPr>
              <a:t>Small </a:t>
            </a:r>
            <a:r>
              <a:rPr lang="en-US" sz="2000" b="1" dirty="0">
                <a:latin typeface="Arial" pitchFamily="34" charset="0"/>
                <a:cs typeface="Arial" pitchFamily="34" charset="0"/>
              </a:rPr>
              <a:t>‘v’ is used for time varying or constant voltages</a:t>
            </a:r>
            <a:r>
              <a:rPr lang="en-US" sz="2000" b="1" dirty="0" smtClean="0">
                <a:latin typeface="Arial" pitchFamily="34" charset="0"/>
                <a:cs typeface="Arial" pitchFamily="34" charset="0"/>
              </a:rPr>
              <a:t>.</a:t>
            </a:r>
          </a:p>
          <a:p>
            <a:pPr lvl="1">
              <a:lnSpc>
                <a:spcPct val="80000"/>
              </a:lnSpc>
            </a:pPr>
            <a:r>
              <a:rPr lang="en-US" sz="2000" b="1" dirty="0" smtClean="0">
                <a:latin typeface="Arial" pitchFamily="34" charset="0"/>
                <a:cs typeface="Arial" pitchFamily="34" charset="0"/>
              </a:rPr>
              <a:t>Capital </a:t>
            </a:r>
            <a:r>
              <a:rPr lang="en-US" sz="2000" b="1" dirty="0">
                <a:latin typeface="Arial" pitchFamily="34" charset="0"/>
                <a:cs typeface="Arial" pitchFamily="34" charset="0"/>
              </a:rPr>
              <a:t>‘V’ is used for constant voltages only.</a:t>
            </a:r>
          </a:p>
          <a:p>
            <a:pPr>
              <a:lnSpc>
                <a:spcPct val="80000"/>
              </a:lnSpc>
            </a:pPr>
            <a:endParaRPr lang="en-US" sz="2000" b="1" dirty="0">
              <a:latin typeface="Arial" charset="0"/>
            </a:endParaRPr>
          </a:p>
          <a:p>
            <a:pPr>
              <a:lnSpc>
                <a:spcPct val="80000"/>
              </a:lnSpc>
            </a:pPr>
            <a:r>
              <a:rPr lang="en-US" sz="2000" b="1" dirty="0" smtClean="0">
                <a:solidFill>
                  <a:srgbClr val="FF0000"/>
                </a:solidFill>
                <a:latin typeface="Arial" charset="0"/>
              </a:rPr>
              <a:t>Independent  current sources !</a:t>
            </a:r>
            <a:endParaRPr lang="en-US" sz="2000" b="1" dirty="0">
              <a:solidFill>
                <a:srgbClr val="FF0000"/>
              </a:solidFill>
              <a:latin typeface="Arial" charset="0"/>
            </a:endParaRPr>
          </a:p>
          <a:p>
            <a:pPr>
              <a:lnSpc>
                <a:spcPct val="80000"/>
              </a:lnSpc>
            </a:pPr>
            <a:endParaRPr lang="en-US" sz="2000" b="1" dirty="0">
              <a:solidFill>
                <a:srgbClr val="FF0000"/>
              </a:solidFill>
              <a:latin typeface="Arial" charset="0"/>
            </a:endParaRPr>
          </a:p>
        </p:txBody>
      </p:sp>
      <p:sp>
        <p:nvSpPr>
          <p:cNvPr id="242725" name="Rectangle 37"/>
          <p:cNvSpPr>
            <a:spLocks noChangeArrowheads="1"/>
          </p:cNvSpPr>
          <p:nvPr/>
        </p:nvSpPr>
        <p:spPr bwMode="auto">
          <a:xfrm>
            <a:off x="8640763" y="6400800"/>
            <a:ext cx="503237" cy="457200"/>
          </a:xfrm>
          <a:prstGeom prst="rect">
            <a:avLst/>
          </a:prstGeom>
          <a:noFill/>
          <a:ln w="9525">
            <a:noFill/>
            <a:miter lim="800000"/>
            <a:headEnd/>
            <a:tailEnd/>
          </a:ln>
          <a:effectLst/>
        </p:spPr>
        <p:txBody>
          <a:bodyPr wrap="none">
            <a:spAutoFit/>
          </a:bodyPr>
          <a:lstStyle/>
          <a:p>
            <a:pPr>
              <a:spcBef>
                <a:spcPct val="50000"/>
              </a:spcBef>
              <a:buFont typeface="Wingdings" pitchFamily="2" charset="2"/>
              <a:buChar char="Ø"/>
            </a:pPr>
            <a:r>
              <a:rPr lang="en-US"/>
              <a:t> </a:t>
            </a:r>
          </a:p>
        </p:txBody>
      </p:sp>
      <p:pic>
        <p:nvPicPr>
          <p:cNvPr id="1026" name="Picture 2"/>
          <p:cNvPicPr>
            <a:picLocks noChangeAspect="1" noChangeArrowheads="1"/>
          </p:cNvPicPr>
          <p:nvPr/>
        </p:nvPicPr>
        <p:blipFill>
          <a:blip r:embed="rId2">
            <a:extLst>
              <a:ext uri="{BEBA8EAE-BF5A-486C-A8C5-ECC9F3942E4B}">
                <a14:imgProps xmlns:a14="http://schemas.microsoft.com/office/drawing/2010/main">
                  <a14:imgLayer r:embed="rId3">
                    <a14:imgEffect>
                      <a14:sharpenSoften amount="67000"/>
                    </a14:imgEffect>
                  </a14:imgLayer>
                </a14:imgProps>
              </a:ext>
              <a:ext uri="{28A0092B-C50C-407E-A947-70E740481C1C}">
                <a14:useLocalDpi xmlns:a14="http://schemas.microsoft.com/office/drawing/2010/main" val="0"/>
              </a:ext>
            </a:extLst>
          </a:blip>
          <a:srcRect/>
          <a:stretch>
            <a:fillRect/>
          </a:stretch>
        </p:blipFill>
        <p:spPr bwMode="auto">
          <a:xfrm>
            <a:off x="5638799" y="838200"/>
            <a:ext cx="3113315" cy="3113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8" name="Picture 4" descr="https://circuitglobe.com/wp-content/uploads/2015/10/voltage-and-current-source-fig-2-compressor.jpg"/>
          <p:cNvPicPr>
            <a:picLocks noChangeAspect="1" noChangeArrowheads="1"/>
          </p:cNvPicPr>
          <p:nvPr/>
        </p:nvPicPr>
        <p:blipFill>
          <a:blip r:embed="rId4" cstate="print">
            <a:extLst>
              <a:ext uri="{BEBA8EAE-BF5A-486C-A8C5-ECC9F3942E4B}">
                <a14:imgProps xmlns:a14="http://schemas.microsoft.com/office/drawing/2010/main">
                  <a14:imgLayer r:embed="rId5">
                    <a14:imgEffect>
                      <a14:sharpenSoften amount="74000"/>
                    </a14:imgEffect>
                    <a14:imgEffect>
                      <a14:brightnessContrast bright="49000" contrast="-22000"/>
                    </a14:imgEffect>
                  </a14:imgLayer>
                </a14:imgProps>
              </a:ext>
              <a:ext uri="{28A0092B-C50C-407E-A947-70E740481C1C}">
                <a14:useLocalDpi xmlns:a14="http://schemas.microsoft.com/office/drawing/2010/main" val="0"/>
              </a:ext>
            </a:extLst>
          </a:blip>
          <a:srcRect/>
          <a:stretch>
            <a:fillRect/>
          </a:stretch>
        </p:blipFill>
        <p:spPr bwMode="auto">
          <a:xfrm>
            <a:off x="5399315" y="3886200"/>
            <a:ext cx="3241447" cy="1589314"/>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https://circuitglobe.com/wp-content/uploads/2015/10/voltage-and-current-source-fig-3-compressor.jpg"/>
          <p:cNvPicPr>
            <a:picLocks noChangeAspect="1" noChangeArrowheads="1"/>
          </p:cNvPicPr>
          <p:nvPr/>
        </p:nvPicPr>
        <p:blipFill>
          <a:blip r:embed="rId6" cstate="print">
            <a:extLst>
              <a:ext uri="{BEBA8EAE-BF5A-486C-A8C5-ECC9F3942E4B}">
                <a14:imgProps xmlns:a14="http://schemas.microsoft.com/office/drawing/2010/main">
                  <a14:imgLayer r:embed="rId7">
                    <a14:imgEffect>
                      <a14:sharpenSoften amount="86000"/>
                    </a14:imgEffect>
                    <a14:imgEffect>
                      <a14:brightnessContrast bright="53000" contrast="-42000"/>
                    </a14:imgEffect>
                  </a14:imgLayer>
                </a14:imgProps>
              </a:ext>
              <a:ext uri="{28A0092B-C50C-407E-A947-70E740481C1C}">
                <a14:useLocalDpi xmlns:a14="http://schemas.microsoft.com/office/drawing/2010/main" val="0"/>
              </a:ext>
            </a:extLst>
          </a:blip>
          <a:srcRect/>
          <a:stretch>
            <a:fillRect/>
          </a:stretch>
        </p:blipFill>
        <p:spPr bwMode="auto">
          <a:xfrm>
            <a:off x="5486400" y="5410200"/>
            <a:ext cx="2971801" cy="138248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242725"/>
                                        </p:tgtEl>
                                        <p:attrNameLst>
                                          <p:attrName>style.visibility</p:attrName>
                                        </p:attrNameLst>
                                      </p:cBhvr>
                                      <p:to>
                                        <p:strVal val="visible"/>
                                      </p:to>
                                    </p:set>
                                    <p:anim calcmode="lin" valueType="num">
                                      <p:cBhvr additive="base">
                                        <p:cTn id="7" dur="500" fill="hold"/>
                                        <p:tgtEl>
                                          <p:spTgt spid="242725"/>
                                        </p:tgtEl>
                                        <p:attrNameLst>
                                          <p:attrName>ppt_x</p:attrName>
                                        </p:attrNameLst>
                                      </p:cBhvr>
                                      <p:tavLst>
                                        <p:tav tm="0">
                                          <p:val>
                                            <p:strVal val="#ppt_x"/>
                                          </p:val>
                                        </p:tav>
                                        <p:tav tm="100000">
                                          <p:val>
                                            <p:strVal val="#ppt_x"/>
                                          </p:val>
                                        </p:tav>
                                      </p:tavLst>
                                    </p:anim>
                                    <p:anim calcmode="lin" valueType="num">
                                      <p:cBhvr additive="base">
                                        <p:cTn id="8" dur="500" fill="hold"/>
                                        <p:tgtEl>
                                          <p:spTgt spid="24272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2725" grpId="0"/>
    </p:bldLst>
  </p:timing>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5" name="Slide Number Placeholder 6"/>
          <p:cNvSpPr>
            <a:spLocks noGrp="1"/>
          </p:cNvSpPr>
          <p:nvPr>
            <p:ph type="sldNum" sz="quarter" idx="12"/>
          </p:nvPr>
        </p:nvSpPr>
        <p:spPr/>
        <p:txBody>
          <a:bodyPr/>
          <a:lstStyle/>
          <a:p>
            <a:fld id="{89077BE8-00C7-4C1B-B5BF-3F6340D5B283}" type="slidenum">
              <a:rPr lang="en-US" altLang="en-US"/>
              <a:pPr/>
              <a:t>11</a:t>
            </a:fld>
            <a:endParaRPr lang="en-US" altLang="en-US"/>
          </a:p>
        </p:txBody>
      </p:sp>
      <p:sp>
        <p:nvSpPr>
          <p:cNvPr id="243714" name="Rectangle 2"/>
          <p:cNvSpPr>
            <a:spLocks noGrp="1" noChangeArrowheads="1"/>
          </p:cNvSpPr>
          <p:nvPr>
            <p:ph type="title"/>
          </p:nvPr>
        </p:nvSpPr>
        <p:spPr>
          <a:xfrm>
            <a:off x="1752600" y="76200"/>
            <a:ext cx="5562600" cy="381000"/>
          </a:xfrm>
        </p:spPr>
        <p:txBody>
          <a:bodyPr/>
          <a:lstStyle/>
          <a:p>
            <a:r>
              <a:rPr lang="en-US" sz="2800" b="1" u="sng" dirty="0" smtClean="0"/>
              <a:t>Independent Current Sources</a:t>
            </a:r>
            <a:endParaRPr lang="en-US" sz="2800" b="1" u="sng" dirty="0"/>
          </a:p>
        </p:txBody>
      </p:sp>
      <p:sp>
        <p:nvSpPr>
          <p:cNvPr id="243715" name="Rectangle 3"/>
          <p:cNvSpPr>
            <a:spLocks noGrp="1" noChangeArrowheads="1"/>
          </p:cNvSpPr>
          <p:nvPr>
            <p:ph type="body" sz="half" idx="1"/>
          </p:nvPr>
        </p:nvSpPr>
        <p:spPr>
          <a:xfrm>
            <a:off x="228600" y="762000"/>
            <a:ext cx="5334000" cy="4876800"/>
          </a:xfrm>
        </p:spPr>
        <p:txBody>
          <a:bodyPr/>
          <a:lstStyle/>
          <a:p>
            <a:r>
              <a:rPr lang="en-US" sz="2200" dirty="0">
                <a:latin typeface="Arial" pitchFamily="34" charset="0"/>
                <a:cs typeface="Arial" pitchFamily="34" charset="0"/>
              </a:rPr>
              <a:t>An </a:t>
            </a:r>
            <a:r>
              <a:rPr lang="en-US" sz="2200" b="1" dirty="0">
                <a:solidFill>
                  <a:schemeClr val="accent2"/>
                </a:solidFill>
                <a:latin typeface="Arial" panose="020B0604020202020204" pitchFamily="34" charset="0"/>
                <a:cs typeface="Arial" pitchFamily="34" charset="0"/>
              </a:rPr>
              <a:t>ideal </a:t>
            </a:r>
            <a:r>
              <a:rPr lang="en-US" sz="2400" b="1" dirty="0">
                <a:solidFill>
                  <a:schemeClr val="accent2"/>
                </a:solidFill>
                <a:latin typeface="Arial" panose="020B0604020202020204" pitchFamily="34" charset="0"/>
                <a:cs typeface="Arial" panose="020B0604020202020204" pitchFamily="34" charset="0"/>
              </a:rPr>
              <a:t>Independent </a:t>
            </a:r>
            <a:r>
              <a:rPr lang="en-US" sz="2200" b="1" dirty="0" smtClean="0">
                <a:solidFill>
                  <a:schemeClr val="accent2"/>
                </a:solidFill>
                <a:latin typeface="Arial" pitchFamily="34" charset="0"/>
                <a:cs typeface="Arial" pitchFamily="34" charset="0"/>
              </a:rPr>
              <a:t>current </a:t>
            </a:r>
            <a:r>
              <a:rPr lang="en-US" sz="2200" b="1" dirty="0">
                <a:solidFill>
                  <a:schemeClr val="accent2"/>
                </a:solidFill>
                <a:latin typeface="Arial" pitchFamily="34" charset="0"/>
                <a:cs typeface="Arial" pitchFamily="34" charset="0"/>
              </a:rPr>
              <a:t>source</a:t>
            </a:r>
            <a:r>
              <a:rPr lang="en-US" sz="2200" dirty="0">
                <a:latin typeface="Arial" pitchFamily="34" charset="0"/>
                <a:cs typeface="Arial" pitchFamily="34" charset="0"/>
              </a:rPr>
              <a:t> is a current </a:t>
            </a:r>
            <a:r>
              <a:rPr lang="en-US" sz="2200" dirty="0" smtClean="0">
                <a:latin typeface="Arial" pitchFamily="34" charset="0"/>
                <a:cs typeface="Arial" pitchFamily="34" charset="0"/>
              </a:rPr>
              <a:t>source </a:t>
            </a:r>
            <a:r>
              <a:rPr lang="en-US" sz="2200" dirty="0">
                <a:latin typeface="Arial" pitchFamily="34" charset="0"/>
                <a:cs typeface="Arial" pitchFamily="34" charset="0"/>
              </a:rPr>
              <a:t>which can supply constant current regardless of any voltage drops in the circuit.</a:t>
            </a:r>
            <a:br>
              <a:rPr lang="en-US" sz="2200" dirty="0">
                <a:latin typeface="Arial" pitchFamily="34" charset="0"/>
                <a:cs typeface="Arial" pitchFamily="34" charset="0"/>
              </a:rPr>
            </a:br>
            <a:endParaRPr lang="en-US" sz="2200" dirty="0" smtClean="0">
              <a:latin typeface="Arial" pitchFamily="34" charset="0"/>
              <a:cs typeface="Arial" pitchFamily="34" charset="0"/>
            </a:endParaRPr>
          </a:p>
          <a:p>
            <a:r>
              <a:rPr lang="en-US" sz="2200" b="1" dirty="0" smtClean="0">
                <a:latin typeface="Arial" pitchFamily="34" charset="0"/>
                <a:cs typeface="Arial" pitchFamily="34" charset="0"/>
              </a:rPr>
              <a:t>The </a:t>
            </a:r>
            <a:r>
              <a:rPr lang="en-US" sz="2200" b="1" dirty="0">
                <a:latin typeface="Arial" pitchFamily="34" charset="0"/>
                <a:cs typeface="Arial" pitchFamily="34" charset="0"/>
              </a:rPr>
              <a:t>ideal current source will have infinite internal resistance.</a:t>
            </a:r>
          </a:p>
          <a:p>
            <a:r>
              <a:rPr lang="en-US" sz="2200" b="1" dirty="0" smtClean="0">
                <a:latin typeface="Arial" pitchFamily="34" charset="0"/>
                <a:cs typeface="Arial" pitchFamily="34" charset="0"/>
              </a:rPr>
              <a:t>The </a:t>
            </a:r>
            <a:r>
              <a:rPr lang="en-US" sz="2200" b="1" dirty="0">
                <a:latin typeface="Arial" pitchFamily="34" charset="0"/>
                <a:cs typeface="Arial" pitchFamily="34" charset="0"/>
              </a:rPr>
              <a:t>symbols for </a:t>
            </a:r>
            <a:r>
              <a:rPr lang="en-US" sz="2200" b="1" i="1" dirty="0">
                <a:solidFill>
                  <a:schemeClr val="accent2"/>
                </a:solidFill>
                <a:latin typeface="Arial" pitchFamily="34" charset="0"/>
                <a:cs typeface="Arial" pitchFamily="34" charset="0"/>
              </a:rPr>
              <a:t>independent current sources</a:t>
            </a:r>
            <a:r>
              <a:rPr lang="en-US" sz="2200" b="1" dirty="0">
                <a:solidFill>
                  <a:schemeClr val="accent2"/>
                </a:solidFill>
                <a:latin typeface="Arial" pitchFamily="34" charset="0"/>
                <a:cs typeface="Arial" pitchFamily="34" charset="0"/>
              </a:rPr>
              <a:t> are</a:t>
            </a:r>
            <a:r>
              <a:rPr lang="en-US" sz="2200" b="1" dirty="0">
                <a:latin typeface="Arial" pitchFamily="34" charset="0"/>
                <a:cs typeface="Arial" pitchFamily="34" charset="0"/>
              </a:rPr>
              <a:t>:-</a:t>
            </a:r>
          </a:p>
          <a:p>
            <a:pPr algn="ctr">
              <a:lnSpc>
                <a:spcPct val="80000"/>
              </a:lnSpc>
              <a:buFontTx/>
              <a:buNone/>
            </a:pPr>
            <a:endParaRPr lang="en-US" sz="2400" b="1" dirty="0">
              <a:latin typeface="Arial" pitchFamily="34" charset="0"/>
              <a:cs typeface="Arial" pitchFamily="34" charset="0"/>
            </a:endParaRPr>
          </a:p>
          <a:p>
            <a:pPr lvl="1">
              <a:lnSpc>
                <a:spcPct val="80000"/>
              </a:lnSpc>
            </a:pPr>
            <a:r>
              <a:rPr lang="en-US" sz="2000" b="1" dirty="0">
                <a:latin typeface="Arial" pitchFamily="34" charset="0"/>
                <a:cs typeface="Arial" pitchFamily="34" charset="0"/>
              </a:rPr>
              <a:t>Small ‘</a:t>
            </a:r>
            <a:r>
              <a:rPr lang="en-US" sz="2000" b="1" dirty="0" err="1">
                <a:latin typeface="Arial" pitchFamily="34" charset="0"/>
                <a:cs typeface="Arial" pitchFamily="34" charset="0"/>
              </a:rPr>
              <a:t>i</a:t>
            </a:r>
            <a:r>
              <a:rPr lang="en-US" sz="2000" b="1" dirty="0">
                <a:latin typeface="Arial" pitchFamily="34" charset="0"/>
                <a:cs typeface="Arial" pitchFamily="34" charset="0"/>
              </a:rPr>
              <a:t>’ is used for time varying or constant currents</a:t>
            </a:r>
            <a:r>
              <a:rPr lang="en-US" sz="2000" b="1" dirty="0" smtClean="0">
                <a:latin typeface="Arial" pitchFamily="34" charset="0"/>
                <a:cs typeface="Arial" pitchFamily="34" charset="0"/>
              </a:rPr>
              <a:t>.</a:t>
            </a:r>
          </a:p>
          <a:p>
            <a:pPr lvl="1">
              <a:lnSpc>
                <a:spcPct val="80000"/>
              </a:lnSpc>
            </a:pPr>
            <a:r>
              <a:rPr lang="en-US" sz="2000" b="1" dirty="0" smtClean="0">
                <a:latin typeface="Arial" pitchFamily="34" charset="0"/>
                <a:cs typeface="Arial" pitchFamily="34" charset="0"/>
              </a:rPr>
              <a:t>Capital </a:t>
            </a:r>
            <a:r>
              <a:rPr lang="en-US" sz="2000" b="1" dirty="0">
                <a:latin typeface="Arial" pitchFamily="34" charset="0"/>
                <a:cs typeface="Arial" pitchFamily="34" charset="0"/>
              </a:rPr>
              <a:t>‘I’ is used for constant currents only</a:t>
            </a:r>
            <a:r>
              <a:rPr lang="en-US" sz="2000" b="1" dirty="0" smtClean="0">
                <a:latin typeface="Arial" pitchFamily="34" charset="0"/>
                <a:cs typeface="Arial" pitchFamily="34" charset="0"/>
              </a:rPr>
              <a:t>.</a:t>
            </a:r>
          </a:p>
          <a:p>
            <a:pPr>
              <a:lnSpc>
                <a:spcPct val="80000"/>
              </a:lnSpc>
            </a:pPr>
            <a:endParaRPr lang="en-US" sz="2000" b="1" dirty="0" smtClean="0">
              <a:latin typeface="Arial" charset="0"/>
            </a:endParaRPr>
          </a:p>
          <a:p>
            <a:pPr>
              <a:lnSpc>
                <a:spcPct val="80000"/>
              </a:lnSpc>
            </a:pPr>
            <a:endParaRPr lang="en-US" sz="2000" b="1" dirty="0">
              <a:latin typeface="Arial" charset="0"/>
            </a:endParaRPr>
          </a:p>
          <a:p>
            <a:pPr>
              <a:lnSpc>
                <a:spcPct val="80000"/>
              </a:lnSpc>
            </a:pPr>
            <a:r>
              <a:rPr lang="en-US" sz="2000" b="1" dirty="0" smtClean="0">
                <a:solidFill>
                  <a:srgbClr val="FF0000"/>
                </a:solidFill>
                <a:latin typeface="Arial" charset="0"/>
              </a:rPr>
              <a:t>Dependent (controlled) Sources </a:t>
            </a:r>
            <a:r>
              <a:rPr lang="en-US" sz="2000" b="1" dirty="0">
                <a:solidFill>
                  <a:srgbClr val="FF0000"/>
                </a:solidFill>
                <a:latin typeface="Arial" charset="0"/>
              </a:rPr>
              <a:t>!</a:t>
            </a:r>
            <a:endParaRPr lang="en-US" sz="2000" b="1" dirty="0">
              <a:latin typeface="Arial" charset="0"/>
            </a:endParaRPr>
          </a:p>
        </p:txBody>
      </p:sp>
      <p:sp>
        <p:nvSpPr>
          <p:cNvPr id="243716" name="Rectangle 4"/>
          <p:cNvSpPr>
            <a:spLocks noChangeArrowheads="1"/>
          </p:cNvSpPr>
          <p:nvPr/>
        </p:nvSpPr>
        <p:spPr bwMode="auto">
          <a:xfrm>
            <a:off x="8640763" y="6400800"/>
            <a:ext cx="503237" cy="457200"/>
          </a:xfrm>
          <a:prstGeom prst="rect">
            <a:avLst/>
          </a:prstGeom>
          <a:noFill/>
          <a:ln w="9525">
            <a:noFill/>
            <a:miter lim="800000"/>
            <a:headEnd/>
            <a:tailEnd/>
          </a:ln>
          <a:effectLst/>
        </p:spPr>
        <p:txBody>
          <a:bodyPr wrap="none">
            <a:spAutoFit/>
          </a:bodyPr>
          <a:lstStyle/>
          <a:p>
            <a:pPr>
              <a:spcBef>
                <a:spcPct val="50000"/>
              </a:spcBef>
              <a:buFont typeface="Wingdings" pitchFamily="2" charset="2"/>
              <a:buChar char="Ø"/>
            </a:pPr>
            <a:r>
              <a:rPr lang="en-US"/>
              <a:t> </a:t>
            </a:r>
          </a:p>
        </p:txBody>
      </p:sp>
      <p:grpSp>
        <p:nvGrpSpPr>
          <p:cNvPr id="2" name="Group 5"/>
          <p:cNvGrpSpPr>
            <a:grpSpLocks/>
          </p:cNvGrpSpPr>
          <p:nvPr/>
        </p:nvGrpSpPr>
        <p:grpSpPr bwMode="auto">
          <a:xfrm>
            <a:off x="6972300" y="381000"/>
            <a:ext cx="1562100" cy="3557588"/>
            <a:chOff x="2880" y="1266"/>
            <a:chExt cx="984" cy="2478"/>
          </a:xfrm>
        </p:grpSpPr>
        <p:sp>
          <p:nvSpPr>
            <p:cNvPr id="243718" name="Text Box 6"/>
            <p:cNvSpPr txBox="1">
              <a:spLocks noChangeArrowheads="1"/>
            </p:cNvSpPr>
            <p:nvPr/>
          </p:nvSpPr>
          <p:spPr bwMode="auto">
            <a:xfrm>
              <a:off x="2880" y="1680"/>
              <a:ext cx="288" cy="288"/>
            </a:xfrm>
            <a:prstGeom prst="rect">
              <a:avLst/>
            </a:prstGeom>
            <a:noFill/>
            <a:ln w="9525">
              <a:noFill/>
              <a:miter lim="800000"/>
              <a:headEnd/>
              <a:tailEnd/>
            </a:ln>
            <a:effectLst/>
          </p:spPr>
          <p:txBody>
            <a:bodyPr>
              <a:spAutoFit/>
            </a:bodyPr>
            <a:lstStyle/>
            <a:p>
              <a:pPr>
                <a:spcBef>
                  <a:spcPct val="50000"/>
                </a:spcBef>
              </a:pPr>
              <a:r>
                <a:rPr lang="en-US" dirty="0"/>
                <a:t>i</a:t>
              </a:r>
            </a:p>
          </p:txBody>
        </p:sp>
        <p:sp>
          <p:nvSpPr>
            <p:cNvPr id="243719" name="Text Box 7"/>
            <p:cNvSpPr txBox="1">
              <a:spLocks noChangeArrowheads="1"/>
            </p:cNvSpPr>
            <p:nvPr/>
          </p:nvSpPr>
          <p:spPr bwMode="auto">
            <a:xfrm>
              <a:off x="2880" y="3066"/>
              <a:ext cx="288" cy="288"/>
            </a:xfrm>
            <a:prstGeom prst="rect">
              <a:avLst/>
            </a:prstGeom>
            <a:noFill/>
            <a:ln w="9525">
              <a:noFill/>
              <a:miter lim="800000"/>
              <a:headEnd/>
              <a:tailEnd/>
            </a:ln>
            <a:effectLst/>
          </p:spPr>
          <p:txBody>
            <a:bodyPr>
              <a:spAutoFit/>
            </a:bodyPr>
            <a:lstStyle/>
            <a:p>
              <a:pPr>
                <a:spcBef>
                  <a:spcPct val="50000"/>
                </a:spcBef>
              </a:pPr>
              <a:r>
                <a:rPr lang="en-US" dirty="0"/>
                <a:t>I</a:t>
              </a:r>
            </a:p>
          </p:txBody>
        </p:sp>
        <p:grpSp>
          <p:nvGrpSpPr>
            <p:cNvPr id="3" name="Group 8"/>
            <p:cNvGrpSpPr>
              <a:grpSpLocks/>
            </p:cNvGrpSpPr>
            <p:nvPr/>
          </p:nvGrpSpPr>
          <p:grpSpPr bwMode="auto">
            <a:xfrm>
              <a:off x="3072" y="1266"/>
              <a:ext cx="792" cy="2478"/>
              <a:chOff x="3120" y="1266"/>
              <a:chExt cx="792" cy="2478"/>
            </a:xfrm>
          </p:grpSpPr>
          <p:sp>
            <p:nvSpPr>
              <p:cNvPr id="243721" name="Oval 9"/>
              <p:cNvSpPr>
                <a:spLocks noChangeArrowheads="1"/>
              </p:cNvSpPr>
              <p:nvPr/>
            </p:nvSpPr>
            <p:spPr bwMode="auto">
              <a:xfrm>
                <a:off x="3120" y="1680"/>
                <a:ext cx="384" cy="384"/>
              </a:xfrm>
              <a:prstGeom prst="ellipse">
                <a:avLst/>
              </a:prstGeom>
              <a:noFill/>
              <a:ln w="9525">
                <a:solidFill>
                  <a:schemeClr val="tx1"/>
                </a:solidFill>
                <a:round/>
                <a:headEnd/>
                <a:tailEnd/>
              </a:ln>
              <a:effectLst/>
            </p:spPr>
            <p:txBody>
              <a:bodyPr wrap="none" anchor="ctr"/>
              <a:lstStyle/>
              <a:p>
                <a:endParaRPr lang="en-US"/>
              </a:p>
            </p:txBody>
          </p:sp>
          <p:sp>
            <p:nvSpPr>
              <p:cNvPr id="243722" name="Line 10"/>
              <p:cNvSpPr>
                <a:spLocks noChangeShapeType="1"/>
              </p:cNvSpPr>
              <p:nvPr/>
            </p:nvSpPr>
            <p:spPr bwMode="auto">
              <a:xfrm>
                <a:off x="3312" y="2064"/>
                <a:ext cx="0" cy="336"/>
              </a:xfrm>
              <a:prstGeom prst="line">
                <a:avLst/>
              </a:prstGeom>
              <a:noFill/>
              <a:ln w="9525">
                <a:solidFill>
                  <a:schemeClr val="tx1"/>
                </a:solidFill>
                <a:round/>
                <a:headEnd/>
                <a:tailEnd/>
              </a:ln>
              <a:effectLst/>
            </p:spPr>
            <p:txBody>
              <a:bodyPr/>
              <a:lstStyle/>
              <a:p>
                <a:endParaRPr lang="en-US"/>
              </a:p>
            </p:txBody>
          </p:sp>
          <p:sp>
            <p:nvSpPr>
              <p:cNvPr id="243723" name="Line 11"/>
              <p:cNvSpPr>
                <a:spLocks noChangeShapeType="1"/>
              </p:cNvSpPr>
              <p:nvPr/>
            </p:nvSpPr>
            <p:spPr bwMode="auto">
              <a:xfrm flipV="1">
                <a:off x="3312" y="1296"/>
                <a:ext cx="0" cy="384"/>
              </a:xfrm>
              <a:prstGeom prst="line">
                <a:avLst/>
              </a:prstGeom>
              <a:noFill/>
              <a:ln w="9525">
                <a:solidFill>
                  <a:schemeClr val="tx1"/>
                </a:solidFill>
                <a:round/>
                <a:headEnd/>
                <a:tailEnd/>
              </a:ln>
              <a:effectLst/>
            </p:spPr>
            <p:txBody>
              <a:bodyPr/>
              <a:lstStyle/>
              <a:p>
                <a:endParaRPr lang="en-US"/>
              </a:p>
            </p:txBody>
          </p:sp>
          <p:sp>
            <p:nvSpPr>
              <p:cNvPr id="243724" name="Line 12"/>
              <p:cNvSpPr>
                <a:spLocks noChangeShapeType="1"/>
              </p:cNvSpPr>
              <p:nvPr/>
            </p:nvSpPr>
            <p:spPr bwMode="auto">
              <a:xfrm>
                <a:off x="3312" y="1296"/>
                <a:ext cx="480" cy="0"/>
              </a:xfrm>
              <a:prstGeom prst="line">
                <a:avLst/>
              </a:prstGeom>
              <a:noFill/>
              <a:ln w="9525">
                <a:solidFill>
                  <a:schemeClr val="tx1"/>
                </a:solidFill>
                <a:round/>
                <a:headEnd/>
                <a:tailEnd/>
              </a:ln>
              <a:effectLst/>
            </p:spPr>
            <p:txBody>
              <a:bodyPr/>
              <a:lstStyle/>
              <a:p>
                <a:endParaRPr lang="en-US"/>
              </a:p>
            </p:txBody>
          </p:sp>
          <p:sp>
            <p:nvSpPr>
              <p:cNvPr id="243725" name="Line 13"/>
              <p:cNvSpPr>
                <a:spLocks noChangeShapeType="1"/>
              </p:cNvSpPr>
              <p:nvPr/>
            </p:nvSpPr>
            <p:spPr bwMode="auto">
              <a:xfrm>
                <a:off x="3312" y="2400"/>
                <a:ext cx="528" cy="0"/>
              </a:xfrm>
              <a:prstGeom prst="line">
                <a:avLst/>
              </a:prstGeom>
              <a:noFill/>
              <a:ln w="9525">
                <a:solidFill>
                  <a:schemeClr val="tx1"/>
                </a:solidFill>
                <a:round/>
                <a:headEnd/>
                <a:tailEnd/>
              </a:ln>
              <a:effectLst/>
            </p:spPr>
            <p:txBody>
              <a:bodyPr/>
              <a:lstStyle/>
              <a:p>
                <a:endParaRPr lang="en-US"/>
              </a:p>
            </p:txBody>
          </p:sp>
          <p:sp>
            <p:nvSpPr>
              <p:cNvPr id="243726" name="Oval 14"/>
              <p:cNvSpPr>
                <a:spLocks noChangeArrowheads="1"/>
              </p:cNvSpPr>
              <p:nvPr/>
            </p:nvSpPr>
            <p:spPr bwMode="auto">
              <a:xfrm>
                <a:off x="3792" y="1266"/>
                <a:ext cx="48" cy="48"/>
              </a:xfrm>
              <a:prstGeom prst="ellipse">
                <a:avLst/>
              </a:prstGeom>
              <a:solidFill>
                <a:schemeClr val="tx2"/>
              </a:solidFill>
              <a:ln w="9525">
                <a:solidFill>
                  <a:schemeClr val="tx1"/>
                </a:solidFill>
                <a:round/>
                <a:headEnd/>
                <a:tailEnd/>
              </a:ln>
              <a:effectLst/>
            </p:spPr>
            <p:txBody>
              <a:bodyPr wrap="none" anchor="ctr"/>
              <a:lstStyle/>
              <a:p>
                <a:endParaRPr lang="en-US"/>
              </a:p>
            </p:txBody>
          </p:sp>
          <p:sp>
            <p:nvSpPr>
              <p:cNvPr id="243727" name="Oval 15"/>
              <p:cNvSpPr>
                <a:spLocks noChangeArrowheads="1"/>
              </p:cNvSpPr>
              <p:nvPr/>
            </p:nvSpPr>
            <p:spPr bwMode="auto">
              <a:xfrm>
                <a:off x="3843" y="2373"/>
                <a:ext cx="48" cy="48"/>
              </a:xfrm>
              <a:prstGeom prst="ellipse">
                <a:avLst/>
              </a:prstGeom>
              <a:solidFill>
                <a:schemeClr val="tx2"/>
              </a:solidFill>
              <a:ln w="9525">
                <a:solidFill>
                  <a:schemeClr val="tx1"/>
                </a:solidFill>
                <a:round/>
                <a:headEnd/>
                <a:tailEnd/>
              </a:ln>
              <a:effectLst/>
            </p:spPr>
            <p:txBody>
              <a:bodyPr wrap="none" anchor="ctr"/>
              <a:lstStyle/>
              <a:p>
                <a:endParaRPr lang="en-US"/>
              </a:p>
            </p:txBody>
          </p:sp>
          <p:sp>
            <p:nvSpPr>
              <p:cNvPr id="243728" name="Oval 16"/>
              <p:cNvSpPr>
                <a:spLocks noChangeArrowheads="1"/>
              </p:cNvSpPr>
              <p:nvPr/>
            </p:nvSpPr>
            <p:spPr bwMode="auto">
              <a:xfrm>
                <a:off x="3141" y="3003"/>
                <a:ext cx="384" cy="384"/>
              </a:xfrm>
              <a:prstGeom prst="ellipse">
                <a:avLst/>
              </a:prstGeom>
              <a:noFill/>
              <a:ln w="9525">
                <a:solidFill>
                  <a:schemeClr val="tx1"/>
                </a:solidFill>
                <a:round/>
                <a:headEnd/>
                <a:tailEnd/>
              </a:ln>
              <a:effectLst/>
            </p:spPr>
            <p:txBody>
              <a:bodyPr wrap="none" anchor="ctr"/>
              <a:lstStyle/>
              <a:p>
                <a:endParaRPr lang="en-US"/>
              </a:p>
            </p:txBody>
          </p:sp>
          <p:sp>
            <p:nvSpPr>
              <p:cNvPr id="243729" name="Line 17"/>
              <p:cNvSpPr>
                <a:spLocks noChangeShapeType="1"/>
              </p:cNvSpPr>
              <p:nvPr/>
            </p:nvSpPr>
            <p:spPr bwMode="auto">
              <a:xfrm>
                <a:off x="3333" y="3387"/>
                <a:ext cx="0" cy="336"/>
              </a:xfrm>
              <a:prstGeom prst="line">
                <a:avLst/>
              </a:prstGeom>
              <a:noFill/>
              <a:ln w="9525">
                <a:solidFill>
                  <a:schemeClr val="tx1"/>
                </a:solidFill>
                <a:round/>
                <a:headEnd/>
                <a:tailEnd/>
              </a:ln>
              <a:effectLst/>
            </p:spPr>
            <p:txBody>
              <a:bodyPr/>
              <a:lstStyle/>
              <a:p>
                <a:endParaRPr lang="en-US"/>
              </a:p>
            </p:txBody>
          </p:sp>
          <p:sp>
            <p:nvSpPr>
              <p:cNvPr id="243730" name="Line 18"/>
              <p:cNvSpPr>
                <a:spLocks noChangeShapeType="1"/>
              </p:cNvSpPr>
              <p:nvPr/>
            </p:nvSpPr>
            <p:spPr bwMode="auto">
              <a:xfrm flipV="1">
                <a:off x="3333" y="2619"/>
                <a:ext cx="0" cy="384"/>
              </a:xfrm>
              <a:prstGeom prst="line">
                <a:avLst/>
              </a:prstGeom>
              <a:noFill/>
              <a:ln w="9525">
                <a:solidFill>
                  <a:schemeClr val="tx1"/>
                </a:solidFill>
                <a:round/>
                <a:headEnd/>
                <a:tailEnd/>
              </a:ln>
              <a:effectLst/>
            </p:spPr>
            <p:txBody>
              <a:bodyPr/>
              <a:lstStyle/>
              <a:p>
                <a:endParaRPr lang="en-US"/>
              </a:p>
            </p:txBody>
          </p:sp>
          <p:sp>
            <p:nvSpPr>
              <p:cNvPr id="243731" name="Line 19"/>
              <p:cNvSpPr>
                <a:spLocks noChangeShapeType="1"/>
              </p:cNvSpPr>
              <p:nvPr/>
            </p:nvSpPr>
            <p:spPr bwMode="auto">
              <a:xfrm>
                <a:off x="3333" y="2619"/>
                <a:ext cx="480" cy="0"/>
              </a:xfrm>
              <a:prstGeom prst="line">
                <a:avLst/>
              </a:prstGeom>
              <a:noFill/>
              <a:ln w="9525">
                <a:solidFill>
                  <a:schemeClr val="tx1"/>
                </a:solidFill>
                <a:round/>
                <a:headEnd/>
                <a:tailEnd/>
              </a:ln>
              <a:effectLst/>
            </p:spPr>
            <p:txBody>
              <a:bodyPr/>
              <a:lstStyle/>
              <a:p>
                <a:endParaRPr lang="en-US"/>
              </a:p>
            </p:txBody>
          </p:sp>
          <p:sp>
            <p:nvSpPr>
              <p:cNvPr id="243732" name="Line 20"/>
              <p:cNvSpPr>
                <a:spLocks noChangeShapeType="1"/>
              </p:cNvSpPr>
              <p:nvPr/>
            </p:nvSpPr>
            <p:spPr bwMode="auto">
              <a:xfrm>
                <a:off x="3333" y="3723"/>
                <a:ext cx="528" cy="0"/>
              </a:xfrm>
              <a:prstGeom prst="line">
                <a:avLst/>
              </a:prstGeom>
              <a:noFill/>
              <a:ln w="9525">
                <a:solidFill>
                  <a:schemeClr val="tx1"/>
                </a:solidFill>
                <a:round/>
                <a:headEnd/>
                <a:tailEnd/>
              </a:ln>
              <a:effectLst/>
            </p:spPr>
            <p:txBody>
              <a:bodyPr/>
              <a:lstStyle/>
              <a:p>
                <a:endParaRPr lang="en-US"/>
              </a:p>
            </p:txBody>
          </p:sp>
          <p:sp>
            <p:nvSpPr>
              <p:cNvPr id="243733" name="Oval 21"/>
              <p:cNvSpPr>
                <a:spLocks noChangeArrowheads="1"/>
              </p:cNvSpPr>
              <p:nvPr/>
            </p:nvSpPr>
            <p:spPr bwMode="auto">
              <a:xfrm>
                <a:off x="3813" y="2589"/>
                <a:ext cx="48" cy="48"/>
              </a:xfrm>
              <a:prstGeom prst="ellipse">
                <a:avLst/>
              </a:prstGeom>
              <a:solidFill>
                <a:schemeClr val="tx2"/>
              </a:solidFill>
              <a:ln w="9525">
                <a:solidFill>
                  <a:schemeClr val="tx1"/>
                </a:solidFill>
                <a:round/>
                <a:headEnd/>
                <a:tailEnd/>
              </a:ln>
              <a:effectLst/>
            </p:spPr>
            <p:txBody>
              <a:bodyPr wrap="none" anchor="ctr"/>
              <a:lstStyle/>
              <a:p>
                <a:endParaRPr lang="en-US"/>
              </a:p>
            </p:txBody>
          </p:sp>
          <p:sp>
            <p:nvSpPr>
              <p:cNvPr id="243734" name="Oval 22"/>
              <p:cNvSpPr>
                <a:spLocks noChangeArrowheads="1"/>
              </p:cNvSpPr>
              <p:nvPr/>
            </p:nvSpPr>
            <p:spPr bwMode="auto">
              <a:xfrm>
                <a:off x="3864" y="3696"/>
                <a:ext cx="48" cy="48"/>
              </a:xfrm>
              <a:prstGeom prst="ellipse">
                <a:avLst/>
              </a:prstGeom>
              <a:solidFill>
                <a:schemeClr val="tx2"/>
              </a:solidFill>
              <a:ln w="9525">
                <a:solidFill>
                  <a:schemeClr val="tx1"/>
                </a:solidFill>
                <a:round/>
                <a:headEnd/>
                <a:tailEnd/>
              </a:ln>
              <a:effectLst/>
            </p:spPr>
            <p:txBody>
              <a:bodyPr wrap="none" anchor="ctr"/>
              <a:lstStyle/>
              <a:p>
                <a:endParaRPr lang="en-US"/>
              </a:p>
            </p:txBody>
          </p:sp>
          <p:sp>
            <p:nvSpPr>
              <p:cNvPr id="243735" name="Line 23"/>
              <p:cNvSpPr>
                <a:spLocks noChangeShapeType="1"/>
              </p:cNvSpPr>
              <p:nvPr/>
            </p:nvSpPr>
            <p:spPr bwMode="auto">
              <a:xfrm flipV="1">
                <a:off x="3312" y="1776"/>
                <a:ext cx="0" cy="192"/>
              </a:xfrm>
              <a:prstGeom prst="line">
                <a:avLst/>
              </a:prstGeom>
              <a:noFill/>
              <a:ln w="9525">
                <a:solidFill>
                  <a:schemeClr val="tx1"/>
                </a:solidFill>
                <a:round/>
                <a:headEnd/>
                <a:tailEnd type="triangle" w="med" len="med"/>
              </a:ln>
              <a:effectLst/>
            </p:spPr>
            <p:txBody>
              <a:bodyPr/>
              <a:lstStyle/>
              <a:p>
                <a:endParaRPr lang="en-US"/>
              </a:p>
            </p:txBody>
          </p:sp>
          <p:sp>
            <p:nvSpPr>
              <p:cNvPr id="243736" name="Line 24"/>
              <p:cNvSpPr>
                <a:spLocks noChangeShapeType="1"/>
              </p:cNvSpPr>
              <p:nvPr/>
            </p:nvSpPr>
            <p:spPr bwMode="auto">
              <a:xfrm flipV="1">
                <a:off x="3339" y="3072"/>
                <a:ext cx="0" cy="240"/>
              </a:xfrm>
              <a:prstGeom prst="line">
                <a:avLst/>
              </a:prstGeom>
              <a:noFill/>
              <a:ln w="9525">
                <a:solidFill>
                  <a:schemeClr val="tx1"/>
                </a:solidFill>
                <a:round/>
                <a:headEnd/>
                <a:tailEnd type="triangle" w="med" len="med"/>
              </a:ln>
              <a:effectLst/>
            </p:spPr>
            <p:txBody>
              <a:bodyPr/>
              <a:lstStyle/>
              <a:p>
                <a:endParaRPr lang="en-US"/>
              </a:p>
            </p:txBody>
          </p:sp>
        </p:grpSp>
      </p:grpSp>
      <p:pic>
        <p:nvPicPr>
          <p:cNvPr id="26" name="Picture 25" descr="voltage-current-source-fig-5">
            <a:hlinkClick r:id="rId2"/>
          </p:cNvPr>
          <p:cNvPicPr>
            <a:picLocks noChangeAspect="1" noChangeArrowheads="1"/>
          </p:cNvPicPr>
          <p:nvPr/>
        </p:nvPicPr>
        <p:blipFill>
          <a:blip r:embed="rId3" cstate="print">
            <a:extLst>
              <a:ext uri="{BEBA8EAE-BF5A-486C-A8C5-ECC9F3942E4B}">
                <a14:imgProps xmlns:a14="http://schemas.microsoft.com/office/drawing/2010/main">
                  <a14:imgLayer r:embed="rId4">
                    <a14:imgEffect>
                      <a14:sharpenSoften amount="99000"/>
                    </a14:imgEffect>
                    <a14:imgEffect>
                      <a14:brightnessContrast bright="45000" contrast="-49000"/>
                    </a14:imgEffect>
                  </a14:imgLayer>
                </a14:imgProps>
              </a:ext>
              <a:ext uri="{28A0092B-C50C-407E-A947-70E740481C1C}">
                <a14:useLocalDpi xmlns:a14="http://schemas.microsoft.com/office/drawing/2010/main" val="0"/>
              </a:ext>
            </a:extLst>
          </a:blip>
          <a:srcRect/>
          <a:stretch>
            <a:fillRect/>
          </a:stretch>
        </p:blipFill>
        <p:spPr bwMode="auto">
          <a:xfrm>
            <a:off x="5943600" y="3962400"/>
            <a:ext cx="2876550" cy="1447800"/>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2" descr="voltage-current-source-fig-6">
            <a:hlinkClick r:id="rId5"/>
          </p:cNvPr>
          <p:cNvPicPr>
            <a:picLocks noChangeAspect="1" noChangeArrowheads="1"/>
          </p:cNvPicPr>
          <p:nvPr/>
        </p:nvPicPr>
        <p:blipFill>
          <a:blip r:embed="rId6" cstate="print">
            <a:extLst>
              <a:ext uri="{BEBA8EAE-BF5A-486C-A8C5-ECC9F3942E4B}">
                <a14:imgProps xmlns:a14="http://schemas.microsoft.com/office/drawing/2010/main">
                  <a14:imgLayer r:embed="rId7">
                    <a14:imgEffect>
                      <a14:sharpenSoften amount="89000"/>
                    </a14:imgEffect>
                    <a14:imgEffect>
                      <a14:brightnessContrast bright="48000" contrast="-28000"/>
                    </a14:imgEffect>
                  </a14:imgLayer>
                </a14:imgProps>
              </a:ext>
              <a:ext uri="{28A0092B-C50C-407E-A947-70E740481C1C}">
                <a14:useLocalDpi xmlns:a14="http://schemas.microsoft.com/office/drawing/2010/main" val="0"/>
              </a:ext>
            </a:extLst>
          </a:blip>
          <a:srcRect/>
          <a:stretch>
            <a:fillRect/>
          </a:stretch>
        </p:blipFill>
        <p:spPr bwMode="auto">
          <a:xfrm>
            <a:off x="5943600" y="5410200"/>
            <a:ext cx="2876550" cy="14478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243716"/>
                                        </p:tgtEl>
                                        <p:attrNameLst>
                                          <p:attrName>style.visibility</p:attrName>
                                        </p:attrNameLst>
                                      </p:cBhvr>
                                      <p:to>
                                        <p:strVal val="visible"/>
                                      </p:to>
                                    </p:set>
                                    <p:anim calcmode="lin" valueType="num">
                                      <p:cBhvr additive="base">
                                        <p:cTn id="7" dur="500" fill="hold"/>
                                        <p:tgtEl>
                                          <p:spTgt spid="243716"/>
                                        </p:tgtEl>
                                        <p:attrNameLst>
                                          <p:attrName>ppt_x</p:attrName>
                                        </p:attrNameLst>
                                      </p:cBhvr>
                                      <p:tavLst>
                                        <p:tav tm="0">
                                          <p:val>
                                            <p:strVal val="#ppt_x"/>
                                          </p:val>
                                        </p:tav>
                                        <p:tav tm="100000">
                                          <p:val>
                                            <p:strVal val="#ppt_x"/>
                                          </p:val>
                                        </p:tav>
                                      </p:tavLst>
                                    </p:anim>
                                    <p:anim calcmode="lin" valueType="num">
                                      <p:cBhvr additive="base">
                                        <p:cTn id="8" dur="500" fill="hold"/>
                                        <p:tgtEl>
                                          <p:spTgt spid="24371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3716" grpId="0"/>
    </p:bldLst>
  </p:timing>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8" name="Slide Number Placeholder 6"/>
          <p:cNvSpPr>
            <a:spLocks noGrp="1"/>
          </p:cNvSpPr>
          <p:nvPr>
            <p:ph type="sldNum" sz="quarter" idx="12"/>
          </p:nvPr>
        </p:nvSpPr>
        <p:spPr/>
        <p:txBody>
          <a:bodyPr/>
          <a:lstStyle/>
          <a:p>
            <a:fld id="{1DCBBAED-3963-44C7-9D9E-77C48B710A2D}" type="slidenum">
              <a:rPr lang="en-US" altLang="en-US"/>
              <a:pPr/>
              <a:t>12</a:t>
            </a:fld>
            <a:endParaRPr lang="en-US" altLang="en-US"/>
          </a:p>
        </p:txBody>
      </p:sp>
      <p:sp>
        <p:nvSpPr>
          <p:cNvPr id="244738" name="Rectangle 2"/>
          <p:cNvSpPr>
            <a:spLocks noGrp="1" noChangeArrowheads="1"/>
          </p:cNvSpPr>
          <p:nvPr>
            <p:ph type="title"/>
          </p:nvPr>
        </p:nvSpPr>
        <p:spPr>
          <a:xfrm>
            <a:off x="1905000" y="76200"/>
            <a:ext cx="5562600" cy="533400"/>
          </a:xfrm>
        </p:spPr>
        <p:txBody>
          <a:bodyPr/>
          <a:lstStyle/>
          <a:p>
            <a:r>
              <a:rPr lang="en-US" sz="2800" b="1" u="sng" dirty="0" smtClean="0"/>
              <a:t>Dependent Sources</a:t>
            </a:r>
            <a:endParaRPr lang="en-US" sz="2800" b="1" u="sng" dirty="0"/>
          </a:p>
        </p:txBody>
      </p:sp>
      <p:sp>
        <p:nvSpPr>
          <p:cNvPr id="244739" name="Rectangle 3"/>
          <p:cNvSpPr>
            <a:spLocks noGrp="1" noChangeArrowheads="1"/>
          </p:cNvSpPr>
          <p:nvPr>
            <p:ph type="body" sz="half" idx="1"/>
          </p:nvPr>
        </p:nvSpPr>
        <p:spPr>
          <a:xfrm>
            <a:off x="685800" y="3352800"/>
            <a:ext cx="4114800" cy="3429000"/>
          </a:xfrm>
        </p:spPr>
        <p:txBody>
          <a:bodyPr/>
          <a:lstStyle/>
          <a:p>
            <a:pPr>
              <a:lnSpc>
                <a:spcPct val="80000"/>
              </a:lnSpc>
            </a:pPr>
            <a:r>
              <a:rPr lang="en-US" sz="2000" i="1" dirty="0">
                <a:solidFill>
                  <a:srgbClr val="2E2997"/>
                </a:solidFill>
                <a:latin typeface="Arial" charset="0"/>
              </a:rPr>
              <a:t>The symbols (diamonds) for dependent voltage sources are</a:t>
            </a:r>
            <a:r>
              <a:rPr lang="en-US" sz="2000" i="1" dirty="0" smtClean="0">
                <a:solidFill>
                  <a:srgbClr val="2E2997"/>
                </a:solidFill>
                <a:latin typeface="Arial" charset="0"/>
              </a:rPr>
              <a:t>:-</a:t>
            </a:r>
          </a:p>
          <a:p>
            <a:pPr marL="0" indent="0">
              <a:lnSpc>
                <a:spcPct val="80000"/>
              </a:lnSpc>
              <a:buNone/>
            </a:pPr>
            <a:endParaRPr lang="en-US" sz="1800" i="1" dirty="0">
              <a:solidFill>
                <a:srgbClr val="2E2997"/>
              </a:solidFill>
              <a:latin typeface="Arial" charset="0"/>
            </a:endParaRPr>
          </a:p>
          <a:p>
            <a:pPr lvl="1">
              <a:lnSpc>
                <a:spcPct val="80000"/>
              </a:lnSpc>
            </a:pPr>
            <a:r>
              <a:rPr lang="en-US" sz="1800" b="1" i="1" dirty="0">
                <a:solidFill>
                  <a:schemeClr val="accent2"/>
                </a:solidFill>
                <a:latin typeface="Arial" charset="0"/>
              </a:rPr>
              <a:t>Voltage controlled voltage source has ‘k’ which is a dimensionless scaling constant</a:t>
            </a:r>
            <a:r>
              <a:rPr lang="en-US" sz="1800" b="1" dirty="0" smtClean="0">
                <a:solidFill>
                  <a:schemeClr val="accent2"/>
                </a:solidFill>
                <a:latin typeface="Arial" charset="0"/>
              </a:rPr>
              <a:t>.</a:t>
            </a:r>
          </a:p>
          <a:p>
            <a:pPr marL="457200" lvl="1" indent="0">
              <a:lnSpc>
                <a:spcPct val="80000"/>
              </a:lnSpc>
              <a:buNone/>
            </a:pPr>
            <a:endParaRPr lang="en-US" sz="1800" b="1" dirty="0">
              <a:latin typeface="Arial" charset="0"/>
            </a:endParaRPr>
          </a:p>
          <a:p>
            <a:pPr lvl="1">
              <a:lnSpc>
                <a:spcPct val="80000"/>
              </a:lnSpc>
            </a:pPr>
            <a:r>
              <a:rPr lang="en-US" sz="1800" b="1" i="1" dirty="0">
                <a:solidFill>
                  <a:srgbClr val="FF0000"/>
                </a:solidFill>
                <a:latin typeface="Arial" charset="0"/>
              </a:rPr>
              <a:t>Current controlled voltage source has a scaling constant ‘r’ with units of V/A</a:t>
            </a:r>
            <a:r>
              <a:rPr lang="en-US" sz="1800" b="1" i="1" dirty="0" smtClean="0">
                <a:solidFill>
                  <a:srgbClr val="FF0000"/>
                </a:solidFill>
                <a:latin typeface="Arial" charset="0"/>
              </a:rPr>
              <a:t>.</a:t>
            </a:r>
          </a:p>
          <a:p>
            <a:pPr lvl="1">
              <a:lnSpc>
                <a:spcPct val="80000"/>
              </a:lnSpc>
            </a:pPr>
            <a:endParaRPr lang="en-US" sz="1800" b="1" dirty="0">
              <a:latin typeface="Arial" charset="0"/>
            </a:endParaRPr>
          </a:p>
          <a:p>
            <a:pPr>
              <a:lnSpc>
                <a:spcPct val="80000"/>
              </a:lnSpc>
            </a:pPr>
            <a:r>
              <a:rPr lang="en-US" sz="1800" b="1" dirty="0" smtClean="0">
                <a:solidFill>
                  <a:srgbClr val="FF0000"/>
                </a:solidFill>
                <a:latin typeface="Arial" charset="0"/>
              </a:rPr>
              <a:t>Dependent sources …</a:t>
            </a:r>
            <a:r>
              <a:rPr lang="en-US" sz="1800" b="1" dirty="0" err="1" smtClean="0">
                <a:solidFill>
                  <a:srgbClr val="FF0000"/>
                </a:solidFill>
                <a:latin typeface="Arial" charset="0"/>
              </a:rPr>
              <a:t>contd</a:t>
            </a:r>
            <a:r>
              <a:rPr lang="en-US" sz="1800" b="1" dirty="0" smtClean="0">
                <a:solidFill>
                  <a:srgbClr val="FF0000"/>
                </a:solidFill>
                <a:latin typeface="Arial" charset="0"/>
              </a:rPr>
              <a:t> !</a:t>
            </a:r>
            <a:endParaRPr lang="en-US" sz="1800" b="1" dirty="0">
              <a:solidFill>
                <a:srgbClr val="FF0000"/>
              </a:solidFill>
              <a:latin typeface="Arial" charset="0"/>
            </a:endParaRPr>
          </a:p>
          <a:p>
            <a:pPr>
              <a:lnSpc>
                <a:spcPct val="80000"/>
              </a:lnSpc>
            </a:pPr>
            <a:endParaRPr lang="en-US" sz="1800" b="1" dirty="0">
              <a:latin typeface="Arial" charset="0"/>
            </a:endParaRPr>
          </a:p>
          <a:p>
            <a:pPr>
              <a:lnSpc>
                <a:spcPct val="80000"/>
              </a:lnSpc>
            </a:pPr>
            <a:endParaRPr lang="en-US" sz="1800" b="1" dirty="0">
              <a:latin typeface="Arial" charset="0"/>
            </a:endParaRPr>
          </a:p>
        </p:txBody>
      </p:sp>
      <p:sp>
        <p:nvSpPr>
          <p:cNvPr id="244740" name="Rectangle 4"/>
          <p:cNvSpPr>
            <a:spLocks noChangeArrowheads="1"/>
          </p:cNvSpPr>
          <p:nvPr/>
        </p:nvSpPr>
        <p:spPr bwMode="auto">
          <a:xfrm>
            <a:off x="8640763" y="6400800"/>
            <a:ext cx="503237" cy="457200"/>
          </a:xfrm>
          <a:prstGeom prst="rect">
            <a:avLst/>
          </a:prstGeom>
          <a:noFill/>
          <a:ln w="9525">
            <a:noFill/>
            <a:miter lim="800000"/>
            <a:headEnd/>
            <a:tailEnd/>
          </a:ln>
          <a:effectLst/>
        </p:spPr>
        <p:txBody>
          <a:bodyPr wrap="none">
            <a:spAutoFit/>
          </a:bodyPr>
          <a:lstStyle/>
          <a:p>
            <a:pPr>
              <a:spcBef>
                <a:spcPct val="50000"/>
              </a:spcBef>
              <a:buFont typeface="Wingdings" pitchFamily="2" charset="2"/>
              <a:buChar char="Ø"/>
            </a:pPr>
            <a:r>
              <a:rPr lang="en-US"/>
              <a:t> </a:t>
            </a:r>
          </a:p>
        </p:txBody>
      </p:sp>
      <p:sp>
        <p:nvSpPr>
          <p:cNvPr id="244741" name="Rectangle 5"/>
          <p:cNvSpPr>
            <a:spLocks noChangeArrowheads="1"/>
          </p:cNvSpPr>
          <p:nvPr/>
        </p:nvSpPr>
        <p:spPr bwMode="auto">
          <a:xfrm>
            <a:off x="609600" y="685800"/>
            <a:ext cx="7924800" cy="914400"/>
          </a:xfrm>
          <a:prstGeom prst="rect">
            <a:avLst/>
          </a:prstGeom>
          <a:noFill/>
          <a:ln w="9525">
            <a:noFill/>
            <a:miter lim="800000"/>
            <a:headEnd/>
            <a:tailEnd/>
          </a:ln>
          <a:effectLst/>
        </p:spPr>
        <p:txBody>
          <a:bodyPr/>
          <a:lstStyle/>
          <a:p>
            <a:pPr marL="342900" indent="-342900" algn="just">
              <a:lnSpc>
                <a:spcPct val="80000"/>
              </a:lnSpc>
              <a:spcBef>
                <a:spcPct val="20000"/>
              </a:spcBef>
              <a:buFontTx/>
              <a:buChar char="•"/>
            </a:pPr>
            <a:r>
              <a:rPr lang="en-US" sz="2000" b="1" dirty="0">
                <a:latin typeface="Arial" charset="0"/>
              </a:rPr>
              <a:t>An ideal </a:t>
            </a:r>
            <a:r>
              <a:rPr lang="en-US" sz="2000" b="1" i="1" dirty="0">
                <a:solidFill>
                  <a:schemeClr val="accent2"/>
                </a:solidFill>
                <a:latin typeface="Arial" charset="0"/>
              </a:rPr>
              <a:t>dependent (or controlled) source </a:t>
            </a:r>
            <a:r>
              <a:rPr lang="en-US" sz="2000" b="1" dirty="0">
                <a:latin typeface="Arial" charset="0"/>
              </a:rPr>
              <a:t>is an active element in which the source quantity is controlled by </a:t>
            </a:r>
            <a:r>
              <a:rPr lang="en-US" sz="2000" b="1" i="1" dirty="0">
                <a:solidFill>
                  <a:srgbClr val="FF0000"/>
                </a:solidFill>
                <a:latin typeface="Arial" charset="0"/>
              </a:rPr>
              <a:t>another voltage or current </a:t>
            </a:r>
            <a:r>
              <a:rPr lang="en-US" sz="2000" b="1" dirty="0">
                <a:latin typeface="Arial" charset="0"/>
              </a:rPr>
              <a:t>existing in the circuit being analyzed. </a:t>
            </a:r>
          </a:p>
        </p:txBody>
      </p:sp>
      <p:grpSp>
        <p:nvGrpSpPr>
          <p:cNvPr id="2" name="Group 6"/>
          <p:cNvGrpSpPr>
            <a:grpSpLocks/>
          </p:cNvGrpSpPr>
          <p:nvPr/>
        </p:nvGrpSpPr>
        <p:grpSpPr bwMode="auto">
          <a:xfrm>
            <a:off x="5486400" y="3352800"/>
            <a:ext cx="2895599" cy="1450975"/>
            <a:chOff x="3456" y="2494"/>
            <a:chExt cx="1824" cy="914"/>
          </a:xfrm>
        </p:grpSpPr>
        <p:sp>
          <p:nvSpPr>
            <p:cNvPr id="244743" name="Line 7"/>
            <p:cNvSpPr>
              <a:spLocks noChangeShapeType="1"/>
            </p:cNvSpPr>
            <p:nvPr/>
          </p:nvSpPr>
          <p:spPr bwMode="auto">
            <a:xfrm>
              <a:off x="3935" y="3130"/>
              <a:ext cx="0" cy="261"/>
            </a:xfrm>
            <a:prstGeom prst="line">
              <a:avLst/>
            </a:prstGeom>
            <a:noFill/>
            <a:ln w="9525">
              <a:solidFill>
                <a:schemeClr val="tx1"/>
              </a:solidFill>
              <a:round/>
              <a:headEnd/>
              <a:tailEnd/>
            </a:ln>
            <a:effectLst/>
          </p:spPr>
          <p:txBody>
            <a:bodyPr/>
            <a:lstStyle/>
            <a:p>
              <a:endParaRPr lang="en-US"/>
            </a:p>
          </p:txBody>
        </p:sp>
        <p:sp>
          <p:nvSpPr>
            <p:cNvPr id="244744" name="Line 8"/>
            <p:cNvSpPr>
              <a:spLocks noChangeShapeType="1"/>
            </p:cNvSpPr>
            <p:nvPr/>
          </p:nvSpPr>
          <p:spPr bwMode="auto">
            <a:xfrm flipV="1">
              <a:off x="3935" y="2526"/>
              <a:ext cx="0" cy="298"/>
            </a:xfrm>
            <a:prstGeom prst="line">
              <a:avLst/>
            </a:prstGeom>
            <a:noFill/>
            <a:ln w="9525">
              <a:solidFill>
                <a:schemeClr val="tx1"/>
              </a:solidFill>
              <a:round/>
              <a:headEnd/>
              <a:tailEnd/>
            </a:ln>
            <a:effectLst/>
          </p:spPr>
          <p:txBody>
            <a:bodyPr/>
            <a:lstStyle/>
            <a:p>
              <a:endParaRPr lang="en-US"/>
            </a:p>
          </p:txBody>
        </p:sp>
        <p:sp>
          <p:nvSpPr>
            <p:cNvPr id="244745" name="Line 9"/>
            <p:cNvSpPr>
              <a:spLocks noChangeShapeType="1"/>
            </p:cNvSpPr>
            <p:nvPr/>
          </p:nvSpPr>
          <p:spPr bwMode="auto">
            <a:xfrm>
              <a:off x="3940" y="2521"/>
              <a:ext cx="399" cy="0"/>
            </a:xfrm>
            <a:prstGeom prst="line">
              <a:avLst/>
            </a:prstGeom>
            <a:noFill/>
            <a:ln w="9525">
              <a:solidFill>
                <a:schemeClr val="tx1"/>
              </a:solidFill>
              <a:round/>
              <a:headEnd/>
              <a:tailEnd/>
            </a:ln>
            <a:effectLst/>
          </p:spPr>
          <p:txBody>
            <a:bodyPr/>
            <a:lstStyle/>
            <a:p>
              <a:endParaRPr lang="en-US"/>
            </a:p>
          </p:txBody>
        </p:sp>
        <p:sp>
          <p:nvSpPr>
            <p:cNvPr id="244746" name="Line 10"/>
            <p:cNvSpPr>
              <a:spLocks noChangeShapeType="1"/>
            </p:cNvSpPr>
            <p:nvPr/>
          </p:nvSpPr>
          <p:spPr bwMode="auto">
            <a:xfrm>
              <a:off x="3935" y="3391"/>
              <a:ext cx="439" cy="0"/>
            </a:xfrm>
            <a:prstGeom prst="line">
              <a:avLst/>
            </a:prstGeom>
            <a:noFill/>
            <a:ln w="9525">
              <a:solidFill>
                <a:schemeClr val="tx1"/>
              </a:solidFill>
              <a:round/>
              <a:headEnd/>
              <a:tailEnd/>
            </a:ln>
            <a:effectLst/>
          </p:spPr>
          <p:txBody>
            <a:bodyPr/>
            <a:lstStyle/>
            <a:p>
              <a:endParaRPr lang="en-US"/>
            </a:p>
          </p:txBody>
        </p:sp>
        <p:sp>
          <p:nvSpPr>
            <p:cNvPr id="244747" name="Text Box 11"/>
            <p:cNvSpPr txBox="1">
              <a:spLocks noChangeArrowheads="1"/>
            </p:cNvSpPr>
            <p:nvPr/>
          </p:nvSpPr>
          <p:spPr bwMode="auto">
            <a:xfrm>
              <a:off x="3456" y="2806"/>
              <a:ext cx="385" cy="291"/>
            </a:xfrm>
            <a:prstGeom prst="rect">
              <a:avLst/>
            </a:prstGeom>
            <a:noFill/>
            <a:ln w="9525">
              <a:noFill/>
              <a:miter lim="800000"/>
              <a:headEnd/>
              <a:tailEnd/>
            </a:ln>
            <a:effectLst/>
          </p:spPr>
          <p:txBody>
            <a:bodyPr wrap="square">
              <a:spAutoFit/>
            </a:bodyPr>
            <a:lstStyle/>
            <a:p>
              <a:pPr>
                <a:spcBef>
                  <a:spcPct val="50000"/>
                </a:spcBef>
              </a:pPr>
              <a:r>
                <a:rPr lang="en-US" dirty="0" err="1"/>
                <a:t>kv</a:t>
              </a:r>
              <a:r>
                <a:rPr lang="en-US" baseline="-25000" dirty="0" err="1"/>
                <a:t>x</a:t>
              </a:r>
              <a:endParaRPr lang="en-US" baseline="-25000" dirty="0"/>
            </a:p>
          </p:txBody>
        </p:sp>
        <p:sp>
          <p:nvSpPr>
            <p:cNvPr id="244748" name="Text Box 12"/>
            <p:cNvSpPr txBox="1">
              <a:spLocks noChangeArrowheads="1"/>
            </p:cNvSpPr>
            <p:nvPr/>
          </p:nvSpPr>
          <p:spPr bwMode="auto">
            <a:xfrm>
              <a:off x="3839" y="2796"/>
              <a:ext cx="148" cy="231"/>
            </a:xfrm>
            <a:prstGeom prst="rect">
              <a:avLst/>
            </a:prstGeom>
            <a:noFill/>
            <a:ln w="9525">
              <a:noFill/>
              <a:miter lim="800000"/>
              <a:headEnd/>
              <a:tailEnd/>
            </a:ln>
            <a:effectLst/>
          </p:spPr>
          <p:txBody>
            <a:bodyPr>
              <a:spAutoFit/>
            </a:bodyPr>
            <a:lstStyle/>
            <a:p>
              <a:pPr>
                <a:spcBef>
                  <a:spcPct val="50000"/>
                </a:spcBef>
              </a:pPr>
              <a:r>
                <a:rPr lang="en-US" sz="1800" b="1"/>
                <a:t>+</a:t>
              </a:r>
            </a:p>
          </p:txBody>
        </p:sp>
        <p:sp>
          <p:nvSpPr>
            <p:cNvPr id="244749" name="Text Box 13"/>
            <p:cNvSpPr txBox="1">
              <a:spLocks noChangeArrowheads="1"/>
            </p:cNvSpPr>
            <p:nvPr/>
          </p:nvSpPr>
          <p:spPr bwMode="auto">
            <a:xfrm>
              <a:off x="3844" y="2878"/>
              <a:ext cx="148" cy="231"/>
            </a:xfrm>
            <a:prstGeom prst="rect">
              <a:avLst/>
            </a:prstGeom>
            <a:noFill/>
            <a:ln w="9525">
              <a:noFill/>
              <a:miter lim="800000"/>
              <a:headEnd/>
              <a:tailEnd/>
            </a:ln>
            <a:effectLst/>
          </p:spPr>
          <p:txBody>
            <a:bodyPr>
              <a:spAutoFit/>
            </a:bodyPr>
            <a:lstStyle/>
            <a:p>
              <a:pPr>
                <a:spcBef>
                  <a:spcPct val="50000"/>
                </a:spcBef>
              </a:pPr>
              <a:r>
                <a:rPr lang="en-US" sz="1800" b="1"/>
                <a:t>_</a:t>
              </a:r>
            </a:p>
          </p:txBody>
        </p:sp>
        <p:sp>
          <p:nvSpPr>
            <p:cNvPr id="244750" name="Oval 14"/>
            <p:cNvSpPr>
              <a:spLocks noChangeArrowheads="1"/>
            </p:cNvSpPr>
            <p:nvPr/>
          </p:nvSpPr>
          <p:spPr bwMode="auto">
            <a:xfrm>
              <a:off x="4334" y="2494"/>
              <a:ext cx="40" cy="37"/>
            </a:xfrm>
            <a:prstGeom prst="ellipse">
              <a:avLst/>
            </a:prstGeom>
            <a:solidFill>
              <a:schemeClr val="tx2"/>
            </a:solidFill>
            <a:ln w="9525">
              <a:solidFill>
                <a:schemeClr val="tx1"/>
              </a:solidFill>
              <a:round/>
              <a:headEnd/>
              <a:tailEnd/>
            </a:ln>
            <a:effectLst/>
          </p:spPr>
          <p:txBody>
            <a:bodyPr wrap="none" anchor="ctr"/>
            <a:lstStyle/>
            <a:p>
              <a:endParaRPr lang="en-US"/>
            </a:p>
          </p:txBody>
        </p:sp>
        <p:sp>
          <p:nvSpPr>
            <p:cNvPr id="244751" name="Oval 15"/>
            <p:cNvSpPr>
              <a:spLocks noChangeArrowheads="1"/>
            </p:cNvSpPr>
            <p:nvPr/>
          </p:nvSpPr>
          <p:spPr bwMode="auto">
            <a:xfrm>
              <a:off x="4376" y="3370"/>
              <a:ext cx="40" cy="37"/>
            </a:xfrm>
            <a:prstGeom prst="ellipse">
              <a:avLst/>
            </a:prstGeom>
            <a:solidFill>
              <a:schemeClr val="tx2"/>
            </a:solidFill>
            <a:ln w="9525">
              <a:solidFill>
                <a:schemeClr val="tx1"/>
              </a:solidFill>
              <a:round/>
              <a:headEnd/>
              <a:tailEnd/>
            </a:ln>
            <a:effectLst/>
          </p:spPr>
          <p:txBody>
            <a:bodyPr wrap="none" anchor="ctr"/>
            <a:lstStyle/>
            <a:p>
              <a:endParaRPr lang="en-US"/>
            </a:p>
          </p:txBody>
        </p:sp>
        <p:sp>
          <p:nvSpPr>
            <p:cNvPr id="244752" name="AutoShape 16"/>
            <p:cNvSpPr>
              <a:spLocks noChangeArrowheads="1"/>
            </p:cNvSpPr>
            <p:nvPr/>
          </p:nvSpPr>
          <p:spPr bwMode="auto">
            <a:xfrm>
              <a:off x="3766" y="2809"/>
              <a:ext cx="336" cy="327"/>
            </a:xfrm>
            <a:prstGeom prst="diamond">
              <a:avLst/>
            </a:prstGeom>
            <a:noFill/>
            <a:ln w="9525">
              <a:solidFill>
                <a:schemeClr val="tx1"/>
              </a:solidFill>
              <a:miter lim="800000"/>
              <a:headEnd/>
              <a:tailEnd/>
            </a:ln>
            <a:effectLst/>
          </p:spPr>
          <p:txBody>
            <a:bodyPr wrap="none" anchor="ctr"/>
            <a:lstStyle/>
            <a:p>
              <a:endParaRPr lang="en-US"/>
            </a:p>
          </p:txBody>
        </p:sp>
        <p:sp>
          <p:nvSpPr>
            <p:cNvPr id="244753" name="Line 17"/>
            <p:cNvSpPr>
              <a:spLocks noChangeShapeType="1"/>
            </p:cNvSpPr>
            <p:nvPr/>
          </p:nvSpPr>
          <p:spPr bwMode="auto">
            <a:xfrm>
              <a:off x="4799" y="3131"/>
              <a:ext cx="0" cy="261"/>
            </a:xfrm>
            <a:prstGeom prst="line">
              <a:avLst/>
            </a:prstGeom>
            <a:noFill/>
            <a:ln w="9525">
              <a:solidFill>
                <a:schemeClr val="tx1"/>
              </a:solidFill>
              <a:round/>
              <a:headEnd/>
              <a:tailEnd/>
            </a:ln>
            <a:effectLst/>
          </p:spPr>
          <p:txBody>
            <a:bodyPr/>
            <a:lstStyle/>
            <a:p>
              <a:endParaRPr lang="en-US"/>
            </a:p>
          </p:txBody>
        </p:sp>
        <p:sp>
          <p:nvSpPr>
            <p:cNvPr id="244754" name="Line 18"/>
            <p:cNvSpPr>
              <a:spLocks noChangeShapeType="1"/>
            </p:cNvSpPr>
            <p:nvPr/>
          </p:nvSpPr>
          <p:spPr bwMode="auto">
            <a:xfrm flipV="1">
              <a:off x="4799" y="2527"/>
              <a:ext cx="0" cy="298"/>
            </a:xfrm>
            <a:prstGeom prst="line">
              <a:avLst/>
            </a:prstGeom>
            <a:noFill/>
            <a:ln w="9525">
              <a:solidFill>
                <a:schemeClr val="tx1"/>
              </a:solidFill>
              <a:round/>
              <a:headEnd/>
              <a:tailEnd/>
            </a:ln>
            <a:effectLst/>
          </p:spPr>
          <p:txBody>
            <a:bodyPr/>
            <a:lstStyle/>
            <a:p>
              <a:endParaRPr lang="en-US"/>
            </a:p>
          </p:txBody>
        </p:sp>
        <p:sp>
          <p:nvSpPr>
            <p:cNvPr id="244755" name="Line 19"/>
            <p:cNvSpPr>
              <a:spLocks noChangeShapeType="1"/>
            </p:cNvSpPr>
            <p:nvPr/>
          </p:nvSpPr>
          <p:spPr bwMode="auto">
            <a:xfrm>
              <a:off x="4813" y="2522"/>
              <a:ext cx="399" cy="0"/>
            </a:xfrm>
            <a:prstGeom prst="line">
              <a:avLst/>
            </a:prstGeom>
            <a:noFill/>
            <a:ln w="9525">
              <a:solidFill>
                <a:schemeClr val="tx1"/>
              </a:solidFill>
              <a:round/>
              <a:headEnd/>
              <a:tailEnd/>
            </a:ln>
            <a:effectLst/>
          </p:spPr>
          <p:txBody>
            <a:bodyPr/>
            <a:lstStyle/>
            <a:p>
              <a:endParaRPr lang="en-US"/>
            </a:p>
          </p:txBody>
        </p:sp>
        <p:sp>
          <p:nvSpPr>
            <p:cNvPr id="244756" name="Line 20"/>
            <p:cNvSpPr>
              <a:spLocks noChangeShapeType="1"/>
            </p:cNvSpPr>
            <p:nvPr/>
          </p:nvSpPr>
          <p:spPr bwMode="auto">
            <a:xfrm>
              <a:off x="4799" y="3392"/>
              <a:ext cx="439" cy="0"/>
            </a:xfrm>
            <a:prstGeom prst="line">
              <a:avLst/>
            </a:prstGeom>
            <a:noFill/>
            <a:ln w="9525">
              <a:solidFill>
                <a:schemeClr val="tx1"/>
              </a:solidFill>
              <a:round/>
              <a:headEnd/>
              <a:tailEnd/>
            </a:ln>
            <a:effectLst/>
          </p:spPr>
          <p:txBody>
            <a:bodyPr/>
            <a:lstStyle/>
            <a:p>
              <a:endParaRPr lang="en-US"/>
            </a:p>
          </p:txBody>
        </p:sp>
        <p:sp>
          <p:nvSpPr>
            <p:cNvPr id="244757" name="Text Box 21"/>
            <p:cNvSpPr txBox="1">
              <a:spLocks noChangeArrowheads="1"/>
            </p:cNvSpPr>
            <p:nvPr/>
          </p:nvSpPr>
          <p:spPr bwMode="auto">
            <a:xfrm>
              <a:off x="4392" y="2805"/>
              <a:ext cx="408" cy="288"/>
            </a:xfrm>
            <a:prstGeom prst="rect">
              <a:avLst/>
            </a:prstGeom>
            <a:noFill/>
            <a:ln w="9525">
              <a:noFill/>
              <a:miter lim="800000"/>
              <a:headEnd/>
              <a:tailEnd/>
            </a:ln>
            <a:effectLst/>
          </p:spPr>
          <p:txBody>
            <a:bodyPr>
              <a:spAutoFit/>
            </a:bodyPr>
            <a:lstStyle/>
            <a:p>
              <a:pPr>
                <a:spcBef>
                  <a:spcPct val="50000"/>
                </a:spcBef>
              </a:pPr>
              <a:r>
                <a:rPr lang="en-US" dirty="0" err="1"/>
                <a:t>ri</a:t>
              </a:r>
              <a:r>
                <a:rPr lang="en-US" baseline="-25000" dirty="0" err="1"/>
                <a:t>x</a:t>
              </a:r>
              <a:endParaRPr lang="en-US" baseline="-25000" dirty="0"/>
            </a:p>
          </p:txBody>
        </p:sp>
        <p:sp>
          <p:nvSpPr>
            <p:cNvPr id="244758" name="Text Box 22"/>
            <p:cNvSpPr txBox="1">
              <a:spLocks noChangeArrowheads="1"/>
            </p:cNvSpPr>
            <p:nvPr/>
          </p:nvSpPr>
          <p:spPr bwMode="auto">
            <a:xfrm>
              <a:off x="4703" y="2797"/>
              <a:ext cx="148" cy="231"/>
            </a:xfrm>
            <a:prstGeom prst="rect">
              <a:avLst/>
            </a:prstGeom>
            <a:noFill/>
            <a:ln w="9525">
              <a:noFill/>
              <a:miter lim="800000"/>
              <a:headEnd/>
              <a:tailEnd/>
            </a:ln>
            <a:effectLst/>
          </p:spPr>
          <p:txBody>
            <a:bodyPr>
              <a:spAutoFit/>
            </a:bodyPr>
            <a:lstStyle/>
            <a:p>
              <a:pPr>
                <a:spcBef>
                  <a:spcPct val="50000"/>
                </a:spcBef>
              </a:pPr>
              <a:r>
                <a:rPr lang="en-US" sz="1800" b="1"/>
                <a:t>+</a:t>
              </a:r>
            </a:p>
          </p:txBody>
        </p:sp>
        <p:sp>
          <p:nvSpPr>
            <p:cNvPr id="244759" name="Text Box 23"/>
            <p:cNvSpPr txBox="1">
              <a:spLocks noChangeArrowheads="1"/>
            </p:cNvSpPr>
            <p:nvPr/>
          </p:nvSpPr>
          <p:spPr bwMode="auto">
            <a:xfrm>
              <a:off x="4708" y="2879"/>
              <a:ext cx="148" cy="231"/>
            </a:xfrm>
            <a:prstGeom prst="rect">
              <a:avLst/>
            </a:prstGeom>
            <a:noFill/>
            <a:ln w="9525">
              <a:noFill/>
              <a:miter lim="800000"/>
              <a:headEnd/>
              <a:tailEnd/>
            </a:ln>
            <a:effectLst/>
          </p:spPr>
          <p:txBody>
            <a:bodyPr>
              <a:spAutoFit/>
            </a:bodyPr>
            <a:lstStyle/>
            <a:p>
              <a:pPr>
                <a:spcBef>
                  <a:spcPct val="50000"/>
                </a:spcBef>
              </a:pPr>
              <a:r>
                <a:rPr lang="en-US" sz="1800" b="1"/>
                <a:t>_</a:t>
              </a:r>
            </a:p>
          </p:txBody>
        </p:sp>
        <p:sp>
          <p:nvSpPr>
            <p:cNvPr id="244760" name="Oval 24"/>
            <p:cNvSpPr>
              <a:spLocks noChangeArrowheads="1"/>
            </p:cNvSpPr>
            <p:nvPr/>
          </p:nvSpPr>
          <p:spPr bwMode="auto">
            <a:xfrm>
              <a:off x="5198" y="2495"/>
              <a:ext cx="40" cy="37"/>
            </a:xfrm>
            <a:prstGeom prst="ellipse">
              <a:avLst/>
            </a:prstGeom>
            <a:solidFill>
              <a:schemeClr val="tx2"/>
            </a:solidFill>
            <a:ln w="9525">
              <a:solidFill>
                <a:schemeClr val="tx1"/>
              </a:solidFill>
              <a:round/>
              <a:headEnd/>
              <a:tailEnd/>
            </a:ln>
            <a:effectLst/>
          </p:spPr>
          <p:txBody>
            <a:bodyPr wrap="none" anchor="ctr"/>
            <a:lstStyle/>
            <a:p>
              <a:endParaRPr lang="en-US"/>
            </a:p>
          </p:txBody>
        </p:sp>
        <p:sp>
          <p:nvSpPr>
            <p:cNvPr id="244761" name="Oval 25"/>
            <p:cNvSpPr>
              <a:spLocks noChangeArrowheads="1"/>
            </p:cNvSpPr>
            <p:nvPr/>
          </p:nvSpPr>
          <p:spPr bwMode="auto">
            <a:xfrm>
              <a:off x="5240" y="3371"/>
              <a:ext cx="40" cy="37"/>
            </a:xfrm>
            <a:prstGeom prst="ellipse">
              <a:avLst/>
            </a:prstGeom>
            <a:solidFill>
              <a:schemeClr val="tx2"/>
            </a:solidFill>
            <a:ln w="9525">
              <a:solidFill>
                <a:schemeClr val="tx1"/>
              </a:solidFill>
              <a:round/>
              <a:headEnd/>
              <a:tailEnd/>
            </a:ln>
            <a:effectLst/>
          </p:spPr>
          <p:txBody>
            <a:bodyPr wrap="none" anchor="ctr"/>
            <a:lstStyle/>
            <a:p>
              <a:endParaRPr lang="en-US"/>
            </a:p>
          </p:txBody>
        </p:sp>
        <p:sp>
          <p:nvSpPr>
            <p:cNvPr id="244762" name="AutoShape 26"/>
            <p:cNvSpPr>
              <a:spLocks noChangeArrowheads="1"/>
            </p:cNvSpPr>
            <p:nvPr/>
          </p:nvSpPr>
          <p:spPr bwMode="auto">
            <a:xfrm>
              <a:off x="4630" y="2810"/>
              <a:ext cx="336" cy="327"/>
            </a:xfrm>
            <a:prstGeom prst="diamond">
              <a:avLst/>
            </a:prstGeom>
            <a:noFill/>
            <a:ln w="9525">
              <a:solidFill>
                <a:schemeClr val="tx1"/>
              </a:solidFill>
              <a:miter lim="800000"/>
              <a:headEnd/>
              <a:tailEnd/>
            </a:ln>
            <a:effectLst/>
          </p:spPr>
          <p:txBody>
            <a:bodyPr wrap="none" anchor="ctr"/>
            <a:lstStyle/>
            <a:p>
              <a:endParaRPr lang="en-US"/>
            </a:p>
          </p:txBody>
        </p:sp>
      </p:grpSp>
      <p:sp>
        <p:nvSpPr>
          <p:cNvPr id="244763" name="Rectangle 27"/>
          <p:cNvSpPr>
            <a:spLocks noChangeArrowheads="1"/>
          </p:cNvSpPr>
          <p:nvPr/>
        </p:nvSpPr>
        <p:spPr bwMode="auto">
          <a:xfrm>
            <a:off x="609600" y="1828800"/>
            <a:ext cx="7239000" cy="1295400"/>
          </a:xfrm>
          <a:prstGeom prst="rect">
            <a:avLst/>
          </a:prstGeom>
          <a:noFill/>
          <a:ln w="9525">
            <a:noFill/>
            <a:miter lim="800000"/>
            <a:headEnd/>
            <a:tailEnd/>
          </a:ln>
          <a:effectLst/>
        </p:spPr>
        <p:txBody>
          <a:bodyPr/>
          <a:lstStyle/>
          <a:p>
            <a:pPr marL="342900" indent="-342900" algn="just">
              <a:lnSpc>
                <a:spcPct val="80000"/>
              </a:lnSpc>
              <a:spcBef>
                <a:spcPct val="20000"/>
              </a:spcBef>
              <a:buFontTx/>
              <a:buChar char="•"/>
            </a:pPr>
            <a:r>
              <a:rPr lang="en-US" sz="1800" b="1" dirty="0">
                <a:latin typeface="Arial" charset="0"/>
              </a:rPr>
              <a:t>There are </a:t>
            </a:r>
            <a:r>
              <a:rPr lang="en-US" sz="1800" b="1" i="1" dirty="0">
                <a:solidFill>
                  <a:srgbClr val="FF0000"/>
                </a:solidFill>
                <a:latin typeface="Arial" charset="0"/>
              </a:rPr>
              <a:t>four types of dependent sources </a:t>
            </a:r>
            <a:r>
              <a:rPr lang="en-US" sz="1800" b="1" dirty="0">
                <a:latin typeface="Arial" charset="0"/>
              </a:rPr>
              <a:t>:-</a:t>
            </a:r>
          </a:p>
          <a:p>
            <a:pPr marL="742950" lvl="1" indent="-285750" algn="just">
              <a:lnSpc>
                <a:spcPct val="80000"/>
              </a:lnSpc>
              <a:spcBef>
                <a:spcPct val="20000"/>
              </a:spcBef>
              <a:buFontTx/>
              <a:buChar char="–"/>
            </a:pPr>
            <a:r>
              <a:rPr lang="en-US" sz="1800" b="1" dirty="0">
                <a:latin typeface="Arial" charset="0"/>
              </a:rPr>
              <a:t>A </a:t>
            </a:r>
            <a:r>
              <a:rPr lang="en-US" sz="1800" b="1" i="1" dirty="0">
                <a:solidFill>
                  <a:schemeClr val="accent2"/>
                </a:solidFill>
                <a:latin typeface="Arial" charset="0"/>
              </a:rPr>
              <a:t>voltage</a:t>
            </a:r>
            <a:r>
              <a:rPr lang="en-US" sz="1800" b="1" dirty="0">
                <a:latin typeface="Arial" charset="0"/>
              </a:rPr>
              <a:t> controlled </a:t>
            </a:r>
            <a:r>
              <a:rPr lang="en-US" sz="1800" b="1" i="1" dirty="0">
                <a:solidFill>
                  <a:schemeClr val="accent2"/>
                </a:solidFill>
                <a:latin typeface="Arial" charset="0"/>
              </a:rPr>
              <a:t>voltage</a:t>
            </a:r>
            <a:r>
              <a:rPr lang="en-US" sz="1800" b="1" dirty="0">
                <a:latin typeface="Arial" charset="0"/>
              </a:rPr>
              <a:t> source.</a:t>
            </a:r>
          </a:p>
          <a:p>
            <a:pPr marL="742950" lvl="1" indent="-285750" algn="just">
              <a:lnSpc>
                <a:spcPct val="80000"/>
              </a:lnSpc>
              <a:spcBef>
                <a:spcPct val="20000"/>
              </a:spcBef>
              <a:buFontTx/>
              <a:buChar char="–"/>
            </a:pPr>
            <a:r>
              <a:rPr lang="en-US" sz="1800" b="1" dirty="0">
                <a:latin typeface="Arial" charset="0"/>
              </a:rPr>
              <a:t>A </a:t>
            </a:r>
            <a:r>
              <a:rPr lang="en-US" sz="1800" b="1" i="1" dirty="0">
                <a:solidFill>
                  <a:schemeClr val="accent2"/>
                </a:solidFill>
                <a:latin typeface="Arial" charset="0"/>
              </a:rPr>
              <a:t>current</a:t>
            </a:r>
            <a:r>
              <a:rPr lang="en-US" sz="1800" b="1" dirty="0">
                <a:latin typeface="Arial" charset="0"/>
              </a:rPr>
              <a:t> controlled </a:t>
            </a:r>
            <a:r>
              <a:rPr lang="en-US" sz="1800" b="1" i="1" dirty="0">
                <a:solidFill>
                  <a:schemeClr val="accent2"/>
                </a:solidFill>
                <a:latin typeface="Arial" charset="0"/>
              </a:rPr>
              <a:t>voltage</a:t>
            </a:r>
            <a:r>
              <a:rPr lang="en-US" sz="1800" b="1" dirty="0">
                <a:latin typeface="Arial" charset="0"/>
              </a:rPr>
              <a:t> source.</a:t>
            </a:r>
          </a:p>
          <a:p>
            <a:pPr marL="742950" lvl="1" indent="-285750" algn="just">
              <a:lnSpc>
                <a:spcPct val="80000"/>
              </a:lnSpc>
              <a:spcBef>
                <a:spcPct val="20000"/>
              </a:spcBef>
              <a:buFontTx/>
              <a:buChar char="–"/>
            </a:pPr>
            <a:r>
              <a:rPr lang="en-US" sz="1800" b="1" dirty="0">
                <a:latin typeface="Arial" charset="0"/>
              </a:rPr>
              <a:t>A </a:t>
            </a:r>
            <a:r>
              <a:rPr lang="en-US" sz="1800" b="1" i="1" dirty="0">
                <a:solidFill>
                  <a:srgbClr val="FF0000"/>
                </a:solidFill>
                <a:latin typeface="Arial" charset="0"/>
              </a:rPr>
              <a:t>volta</a:t>
            </a:r>
            <a:r>
              <a:rPr lang="en-US" sz="1800" b="1" dirty="0">
                <a:solidFill>
                  <a:srgbClr val="FF0000"/>
                </a:solidFill>
                <a:latin typeface="Arial" charset="0"/>
              </a:rPr>
              <a:t>ge</a:t>
            </a:r>
            <a:r>
              <a:rPr lang="en-US" sz="1800" b="1" dirty="0">
                <a:latin typeface="Arial" charset="0"/>
              </a:rPr>
              <a:t> controlled </a:t>
            </a:r>
            <a:r>
              <a:rPr lang="en-US" sz="1800" b="1" i="1" dirty="0">
                <a:solidFill>
                  <a:srgbClr val="FF0000"/>
                </a:solidFill>
                <a:latin typeface="Arial" charset="0"/>
              </a:rPr>
              <a:t>current</a:t>
            </a:r>
            <a:r>
              <a:rPr lang="en-US" sz="1800" b="1" dirty="0">
                <a:latin typeface="Arial" charset="0"/>
              </a:rPr>
              <a:t> source.</a:t>
            </a:r>
          </a:p>
          <a:p>
            <a:pPr marL="742950" lvl="1" indent="-285750" algn="just">
              <a:lnSpc>
                <a:spcPct val="80000"/>
              </a:lnSpc>
              <a:spcBef>
                <a:spcPct val="20000"/>
              </a:spcBef>
              <a:buFontTx/>
              <a:buChar char="–"/>
            </a:pPr>
            <a:r>
              <a:rPr lang="en-US" sz="1800" b="1" dirty="0">
                <a:latin typeface="Arial" charset="0"/>
              </a:rPr>
              <a:t>A </a:t>
            </a:r>
            <a:r>
              <a:rPr lang="en-US" sz="1800" b="1" i="1" dirty="0">
                <a:solidFill>
                  <a:srgbClr val="FF0000"/>
                </a:solidFill>
                <a:latin typeface="Arial" charset="0"/>
              </a:rPr>
              <a:t>current</a:t>
            </a:r>
            <a:r>
              <a:rPr lang="en-US" sz="1800" b="1" dirty="0">
                <a:latin typeface="Arial" charset="0"/>
              </a:rPr>
              <a:t> controlled </a:t>
            </a:r>
            <a:r>
              <a:rPr lang="en-US" sz="1800" b="1" i="1" dirty="0">
                <a:solidFill>
                  <a:srgbClr val="FF0000"/>
                </a:solidFill>
                <a:latin typeface="Arial" charset="0"/>
              </a:rPr>
              <a:t>current </a:t>
            </a:r>
            <a:r>
              <a:rPr lang="en-US" sz="1800" b="1" dirty="0">
                <a:latin typeface="Arial" charset="0"/>
              </a:rPr>
              <a:t>source.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244740">
                                            <p:txEl>
                                              <p:pRg st="0" end="0"/>
                                            </p:txEl>
                                          </p:spTgt>
                                        </p:tgtEl>
                                        <p:attrNameLst>
                                          <p:attrName>style.visibility</p:attrName>
                                        </p:attrNameLst>
                                      </p:cBhvr>
                                      <p:to>
                                        <p:strVal val="visible"/>
                                      </p:to>
                                    </p:set>
                                    <p:anim calcmode="lin" valueType="num">
                                      <p:cBhvr additive="base">
                                        <p:cTn id="7" dur="500" fill="hold"/>
                                        <p:tgtEl>
                                          <p:spTgt spid="244740">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44740">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4" name="Slide Number Placeholder 6"/>
          <p:cNvSpPr>
            <a:spLocks noGrp="1"/>
          </p:cNvSpPr>
          <p:nvPr>
            <p:ph type="sldNum" sz="quarter" idx="12"/>
          </p:nvPr>
        </p:nvSpPr>
        <p:spPr/>
        <p:txBody>
          <a:bodyPr/>
          <a:lstStyle/>
          <a:p>
            <a:fld id="{BEC9EE5B-D946-4EC7-A7DB-09493EC14F4E}" type="slidenum">
              <a:rPr lang="en-US" altLang="en-US"/>
              <a:pPr/>
              <a:t>13</a:t>
            </a:fld>
            <a:endParaRPr lang="en-US" altLang="en-US"/>
          </a:p>
        </p:txBody>
      </p:sp>
      <p:sp>
        <p:nvSpPr>
          <p:cNvPr id="245762" name="Rectangle 2"/>
          <p:cNvSpPr>
            <a:spLocks noGrp="1" noChangeArrowheads="1"/>
          </p:cNvSpPr>
          <p:nvPr>
            <p:ph type="title"/>
          </p:nvPr>
        </p:nvSpPr>
        <p:spPr>
          <a:xfrm>
            <a:off x="1766743" y="304800"/>
            <a:ext cx="5562600" cy="381000"/>
          </a:xfrm>
        </p:spPr>
        <p:txBody>
          <a:bodyPr/>
          <a:lstStyle/>
          <a:p>
            <a:r>
              <a:rPr lang="en-US" sz="2800" b="1" u="sng" dirty="0" smtClean="0"/>
              <a:t>Dependent Sources…</a:t>
            </a:r>
            <a:r>
              <a:rPr lang="en-US" sz="2800" b="1" u="sng" dirty="0" err="1" smtClean="0"/>
              <a:t>contd</a:t>
            </a:r>
            <a:endParaRPr lang="en-US" sz="2800" b="1" u="sng" dirty="0"/>
          </a:p>
        </p:txBody>
      </p:sp>
      <p:sp>
        <p:nvSpPr>
          <p:cNvPr id="245763" name="Rectangle 3"/>
          <p:cNvSpPr>
            <a:spLocks noGrp="1" noChangeArrowheads="1"/>
          </p:cNvSpPr>
          <p:nvPr>
            <p:ph type="body" sz="half" idx="1"/>
          </p:nvPr>
        </p:nvSpPr>
        <p:spPr>
          <a:xfrm>
            <a:off x="381000" y="1371600"/>
            <a:ext cx="4419600" cy="4572000"/>
          </a:xfrm>
        </p:spPr>
        <p:txBody>
          <a:bodyPr/>
          <a:lstStyle/>
          <a:p>
            <a:pPr algn="ctr">
              <a:lnSpc>
                <a:spcPct val="80000"/>
              </a:lnSpc>
              <a:buFontTx/>
              <a:buNone/>
            </a:pPr>
            <a:r>
              <a:rPr lang="en-US" sz="2000" b="1" dirty="0">
                <a:latin typeface="Arial" charset="0"/>
              </a:rPr>
              <a:t>The symbols for </a:t>
            </a:r>
            <a:r>
              <a:rPr lang="en-US" sz="2000" b="1" i="1" dirty="0">
                <a:solidFill>
                  <a:schemeClr val="accent2"/>
                </a:solidFill>
                <a:latin typeface="Arial" charset="0"/>
              </a:rPr>
              <a:t>dependent current sources</a:t>
            </a:r>
            <a:r>
              <a:rPr lang="en-US" sz="2000" b="1" dirty="0">
                <a:latin typeface="Arial" charset="0"/>
              </a:rPr>
              <a:t> are</a:t>
            </a:r>
            <a:r>
              <a:rPr lang="en-US" sz="2000" b="1" dirty="0" smtClean="0">
                <a:latin typeface="Arial" charset="0"/>
              </a:rPr>
              <a:t>:-</a:t>
            </a:r>
          </a:p>
          <a:p>
            <a:pPr algn="ctr">
              <a:lnSpc>
                <a:spcPct val="80000"/>
              </a:lnSpc>
              <a:buFontTx/>
              <a:buNone/>
            </a:pPr>
            <a:endParaRPr lang="en-US" sz="2000" b="1" dirty="0">
              <a:latin typeface="Arial" charset="0"/>
            </a:endParaRPr>
          </a:p>
          <a:p>
            <a:pPr>
              <a:lnSpc>
                <a:spcPct val="80000"/>
              </a:lnSpc>
            </a:pPr>
            <a:r>
              <a:rPr lang="en-US" sz="2000" b="1" i="1" dirty="0">
                <a:solidFill>
                  <a:schemeClr val="accent2"/>
                </a:solidFill>
                <a:latin typeface="Arial" charset="0"/>
              </a:rPr>
              <a:t>Current controlled current source has a scaling constant ‘k’ which is a dimensionless scaling constant</a:t>
            </a:r>
            <a:r>
              <a:rPr lang="en-US" sz="2000" b="1" i="1" dirty="0" smtClean="0">
                <a:solidFill>
                  <a:schemeClr val="accent2"/>
                </a:solidFill>
                <a:latin typeface="Arial" charset="0"/>
              </a:rPr>
              <a:t>.</a:t>
            </a:r>
          </a:p>
          <a:p>
            <a:pPr>
              <a:lnSpc>
                <a:spcPct val="80000"/>
              </a:lnSpc>
            </a:pPr>
            <a:endParaRPr lang="en-US" sz="2000" b="1" dirty="0">
              <a:latin typeface="Arial" charset="0"/>
            </a:endParaRPr>
          </a:p>
          <a:p>
            <a:pPr>
              <a:lnSpc>
                <a:spcPct val="80000"/>
              </a:lnSpc>
            </a:pPr>
            <a:r>
              <a:rPr lang="en-US" sz="2000" b="1" i="1" dirty="0">
                <a:solidFill>
                  <a:srgbClr val="FF0000"/>
                </a:solidFill>
                <a:latin typeface="Arial" charset="0"/>
              </a:rPr>
              <a:t>Voltage controlled current source has a scaling constant  ‘g’ which has units of A/V. </a:t>
            </a:r>
          </a:p>
          <a:p>
            <a:pPr>
              <a:lnSpc>
                <a:spcPct val="80000"/>
              </a:lnSpc>
            </a:pPr>
            <a:endParaRPr lang="en-US" sz="2000" b="1" dirty="0">
              <a:latin typeface="Arial" charset="0"/>
            </a:endParaRPr>
          </a:p>
          <a:p>
            <a:pPr>
              <a:lnSpc>
                <a:spcPct val="80000"/>
              </a:lnSpc>
            </a:pPr>
            <a:endParaRPr lang="en-US" sz="2000" b="1" dirty="0" smtClean="0">
              <a:solidFill>
                <a:srgbClr val="FF0000"/>
              </a:solidFill>
              <a:latin typeface="Arial" charset="0"/>
            </a:endParaRPr>
          </a:p>
          <a:p>
            <a:pPr>
              <a:lnSpc>
                <a:spcPct val="80000"/>
              </a:lnSpc>
            </a:pPr>
            <a:endParaRPr lang="en-US" sz="2000" b="1" dirty="0">
              <a:solidFill>
                <a:srgbClr val="FF0000"/>
              </a:solidFill>
              <a:latin typeface="Arial" charset="0"/>
            </a:endParaRPr>
          </a:p>
          <a:p>
            <a:pPr>
              <a:lnSpc>
                <a:spcPct val="80000"/>
              </a:lnSpc>
            </a:pPr>
            <a:r>
              <a:rPr lang="en-US" sz="2000" b="1" dirty="0" smtClean="0">
                <a:solidFill>
                  <a:srgbClr val="FF0000"/>
                </a:solidFill>
                <a:latin typeface="Arial" charset="0"/>
              </a:rPr>
              <a:t>Example dependent source </a:t>
            </a:r>
            <a:r>
              <a:rPr lang="en-US" sz="2000" b="1" dirty="0">
                <a:solidFill>
                  <a:srgbClr val="FF0000"/>
                </a:solidFill>
                <a:latin typeface="Arial" charset="0"/>
              </a:rPr>
              <a:t>!</a:t>
            </a:r>
          </a:p>
          <a:p>
            <a:pPr>
              <a:lnSpc>
                <a:spcPct val="80000"/>
              </a:lnSpc>
            </a:pPr>
            <a:endParaRPr lang="en-US" sz="1600" b="1" dirty="0">
              <a:latin typeface="Arial" charset="0"/>
            </a:endParaRPr>
          </a:p>
          <a:p>
            <a:pPr>
              <a:lnSpc>
                <a:spcPct val="80000"/>
              </a:lnSpc>
            </a:pPr>
            <a:endParaRPr lang="en-US" sz="1200" b="1" dirty="0">
              <a:latin typeface="Arial" charset="0"/>
            </a:endParaRPr>
          </a:p>
        </p:txBody>
      </p:sp>
      <p:sp>
        <p:nvSpPr>
          <p:cNvPr id="245764" name="Rectangle 4"/>
          <p:cNvSpPr>
            <a:spLocks noChangeArrowheads="1"/>
          </p:cNvSpPr>
          <p:nvPr/>
        </p:nvSpPr>
        <p:spPr bwMode="auto">
          <a:xfrm>
            <a:off x="8640763" y="6400800"/>
            <a:ext cx="503237" cy="457200"/>
          </a:xfrm>
          <a:prstGeom prst="rect">
            <a:avLst/>
          </a:prstGeom>
          <a:noFill/>
          <a:ln w="9525">
            <a:noFill/>
            <a:miter lim="800000"/>
            <a:headEnd/>
            <a:tailEnd/>
          </a:ln>
          <a:effectLst/>
        </p:spPr>
        <p:txBody>
          <a:bodyPr wrap="none">
            <a:spAutoFit/>
          </a:bodyPr>
          <a:lstStyle/>
          <a:p>
            <a:pPr>
              <a:spcBef>
                <a:spcPct val="50000"/>
              </a:spcBef>
              <a:buFont typeface="Wingdings" pitchFamily="2" charset="2"/>
              <a:buChar char="Ø"/>
            </a:pPr>
            <a:r>
              <a:rPr lang="en-US"/>
              <a:t> </a:t>
            </a:r>
          </a:p>
        </p:txBody>
      </p:sp>
      <p:grpSp>
        <p:nvGrpSpPr>
          <p:cNvPr id="2" name="Group 5"/>
          <p:cNvGrpSpPr>
            <a:grpSpLocks/>
          </p:cNvGrpSpPr>
          <p:nvPr/>
        </p:nvGrpSpPr>
        <p:grpSpPr bwMode="auto">
          <a:xfrm>
            <a:off x="5029200" y="1981200"/>
            <a:ext cx="3352801" cy="1450975"/>
            <a:chOff x="3480" y="1726"/>
            <a:chExt cx="1800" cy="914"/>
          </a:xfrm>
        </p:grpSpPr>
        <p:sp>
          <p:nvSpPr>
            <p:cNvPr id="245766" name="Line 6"/>
            <p:cNvSpPr>
              <a:spLocks noChangeShapeType="1"/>
            </p:cNvSpPr>
            <p:nvPr/>
          </p:nvSpPr>
          <p:spPr bwMode="auto">
            <a:xfrm>
              <a:off x="3935" y="2362"/>
              <a:ext cx="0" cy="261"/>
            </a:xfrm>
            <a:prstGeom prst="line">
              <a:avLst/>
            </a:prstGeom>
            <a:noFill/>
            <a:ln w="9525">
              <a:solidFill>
                <a:schemeClr val="tx1"/>
              </a:solidFill>
              <a:round/>
              <a:headEnd/>
              <a:tailEnd/>
            </a:ln>
            <a:effectLst/>
          </p:spPr>
          <p:txBody>
            <a:bodyPr/>
            <a:lstStyle/>
            <a:p>
              <a:endParaRPr lang="en-US"/>
            </a:p>
          </p:txBody>
        </p:sp>
        <p:sp>
          <p:nvSpPr>
            <p:cNvPr id="245767" name="Line 7"/>
            <p:cNvSpPr>
              <a:spLocks noChangeShapeType="1"/>
            </p:cNvSpPr>
            <p:nvPr/>
          </p:nvSpPr>
          <p:spPr bwMode="auto">
            <a:xfrm flipV="1">
              <a:off x="3935" y="1758"/>
              <a:ext cx="0" cy="298"/>
            </a:xfrm>
            <a:prstGeom prst="line">
              <a:avLst/>
            </a:prstGeom>
            <a:noFill/>
            <a:ln w="9525">
              <a:solidFill>
                <a:schemeClr val="tx1"/>
              </a:solidFill>
              <a:round/>
              <a:headEnd/>
              <a:tailEnd/>
            </a:ln>
            <a:effectLst/>
          </p:spPr>
          <p:txBody>
            <a:bodyPr/>
            <a:lstStyle/>
            <a:p>
              <a:endParaRPr lang="en-US"/>
            </a:p>
          </p:txBody>
        </p:sp>
        <p:sp>
          <p:nvSpPr>
            <p:cNvPr id="245768" name="Line 8"/>
            <p:cNvSpPr>
              <a:spLocks noChangeShapeType="1"/>
            </p:cNvSpPr>
            <p:nvPr/>
          </p:nvSpPr>
          <p:spPr bwMode="auto">
            <a:xfrm>
              <a:off x="3940" y="1753"/>
              <a:ext cx="399" cy="0"/>
            </a:xfrm>
            <a:prstGeom prst="line">
              <a:avLst/>
            </a:prstGeom>
            <a:noFill/>
            <a:ln w="9525">
              <a:solidFill>
                <a:schemeClr val="tx1"/>
              </a:solidFill>
              <a:round/>
              <a:headEnd/>
              <a:tailEnd/>
            </a:ln>
            <a:effectLst/>
          </p:spPr>
          <p:txBody>
            <a:bodyPr/>
            <a:lstStyle/>
            <a:p>
              <a:endParaRPr lang="en-US"/>
            </a:p>
          </p:txBody>
        </p:sp>
        <p:sp>
          <p:nvSpPr>
            <p:cNvPr id="245769" name="Line 9"/>
            <p:cNvSpPr>
              <a:spLocks noChangeShapeType="1"/>
            </p:cNvSpPr>
            <p:nvPr/>
          </p:nvSpPr>
          <p:spPr bwMode="auto">
            <a:xfrm>
              <a:off x="3935" y="2623"/>
              <a:ext cx="439" cy="0"/>
            </a:xfrm>
            <a:prstGeom prst="line">
              <a:avLst/>
            </a:prstGeom>
            <a:noFill/>
            <a:ln w="9525">
              <a:solidFill>
                <a:schemeClr val="tx1"/>
              </a:solidFill>
              <a:round/>
              <a:headEnd/>
              <a:tailEnd/>
            </a:ln>
            <a:effectLst/>
          </p:spPr>
          <p:txBody>
            <a:bodyPr/>
            <a:lstStyle/>
            <a:p>
              <a:endParaRPr lang="en-US"/>
            </a:p>
          </p:txBody>
        </p:sp>
        <p:sp>
          <p:nvSpPr>
            <p:cNvPr id="245770" name="Text Box 10"/>
            <p:cNvSpPr txBox="1">
              <a:spLocks noChangeArrowheads="1"/>
            </p:cNvSpPr>
            <p:nvPr/>
          </p:nvSpPr>
          <p:spPr bwMode="auto">
            <a:xfrm>
              <a:off x="3480" y="2038"/>
              <a:ext cx="408" cy="288"/>
            </a:xfrm>
            <a:prstGeom prst="rect">
              <a:avLst/>
            </a:prstGeom>
            <a:noFill/>
            <a:ln w="9525">
              <a:noFill/>
              <a:miter lim="800000"/>
              <a:headEnd/>
              <a:tailEnd/>
            </a:ln>
            <a:effectLst/>
          </p:spPr>
          <p:txBody>
            <a:bodyPr>
              <a:spAutoFit/>
            </a:bodyPr>
            <a:lstStyle/>
            <a:p>
              <a:pPr>
                <a:spcBef>
                  <a:spcPct val="50000"/>
                </a:spcBef>
              </a:pPr>
              <a:r>
                <a:rPr lang="en-US" dirty="0" err="1"/>
                <a:t>ki</a:t>
              </a:r>
              <a:r>
                <a:rPr lang="en-US" baseline="-25000" dirty="0" err="1"/>
                <a:t>x</a:t>
              </a:r>
              <a:endParaRPr lang="en-US" baseline="-25000" dirty="0"/>
            </a:p>
          </p:txBody>
        </p:sp>
        <p:sp>
          <p:nvSpPr>
            <p:cNvPr id="245771" name="Oval 11"/>
            <p:cNvSpPr>
              <a:spLocks noChangeArrowheads="1"/>
            </p:cNvSpPr>
            <p:nvPr/>
          </p:nvSpPr>
          <p:spPr bwMode="auto">
            <a:xfrm>
              <a:off x="4334" y="1726"/>
              <a:ext cx="40" cy="37"/>
            </a:xfrm>
            <a:prstGeom prst="ellipse">
              <a:avLst/>
            </a:prstGeom>
            <a:solidFill>
              <a:schemeClr val="tx2"/>
            </a:solidFill>
            <a:ln w="9525">
              <a:solidFill>
                <a:schemeClr val="tx1"/>
              </a:solidFill>
              <a:round/>
              <a:headEnd/>
              <a:tailEnd/>
            </a:ln>
            <a:effectLst/>
          </p:spPr>
          <p:txBody>
            <a:bodyPr wrap="none" anchor="ctr"/>
            <a:lstStyle/>
            <a:p>
              <a:endParaRPr lang="en-US"/>
            </a:p>
          </p:txBody>
        </p:sp>
        <p:sp>
          <p:nvSpPr>
            <p:cNvPr id="245772" name="Oval 12"/>
            <p:cNvSpPr>
              <a:spLocks noChangeArrowheads="1"/>
            </p:cNvSpPr>
            <p:nvPr/>
          </p:nvSpPr>
          <p:spPr bwMode="auto">
            <a:xfrm>
              <a:off x="4376" y="2602"/>
              <a:ext cx="40" cy="37"/>
            </a:xfrm>
            <a:prstGeom prst="ellipse">
              <a:avLst/>
            </a:prstGeom>
            <a:solidFill>
              <a:schemeClr val="tx2"/>
            </a:solidFill>
            <a:ln w="9525">
              <a:solidFill>
                <a:schemeClr val="tx1"/>
              </a:solidFill>
              <a:round/>
              <a:headEnd/>
              <a:tailEnd/>
            </a:ln>
            <a:effectLst/>
          </p:spPr>
          <p:txBody>
            <a:bodyPr wrap="none" anchor="ctr"/>
            <a:lstStyle/>
            <a:p>
              <a:endParaRPr lang="en-US"/>
            </a:p>
          </p:txBody>
        </p:sp>
        <p:sp>
          <p:nvSpPr>
            <p:cNvPr id="245773" name="AutoShape 13"/>
            <p:cNvSpPr>
              <a:spLocks noChangeArrowheads="1"/>
            </p:cNvSpPr>
            <p:nvPr/>
          </p:nvSpPr>
          <p:spPr bwMode="auto">
            <a:xfrm>
              <a:off x="3766" y="2041"/>
              <a:ext cx="336" cy="327"/>
            </a:xfrm>
            <a:prstGeom prst="diamond">
              <a:avLst/>
            </a:prstGeom>
            <a:noFill/>
            <a:ln w="9525">
              <a:solidFill>
                <a:schemeClr val="tx1"/>
              </a:solidFill>
              <a:miter lim="800000"/>
              <a:headEnd/>
              <a:tailEnd/>
            </a:ln>
            <a:effectLst/>
          </p:spPr>
          <p:txBody>
            <a:bodyPr wrap="none" anchor="ctr"/>
            <a:lstStyle/>
            <a:p>
              <a:endParaRPr lang="en-US"/>
            </a:p>
          </p:txBody>
        </p:sp>
        <p:sp>
          <p:nvSpPr>
            <p:cNvPr id="245774" name="Line 14"/>
            <p:cNvSpPr>
              <a:spLocks noChangeShapeType="1"/>
            </p:cNvSpPr>
            <p:nvPr/>
          </p:nvSpPr>
          <p:spPr bwMode="auto">
            <a:xfrm>
              <a:off x="4799" y="2363"/>
              <a:ext cx="0" cy="261"/>
            </a:xfrm>
            <a:prstGeom prst="line">
              <a:avLst/>
            </a:prstGeom>
            <a:noFill/>
            <a:ln w="9525">
              <a:solidFill>
                <a:schemeClr val="tx1"/>
              </a:solidFill>
              <a:round/>
              <a:headEnd/>
              <a:tailEnd/>
            </a:ln>
            <a:effectLst/>
          </p:spPr>
          <p:txBody>
            <a:bodyPr/>
            <a:lstStyle/>
            <a:p>
              <a:endParaRPr lang="en-US"/>
            </a:p>
          </p:txBody>
        </p:sp>
        <p:sp>
          <p:nvSpPr>
            <p:cNvPr id="245775" name="Line 15"/>
            <p:cNvSpPr>
              <a:spLocks noChangeShapeType="1"/>
            </p:cNvSpPr>
            <p:nvPr/>
          </p:nvSpPr>
          <p:spPr bwMode="auto">
            <a:xfrm flipV="1">
              <a:off x="4799" y="1759"/>
              <a:ext cx="0" cy="298"/>
            </a:xfrm>
            <a:prstGeom prst="line">
              <a:avLst/>
            </a:prstGeom>
            <a:noFill/>
            <a:ln w="9525">
              <a:solidFill>
                <a:schemeClr val="tx1"/>
              </a:solidFill>
              <a:round/>
              <a:headEnd/>
              <a:tailEnd/>
            </a:ln>
            <a:effectLst/>
          </p:spPr>
          <p:txBody>
            <a:bodyPr/>
            <a:lstStyle/>
            <a:p>
              <a:endParaRPr lang="en-US"/>
            </a:p>
          </p:txBody>
        </p:sp>
        <p:sp>
          <p:nvSpPr>
            <p:cNvPr id="245776" name="Line 16"/>
            <p:cNvSpPr>
              <a:spLocks noChangeShapeType="1"/>
            </p:cNvSpPr>
            <p:nvPr/>
          </p:nvSpPr>
          <p:spPr bwMode="auto">
            <a:xfrm>
              <a:off x="4813" y="1754"/>
              <a:ext cx="399" cy="0"/>
            </a:xfrm>
            <a:prstGeom prst="line">
              <a:avLst/>
            </a:prstGeom>
            <a:noFill/>
            <a:ln w="9525">
              <a:solidFill>
                <a:schemeClr val="tx1"/>
              </a:solidFill>
              <a:round/>
              <a:headEnd/>
              <a:tailEnd/>
            </a:ln>
            <a:effectLst/>
          </p:spPr>
          <p:txBody>
            <a:bodyPr/>
            <a:lstStyle/>
            <a:p>
              <a:endParaRPr lang="en-US"/>
            </a:p>
          </p:txBody>
        </p:sp>
        <p:sp>
          <p:nvSpPr>
            <p:cNvPr id="245777" name="Line 17"/>
            <p:cNvSpPr>
              <a:spLocks noChangeShapeType="1"/>
            </p:cNvSpPr>
            <p:nvPr/>
          </p:nvSpPr>
          <p:spPr bwMode="auto">
            <a:xfrm>
              <a:off x="4799" y="2624"/>
              <a:ext cx="439" cy="0"/>
            </a:xfrm>
            <a:prstGeom prst="line">
              <a:avLst/>
            </a:prstGeom>
            <a:noFill/>
            <a:ln w="9525">
              <a:solidFill>
                <a:schemeClr val="tx1"/>
              </a:solidFill>
              <a:round/>
              <a:headEnd/>
              <a:tailEnd/>
            </a:ln>
            <a:effectLst/>
          </p:spPr>
          <p:txBody>
            <a:bodyPr/>
            <a:lstStyle/>
            <a:p>
              <a:endParaRPr lang="en-US"/>
            </a:p>
          </p:txBody>
        </p:sp>
        <p:sp>
          <p:nvSpPr>
            <p:cNvPr id="245778" name="Text Box 18"/>
            <p:cNvSpPr txBox="1">
              <a:spLocks noChangeArrowheads="1"/>
            </p:cNvSpPr>
            <p:nvPr/>
          </p:nvSpPr>
          <p:spPr bwMode="auto">
            <a:xfrm>
              <a:off x="4344" y="2037"/>
              <a:ext cx="408" cy="288"/>
            </a:xfrm>
            <a:prstGeom prst="rect">
              <a:avLst/>
            </a:prstGeom>
            <a:noFill/>
            <a:ln w="9525">
              <a:noFill/>
              <a:miter lim="800000"/>
              <a:headEnd/>
              <a:tailEnd/>
            </a:ln>
            <a:effectLst/>
          </p:spPr>
          <p:txBody>
            <a:bodyPr>
              <a:spAutoFit/>
            </a:bodyPr>
            <a:lstStyle/>
            <a:p>
              <a:pPr>
                <a:spcBef>
                  <a:spcPct val="50000"/>
                </a:spcBef>
              </a:pPr>
              <a:r>
                <a:rPr lang="en-US" dirty="0" err="1"/>
                <a:t>gv</a:t>
              </a:r>
              <a:r>
                <a:rPr lang="en-US" baseline="-25000" dirty="0" err="1"/>
                <a:t>x</a:t>
              </a:r>
              <a:endParaRPr lang="en-US" baseline="-25000" dirty="0"/>
            </a:p>
          </p:txBody>
        </p:sp>
        <p:sp>
          <p:nvSpPr>
            <p:cNvPr id="245779" name="Oval 19"/>
            <p:cNvSpPr>
              <a:spLocks noChangeArrowheads="1"/>
            </p:cNvSpPr>
            <p:nvPr/>
          </p:nvSpPr>
          <p:spPr bwMode="auto">
            <a:xfrm>
              <a:off x="5198" y="1727"/>
              <a:ext cx="40" cy="37"/>
            </a:xfrm>
            <a:prstGeom prst="ellipse">
              <a:avLst/>
            </a:prstGeom>
            <a:solidFill>
              <a:schemeClr val="tx2"/>
            </a:solidFill>
            <a:ln w="9525">
              <a:solidFill>
                <a:schemeClr val="tx1"/>
              </a:solidFill>
              <a:round/>
              <a:headEnd/>
              <a:tailEnd/>
            </a:ln>
            <a:effectLst/>
          </p:spPr>
          <p:txBody>
            <a:bodyPr wrap="none" anchor="ctr"/>
            <a:lstStyle/>
            <a:p>
              <a:endParaRPr lang="en-US"/>
            </a:p>
          </p:txBody>
        </p:sp>
        <p:sp>
          <p:nvSpPr>
            <p:cNvPr id="245780" name="Oval 20"/>
            <p:cNvSpPr>
              <a:spLocks noChangeArrowheads="1"/>
            </p:cNvSpPr>
            <p:nvPr/>
          </p:nvSpPr>
          <p:spPr bwMode="auto">
            <a:xfrm>
              <a:off x="5240" y="2603"/>
              <a:ext cx="40" cy="37"/>
            </a:xfrm>
            <a:prstGeom prst="ellipse">
              <a:avLst/>
            </a:prstGeom>
            <a:solidFill>
              <a:schemeClr val="tx2"/>
            </a:solidFill>
            <a:ln w="9525">
              <a:solidFill>
                <a:schemeClr val="tx1"/>
              </a:solidFill>
              <a:round/>
              <a:headEnd/>
              <a:tailEnd/>
            </a:ln>
            <a:effectLst/>
          </p:spPr>
          <p:txBody>
            <a:bodyPr wrap="none" anchor="ctr"/>
            <a:lstStyle/>
            <a:p>
              <a:endParaRPr lang="en-US"/>
            </a:p>
          </p:txBody>
        </p:sp>
        <p:sp>
          <p:nvSpPr>
            <p:cNvPr id="245781" name="AutoShape 21"/>
            <p:cNvSpPr>
              <a:spLocks noChangeArrowheads="1"/>
            </p:cNvSpPr>
            <p:nvPr/>
          </p:nvSpPr>
          <p:spPr bwMode="auto">
            <a:xfrm>
              <a:off x="4630" y="2042"/>
              <a:ext cx="336" cy="327"/>
            </a:xfrm>
            <a:prstGeom prst="diamond">
              <a:avLst/>
            </a:prstGeom>
            <a:noFill/>
            <a:ln w="9525">
              <a:solidFill>
                <a:schemeClr val="tx1"/>
              </a:solidFill>
              <a:miter lim="800000"/>
              <a:headEnd/>
              <a:tailEnd/>
            </a:ln>
            <a:effectLst/>
          </p:spPr>
          <p:txBody>
            <a:bodyPr wrap="none" anchor="ctr"/>
            <a:lstStyle/>
            <a:p>
              <a:endParaRPr lang="en-US"/>
            </a:p>
          </p:txBody>
        </p:sp>
        <p:sp>
          <p:nvSpPr>
            <p:cNvPr id="245782" name="Line 22"/>
            <p:cNvSpPr>
              <a:spLocks noChangeShapeType="1"/>
            </p:cNvSpPr>
            <p:nvPr/>
          </p:nvSpPr>
          <p:spPr bwMode="auto">
            <a:xfrm flipV="1">
              <a:off x="4800" y="2112"/>
              <a:ext cx="0" cy="144"/>
            </a:xfrm>
            <a:prstGeom prst="line">
              <a:avLst/>
            </a:prstGeom>
            <a:noFill/>
            <a:ln w="9525">
              <a:solidFill>
                <a:schemeClr val="tx1"/>
              </a:solidFill>
              <a:round/>
              <a:headEnd/>
              <a:tailEnd type="triangle" w="med" len="med"/>
            </a:ln>
            <a:effectLst/>
          </p:spPr>
          <p:txBody>
            <a:bodyPr/>
            <a:lstStyle/>
            <a:p>
              <a:endParaRPr lang="en-US"/>
            </a:p>
          </p:txBody>
        </p:sp>
        <p:sp>
          <p:nvSpPr>
            <p:cNvPr id="245783" name="Line 23"/>
            <p:cNvSpPr>
              <a:spLocks noChangeShapeType="1"/>
            </p:cNvSpPr>
            <p:nvPr/>
          </p:nvSpPr>
          <p:spPr bwMode="auto">
            <a:xfrm flipV="1">
              <a:off x="3933" y="2109"/>
              <a:ext cx="0" cy="144"/>
            </a:xfrm>
            <a:prstGeom prst="line">
              <a:avLst/>
            </a:prstGeom>
            <a:noFill/>
            <a:ln w="9525">
              <a:solidFill>
                <a:schemeClr val="tx1"/>
              </a:solidFill>
              <a:round/>
              <a:headEnd/>
              <a:tailEnd type="triangle" w="med" len="med"/>
            </a:ln>
            <a:effectLst/>
          </p:spPr>
          <p:txBody>
            <a:bodyPr/>
            <a:lstStyle/>
            <a:p>
              <a:endParaRPr lang="en-US"/>
            </a:p>
          </p:txBody>
        </p:sp>
      </p:grpSp>
      <p:pic>
        <p:nvPicPr>
          <p:cNvPr id="2050" name="Picture 2"/>
          <p:cNvPicPr>
            <a:picLocks noChangeAspect="1" noChangeArrowheads="1"/>
          </p:cNvPicPr>
          <p:nvPr/>
        </p:nvPicPr>
        <p:blipFill>
          <a:blip r:embed="rId2">
            <a:extLst>
              <a:ext uri="{BEBA8EAE-BF5A-486C-A8C5-ECC9F3942E4B}">
                <a14:imgProps xmlns:a14="http://schemas.microsoft.com/office/drawing/2010/main">
                  <a14:imgLayer r:embed="rId3">
                    <a14:imgEffect>
                      <a14:sharpenSoften amount="71000"/>
                    </a14:imgEffect>
                  </a14:imgLayer>
                </a14:imgProps>
              </a:ext>
              <a:ext uri="{28A0092B-C50C-407E-A947-70E740481C1C}">
                <a14:useLocalDpi xmlns:a14="http://schemas.microsoft.com/office/drawing/2010/main" val="0"/>
              </a:ext>
            </a:extLst>
          </a:blip>
          <a:srcRect/>
          <a:stretch>
            <a:fillRect/>
          </a:stretch>
        </p:blipFill>
        <p:spPr bwMode="auto">
          <a:xfrm>
            <a:off x="5257801" y="3886200"/>
            <a:ext cx="3276600" cy="20791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245764"/>
                                        </p:tgtEl>
                                        <p:attrNameLst>
                                          <p:attrName>style.visibility</p:attrName>
                                        </p:attrNameLst>
                                      </p:cBhvr>
                                      <p:to>
                                        <p:strVal val="visible"/>
                                      </p:to>
                                    </p:set>
                                    <p:anim calcmode="lin" valueType="num">
                                      <p:cBhvr additive="base">
                                        <p:cTn id="7" dur="500" fill="hold"/>
                                        <p:tgtEl>
                                          <p:spTgt spid="245764"/>
                                        </p:tgtEl>
                                        <p:attrNameLst>
                                          <p:attrName>ppt_x</p:attrName>
                                        </p:attrNameLst>
                                      </p:cBhvr>
                                      <p:tavLst>
                                        <p:tav tm="0">
                                          <p:val>
                                            <p:strVal val="#ppt_x"/>
                                          </p:val>
                                        </p:tav>
                                        <p:tav tm="100000">
                                          <p:val>
                                            <p:strVal val="#ppt_x"/>
                                          </p:val>
                                        </p:tav>
                                      </p:tavLst>
                                    </p:anim>
                                    <p:anim calcmode="lin" valueType="num">
                                      <p:cBhvr additive="base">
                                        <p:cTn id="8" dur="500" fill="hold"/>
                                        <p:tgtEl>
                                          <p:spTgt spid="24576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05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5764" grpId="0"/>
    </p:bldLst>
  </p:timing>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6" name="Slide Number Placeholder 6"/>
          <p:cNvSpPr>
            <a:spLocks noGrp="1"/>
          </p:cNvSpPr>
          <p:nvPr>
            <p:ph type="sldNum" sz="quarter" idx="12"/>
          </p:nvPr>
        </p:nvSpPr>
        <p:spPr/>
        <p:txBody>
          <a:bodyPr/>
          <a:lstStyle/>
          <a:p>
            <a:fld id="{CC639295-B1D3-41BB-B646-7B8EA68D5288}" type="slidenum">
              <a:rPr lang="en-US" altLang="en-US"/>
              <a:pPr/>
              <a:t>14</a:t>
            </a:fld>
            <a:endParaRPr lang="en-US" altLang="en-US" dirty="0"/>
          </a:p>
        </p:txBody>
      </p:sp>
      <p:sp>
        <p:nvSpPr>
          <p:cNvPr id="264194" name="Rectangle 2"/>
          <p:cNvSpPr>
            <a:spLocks noGrp="1" noChangeArrowheads="1"/>
          </p:cNvSpPr>
          <p:nvPr>
            <p:ph type="title"/>
          </p:nvPr>
        </p:nvSpPr>
        <p:spPr>
          <a:xfrm>
            <a:off x="533400" y="228600"/>
            <a:ext cx="8153400" cy="914400"/>
          </a:xfrm>
        </p:spPr>
        <p:txBody>
          <a:bodyPr/>
          <a:lstStyle/>
          <a:p>
            <a:r>
              <a:rPr lang="en-US" sz="2400" b="1" u="sng" dirty="0" smtClean="0"/>
              <a:t>Dependent Source : DC Equivalent Model of a Transistor</a:t>
            </a:r>
            <a:endParaRPr lang="en-US" sz="2400" b="1" u="sng" dirty="0"/>
          </a:p>
        </p:txBody>
      </p:sp>
      <p:sp>
        <p:nvSpPr>
          <p:cNvPr id="264195" name="Rectangle 3"/>
          <p:cNvSpPr>
            <a:spLocks noGrp="1" noChangeArrowheads="1"/>
          </p:cNvSpPr>
          <p:nvPr>
            <p:ph type="body" sz="half" idx="1"/>
          </p:nvPr>
        </p:nvSpPr>
        <p:spPr>
          <a:xfrm>
            <a:off x="838200" y="2011362"/>
            <a:ext cx="4114800" cy="4389438"/>
          </a:xfrm>
        </p:spPr>
        <p:txBody>
          <a:bodyPr/>
          <a:lstStyle/>
          <a:p>
            <a:pPr>
              <a:lnSpc>
                <a:spcPct val="80000"/>
              </a:lnSpc>
            </a:pPr>
            <a:r>
              <a:rPr lang="en-US" sz="2000" b="1" dirty="0">
                <a:latin typeface="Arial" charset="0"/>
              </a:rPr>
              <a:t>This is the symbol of a transistor.</a:t>
            </a:r>
          </a:p>
          <a:p>
            <a:pPr>
              <a:lnSpc>
                <a:spcPct val="80000"/>
              </a:lnSpc>
            </a:pPr>
            <a:endParaRPr lang="en-US" sz="2000" b="1" dirty="0" smtClean="0">
              <a:latin typeface="Arial" charset="0"/>
            </a:endParaRPr>
          </a:p>
          <a:p>
            <a:pPr>
              <a:lnSpc>
                <a:spcPct val="80000"/>
              </a:lnSpc>
            </a:pPr>
            <a:endParaRPr lang="en-US" sz="2000" b="1" dirty="0">
              <a:latin typeface="Arial" charset="0"/>
            </a:endParaRPr>
          </a:p>
          <a:p>
            <a:pPr>
              <a:lnSpc>
                <a:spcPct val="80000"/>
              </a:lnSpc>
            </a:pPr>
            <a:endParaRPr lang="en-US" sz="2000" b="1" dirty="0" smtClean="0">
              <a:latin typeface="Arial" charset="0"/>
            </a:endParaRPr>
          </a:p>
          <a:p>
            <a:pPr>
              <a:lnSpc>
                <a:spcPct val="80000"/>
              </a:lnSpc>
            </a:pPr>
            <a:endParaRPr lang="en-US" sz="2000" b="1" dirty="0">
              <a:latin typeface="Arial" charset="0"/>
            </a:endParaRPr>
          </a:p>
          <a:p>
            <a:pPr>
              <a:lnSpc>
                <a:spcPct val="80000"/>
              </a:lnSpc>
            </a:pPr>
            <a:endParaRPr lang="en-US" sz="2000" b="1" dirty="0" smtClean="0">
              <a:latin typeface="Arial" charset="0"/>
            </a:endParaRPr>
          </a:p>
          <a:p>
            <a:pPr>
              <a:lnSpc>
                <a:spcPct val="80000"/>
              </a:lnSpc>
            </a:pPr>
            <a:endParaRPr lang="en-US" sz="2000" b="1" dirty="0">
              <a:latin typeface="Arial" charset="0"/>
            </a:endParaRPr>
          </a:p>
          <a:p>
            <a:pPr>
              <a:lnSpc>
                <a:spcPct val="80000"/>
              </a:lnSpc>
            </a:pPr>
            <a:r>
              <a:rPr lang="en-US" sz="2000" b="1" dirty="0" smtClean="0">
                <a:latin typeface="Arial" charset="0"/>
              </a:rPr>
              <a:t>The </a:t>
            </a:r>
            <a:r>
              <a:rPr lang="en-US" sz="2000" b="1" dirty="0">
                <a:latin typeface="Arial" charset="0"/>
              </a:rPr>
              <a:t>dc equivalent model of the transistor</a:t>
            </a:r>
            <a:r>
              <a:rPr lang="en-US" sz="2000" b="1" dirty="0" smtClean="0">
                <a:latin typeface="Arial" charset="0"/>
              </a:rPr>
              <a:t>.</a:t>
            </a:r>
          </a:p>
          <a:p>
            <a:pPr>
              <a:lnSpc>
                <a:spcPct val="80000"/>
              </a:lnSpc>
              <a:buNone/>
            </a:pPr>
            <a:endParaRPr lang="en-US" sz="2000" b="1" dirty="0" smtClean="0">
              <a:latin typeface="Arial" charset="0"/>
            </a:endParaRPr>
          </a:p>
          <a:p>
            <a:pPr>
              <a:lnSpc>
                <a:spcPct val="80000"/>
              </a:lnSpc>
              <a:buNone/>
            </a:pPr>
            <a:endParaRPr lang="en-US" sz="2000" b="1" dirty="0">
              <a:latin typeface="Arial" charset="0"/>
            </a:endParaRPr>
          </a:p>
          <a:p>
            <a:pPr>
              <a:lnSpc>
                <a:spcPct val="80000"/>
              </a:lnSpc>
              <a:buNone/>
            </a:pPr>
            <a:endParaRPr lang="en-US" sz="2000" b="1" dirty="0" smtClean="0">
              <a:latin typeface="Arial" charset="0"/>
            </a:endParaRPr>
          </a:p>
          <a:p>
            <a:pPr>
              <a:lnSpc>
                <a:spcPct val="80000"/>
              </a:lnSpc>
              <a:buNone/>
            </a:pPr>
            <a:endParaRPr lang="en-US" sz="2000" b="1" dirty="0">
              <a:latin typeface="Arial" charset="0"/>
            </a:endParaRPr>
          </a:p>
          <a:p>
            <a:pPr>
              <a:lnSpc>
                <a:spcPct val="80000"/>
              </a:lnSpc>
            </a:pPr>
            <a:r>
              <a:rPr lang="en-US" sz="2400" b="1" dirty="0" smtClean="0">
                <a:solidFill>
                  <a:srgbClr val="FF0000"/>
                </a:solidFill>
                <a:latin typeface="Arial" charset="0"/>
              </a:rPr>
              <a:t>Networks &amp; Circuits !</a:t>
            </a:r>
            <a:endParaRPr lang="en-US" sz="2400" b="1" dirty="0">
              <a:solidFill>
                <a:srgbClr val="FF0000"/>
              </a:solidFill>
              <a:latin typeface="Arial" charset="0"/>
            </a:endParaRPr>
          </a:p>
          <a:p>
            <a:pPr>
              <a:lnSpc>
                <a:spcPct val="80000"/>
              </a:lnSpc>
            </a:pPr>
            <a:endParaRPr lang="en-US" sz="2400" dirty="0">
              <a:latin typeface="Arial" charset="0"/>
            </a:endParaRPr>
          </a:p>
          <a:p>
            <a:pPr>
              <a:lnSpc>
                <a:spcPct val="80000"/>
              </a:lnSpc>
            </a:pPr>
            <a:endParaRPr lang="en-US" sz="1600" b="1" dirty="0">
              <a:latin typeface="Arial" charset="0"/>
            </a:endParaRPr>
          </a:p>
        </p:txBody>
      </p:sp>
      <p:sp>
        <p:nvSpPr>
          <p:cNvPr id="264196" name="Rectangle 4"/>
          <p:cNvSpPr>
            <a:spLocks noChangeArrowheads="1"/>
          </p:cNvSpPr>
          <p:nvPr/>
        </p:nvSpPr>
        <p:spPr bwMode="auto">
          <a:xfrm>
            <a:off x="8534400" y="6400800"/>
            <a:ext cx="503238" cy="457200"/>
          </a:xfrm>
          <a:prstGeom prst="rect">
            <a:avLst/>
          </a:prstGeom>
          <a:noFill/>
          <a:ln w="9525">
            <a:noFill/>
            <a:miter lim="800000"/>
            <a:headEnd/>
            <a:tailEnd/>
          </a:ln>
          <a:effectLst/>
        </p:spPr>
        <p:txBody>
          <a:bodyPr wrap="none">
            <a:spAutoFit/>
          </a:bodyPr>
          <a:lstStyle/>
          <a:p>
            <a:pPr>
              <a:spcBef>
                <a:spcPct val="50000"/>
              </a:spcBef>
              <a:buFont typeface="Wingdings" pitchFamily="2" charset="2"/>
              <a:buChar char="Ø"/>
            </a:pPr>
            <a:r>
              <a:rPr lang="en-US"/>
              <a:t> </a:t>
            </a:r>
          </a:p>
        </p:txBody>
      </p:sp>
      <p:grpSp>
        <p:nvGrpSpPr>
          <p:cNvPr id="2" name="Group 60"/>
          <p:cNvGrpSpPr>
            <a:grpSpLocks/>
          </p:cNvGrpSpPr>
          <p:nvPr/>
        </p:nvGrpSpPr>
        <p:grpSpPr bwMode="auto">
          <a:xfrm>
            <a:off x="5546725" y="1752600"/>
            <a:ext cx="2517775" cy="1752600"/>
            <a:chOff x="3494" y="1296"/>
            <a:chExt cx="1586" cy="1104"/>
          </a:xfrm>
        </p:grpSpPr>
        <p:sp>
          <p:nvSpPr>
            <p:cNvPr id="264206" name="Line 14"/>
            <p:cNvSpPr>
              <a:spLocks noChangeShapeType="1"/>
            </p:cNvSpPr>
            <p:nvPr/>
          </p:nvSpPr>
          <p:spPr bwMode="auto">
            <a:xfrm>
              <a:off x="4578" y="1872"/>
              <a:ext cx="0" cy="261"/>
            </a:xfrm>
            <a:prstGeom prst="line">
              <a:avLst/>
            </a:prstGeom>
            <a:noFill/>
            <a:ln w="9525">
              <a:solidFill>
                <a:schemeClr val="tx1"/>
              </a:solidFill>
              <a:round/>
              <a:headEnd/>
              <a:tailEnd/>
            </a:ln>
            <a:effectLst/>
          </p:spPr>
          <p:txBody>
            <a:bodyPr/>
            <a:lstStyle/>
            <a:p>
              <a:endParaRPr lang="en-US"/>
            </a:p>
          </p:txBody>
        </p:sp>
        <p:sp>
          <p:nvSpPr>
            <p:cNvPr id="264207" name="Line 15"/>
            <p:cNvSpPr>
              <a:spLocks noChangeShapeType="1"/>
            </p:cNvSpPr>
            <p:nvPr/>
          </p:nvSpPr>
          <p:spPr bwMode="auto">
            <a:xfrm flipV="1">
              <a:off x="4554" y="1328"/>
              <a:ext cx="0" cy="298"/>
            </a:xfrm>
            <a:prstGeom prst="line">
              <a:avLst/>
            </a:prstGeom>
            <a:noFill/>
            <a:ln w="9525">
              <a:solidFill>
                <a:schemeClr val="tx1"/>
              </a:solidFill>
              <a:round/>
              <a:headEnd/>
              <a:tailEnd/>
            </a:ln>
            <a:effectLst/>
          </p:spPr>
          <p:txBody>
            <a:bodyPr/>
            <a:lstStyle/>
            <a:p>
              <a:endParaRPr lang="en-US"/>
            </a:p>
          </p:txBody>
        </p:sp>
        <p:sp>
          <p:nvSpPr>
            <p:cNvPr id="264208" name="Line 16"/>
            <p:cNvSpPr>
              <a:spLocks noChangeShapeType="1"/>
            </p:cNvSpPr>
            <p:nvPr/>
          </p:nvSpPr>
          <p:spPr bwMode="auto">
            <a:xfrm>
              <a:off x="4568" y="1323"/>
              <a:ext cx="399" cy="0"/>
            </a:xfrm>
            <a:prstGeom prst="line">
              <a:avLst/>
            </a:prstGeom>
            <a:noFill/>
            <a:ln w="9525">
              <a:solidFill>
                <a:schemeClr val="tx1"/>
              </a:solidFill>
              <a:round/>
              <a:headEnd/>
              <a:tailEnd/>
            </a:ln>
            <a:effectLst/>
          </p:spPr>
          <p:txBody>
            <a:bodyPr/>
            <a:lstStyle/>
            <a:p>
              <a:endParaRPr lang="en-US"/>
            </a:p>
          </p:txBody>
        </p:sp>
        <p:sp>
          <p:nvSpPr>
            <p:cNvPr id="264209" name="Line 17"/>
            <p:cNvSpPr>
              <a:spLocks noChangeShapeType="1"/>
            </p:cNvSpPr>
            <p:nvPr/>
          </p:nvSpPr>
          <p:spPr bwMode="auto">
            <a:xfrm>
              <a:off x="4578" y="2133"/>
              <a:ext cx="439" cy="0"/>
            </a:xfrm>
            <a:prstGeom prst="line">
              <a:avLst/>
            </a:prstGeom>
            <a:noFill/>
            <a:ln w="9525">
              <a:solidFill>
                <a:schemeClr val="tx1"/>
              </a:solidFill>
              <a:round/>
              <a:headEnd/>
              <a:tailEnd/>
            </a:ln>
            <a:effectLst/>
          </p:spPr>
          <p:txBody>
            <a:bodyPr/>
            <a:lstStyle/>
            <a:p>
              <a:endParaRPr lang="en-US"/>
            </a:p>
          </p:txBody>
        </p:sp>
        <p:sp>
          <p:nvSpPr>
            <p:cNvPr id="264211" name="Oval 19"/>
            <p:cNvSpPr>
              <a:spLocks noChangeArrowheads="1"/>
            </p:cNvSpPr>
            <p:nvPr/>
          </p:nvSpPr>
          <p:spPr bwMode="auto">
            <a:xfrm>
              <a:off x="4977" y="1296"/>
              <a:ext cx="40" cy="37"/>
            </a:xfrm>
            <a:prstGeom prst="ellipse">
              <a:avLst/>
            </a:prstGeom>
            <a:solidFill>
              <a:schemeClr val="tx2"/>
            </a:solidFill>
            <a:ln w="9525">
              <a:solidFill>
                <a:schemeClr val="tx1"/>
              </a:solidFill>
              <a:round/>
              <a:headEnd/>
              <a:tailEnd/>
            </a:ln>
            <a:effectLst/>
          </p:spPr>
          <p:txBody>
            <a:bodyPr wrap="none" anchor="ctr"/>
            <a:lstStyle/>
            <a:p>
              <a:endParaRPr lang="en-US"/>
            </a:p>
          </p:txBody>
        </p:sp>
        <p:sp>
          <p:nvSpPr>
            <p:cNvPr id="264212" name="Oval 20"/>
            <p:cNvSpPr>
              <a:spLocks noChangeArrowheads="1"/>
            </p:cNvSpPr>
            <p:nvPr/>
          </p:nvSpPr>
          <p:spPr bwMode="auto">
            <a:xfrm>
              <a:off x="5019" y="2124"/>
              <a:ext cx="40" cy="37"/>
            </a:xfrm>
            <a:prstGeom prst="ellipse">
              <a:avLst/>
            </a:prstGeom>
            <a:solidFill>
              <a:schemeClr val="tx2"/>
            </a:solidFill>
            <a:ln w="9525">
              <a:solidFill>
                <a:schemeClr val="tx1"/>
              </a:solidFill>
              <a:round/>
              <a:headEnd/>
              <a:tailEnd/>
            </a:ln>
            <a:effectLst/>
          </p:spPr>
          <p:txBody>
            <a:bodyPr wrap="none" anchor="ctr"/>
            <a:lstStyle/>
            <a:p>
              <a:endParaRPr lang="en-US"/>
            </a:p>
          </p:txBody>
        </p:sp>
        <p:sp>
          <p:nvSpPr>
            <p:cNvPr id="264216" name="Line 24"/>
            <p:cNvSpPr>
              <a:spLocks noChangeShapeType="1"/>
            </p:cNvSpPr>
            <p:nvPr/>
          </p:nvSpPr>
          <p:spPr bwMode="auto">
            <a:xfrm>
              <a:off x="4456" y="1631"/>
              <a:ext cx="0" cy="276"/>
            </a:xfrm>
            <a:prstGeom prst="line">
              <a:avLst/>
            </a:prstGeom>
            <a:noFill/>
            <a:ln w="9525">
              <a:solidFill>
                <a:schemeClr val="tx1"/>
              </a:solidFill>
              <a:round/>
              <a:headEnd/>
              <a:tailEnd/>
            </a:ln>
            <a:effectLst/>
          </p:spPr>
          <p:txBody>
            <a:bodyPr/>
            <a:lstStyle/>
            <a:p>
              <a:endParaRPr lang="en-US"/>
            </a:p>
          </p:txBody>
        </p:sp>
        <p:sp>
          <p:nvSpPr>
            <p:cNvPr id="264217" name="Line 25"/>
            <p:cNvSpPr>
              <a:spLocks noChangeShapeType="1"/>
            </p:cNvSpPr>
            <p:nvPr/>
          </p:nvSpPr>
          <p:spPr bwMode="auto">
            <a:xfrm>
              <a:off x="4456" y="1775"/>
              <a:ext cx="144" cy="96"/>
            </a:xfrm>
            <a:prstGeom prst="line">
              <a:avLst/>
            </a:prstGeom>
            <a:noFill/>
            <a:ln w="9525">
              <a:solidFill>
                <a:schemeClr val="tx1"/>
              </a:solidFill>
              <a:round/>
              <a:headEnd/>
              <a:tailEnd type="triangle" w="med" len="med"/>
            </a:ln>
            <a:effectLst/>
          </p:spPr>
          <p:txBody>
            <a:bodyPr/>
            <a:lstStyle/>
            <a:p>
              <a:endParaRPr lang="en-US"/>
            </a:p>
          </p:txBody>
        </p:sp>
        <p:sp>
          <p:nvSpPr>
            <p:cNvPr id="264218" name="Line 26"/>
            <p:cNvSpPr>
              <a:spLocks noChangeShapeType="1"/>
            </p:cNvSpPr>
            <p:nvPr/>
          </p:nvSpPr>
          <p:spPr bwMode="auto">
            <a:xfrm flipV="1">
              <a:off x="4456" y="1619"/>
              <a:ext cx="96" cy="96"/>
            </a:xfrm>
            <a:prstGeom prst="line">
              <a:avLst/>
            </a:prstGeom>
            <a:noFill/>
            <a:ln w="9525">
              <a:solidFill>
                <a:schemeClr val="tx1"/>
              </a:solidFill>
              <a:round/>
              <a:headEnd/>
              <a:tailEnd/>
            </a:ln>
            <a:effectLst/>
          </p:spPr>
          <p:txBody>
            <a:bodyPr/>
            <a:lstStyle/>
            <a:p>
              <a:endParaRPr lang="en-US"/>
            </a:p>
          </p:txBody>
        </p:sp>
        <p:sp>
          <p:nvSpPr>
            <p:cNvPr id="264221" name="Line 29"/>
            <p:cNvSpPr>
              <a:spLocks noChangeShapeType="1"/>
            </p:cNvSpPr>
            <p:nvPr/>
          </p:nvSpPr>
          <p:spPr bwMode="auto">
            <a:xfrm>
              <a:off x="3684" y="1740"/>
              <a:ext cx="768" cy="0"/>
            </a:xfrm>
            <a:prstGeom prst="line">
              <a:avLst/>
            </a:prstGeom>
            <a:noFill/>
            <a:ln w="9525">
              <a:solidFill>
                <a:schemeClr val="tx1"/>
              </a:solidFill>
              <a:round/>
              <a:headEnd/>
              <a:tailEnd/>
            </a:ln>
            <a:effectLst/>
          </p:spPr>
          <p:txBody>
            <a:bodyPr/>
            <a:lstStyle/>
            <a:p>
              <a:endParaRPr lang="en-US"/>
            </a:p>
          </p:txBody>
        </p:sp>
        <p:sp>
          <p:nvSpPr>
            <p:cNvPr id="264222" name="Oval 30"/>
            <p:cNvSpPr>
              <a:spLocks noChangeArrowheads="1"/>
            </p:cNvSpPr>
            <p:nvPr/>
          </p:nvSpPr>
          <p:spPr bwMode="auto">
            <a:xfrm>
              <a:off x="3696" y="1727"/>
              <a:ext cx="40" cy="37"/>
            </a:xfrm>
            <a:prstGeom prst="ellipse">
              <a:avLst/>
            </a:prstGeom>
            <a:solidFill>
              <a:schemeClr val="tx2"/>
            </a:solidFill>
            <a:ln w="9525">
              <a:solidFill>
                <a:schemeClr val="tx1"/>
              </a:solidFill>
              <a:round/>
              <a:headEnd/>
              <a:tailEnd/>
            </a:ln>
            <a:effectLst/>
          </p:spPr>
          <p:txBody>
            <a:bodyPr wrap="none" anchor="ctr"/>
            <a:lstStyle/>
            <a:p>
              <a:endParaRPr lang="en-US"/>
            </a:p>
          </p:txBody>
        </p:sp>
        <p:sp>
          <p:nvSpPr>
            <p:cNvPr id="264234" name="Text Box 42"/>
            <p:cNvSpPr txBox="1">
              <a:spLocks noChangeArrowheads="1"/>
            </p:cNvSpPr>
            <p:nvPr/>
          </p:nvSpPr>
          <p:spPr bwMode="auto">
            <a:xfrm>
              <a:off x="3822" y="1511"/>
              <a:ext cx="236" cy="231"/>
            </a:xfrm>
            <a:prstGeom prst="rect">
              <a:avLst/>
            </a:prstGeom>
            <a:noFill/>
            <a:ln w="9525">
              <a:noFill/>
              <a:miter lim="800000"/>
              <a:headEnd/>
              <a:tailEnd/>
            </a:ln>
            <a:effectLst/>
          </p:spPr>
          <p:txBody>
            <a:bodyPr wrap="none">
              <a:spAutoFit/>
            </a:bodyPr>
            <a:lstStyle/>
            <a:p>
              <a:r>
                <a:rPr lang="en-US" sz="1800" b="1"/>
                <a:t>I</a:t>
              </a:r>
              <a:r>
                <a:rPr lang="en-US" sz="1800" b="1" baseline="-25000"/>
                <a:t>B</a:t>
              </a:r>
            </a:p>
          </p:txBody>
        </p:sp>
        <p:sp>
          <p:nvSpPr>
            <p:cNvPr id="264244" name="Text Box 52"/>
            <p:cNvSpPr txBox="1">
              <a:spLocks noChangeArrowheads="1"/>
            </p:cNvSpPr>
            <p:nvPr/>
          </p:nvSpPr>
          <p:spPr bwMode="auto">
            <a:xfrm>
              <a:off x="3494" y="1737"/>
              <a:ext cx="223" cy="250"/>
            </a:xfrm>
            <a:prstGeom prst="rect">
              <a:avLst/>
            </a:prstGeom>
            <a:noFill/>
            <a:ln w="9525">
              <a:noFill/>
              <a:miter lim="800000"/>
              <a:headEnd/>
              <a:tailEnd/>
            </a:ln>
            <a:effectLst/>
          </p:spPr>
          <p:txBody>
            <a:bodyPr wrap="none">
              <a:spAutoFit/>
            </a:bodyPr>
            <a:lstStyle/>
            <a:p>
              <a:r>
                <a:rPr lang="en-US" sz="2000" b="1"/>
                <a:t>B</a:t>
              </a:r>
            </a:p>
          </p:txBody>
        </p:sp>
        <p:sp>
          <p:nvSpPr>
            <p:cNvPr id="264247" name="Text Box 55"/>
            <p:cNvSpPr txBox="1">
              <a:spLocks noChangeArrowheads="1"/>
            </p:cNvSpPr>
            <p:nvPr/>
          </p:nvSpPr>
          <p:spPr bwMode="auto">
            <a:xfrm>
              <a:off x="4848" y="1334"/>
              <a:ext cx="232" cy="250"/>
            </a:xfrm>
            <a:prstGeom prst="rect">
              <a:avLst/>
            </a:prstGeom>
            <a:noFill/>
            <a:ln w="9525">
              <a:noFill/>
              <a:miter lim="800000"/>
              <a:headEnd/>
              <a:tailEnd/>
            </a:ln>
            <a:effectLst/>
          </p:spPr>
          <p:txBody>
            <a:bodyPr wrap="none">
              <a:spAutoFit/>
            </a:bodyPr>
            <a:lstStyle/>
            <a:p>
              <a:r>
                <a:rPr lang="en-US" sz="2000" b="1"/>
                <a:t>C</a:t>
              </a:r>
            </a:p>
          </p:txBody>
        </p:sp>
        <p:sp>
          <p:nvSpPr>
            <p:cNvPr id="264248" name="Text Box 56"/>
            <p:cNvSpPr txBox="1">
              <a:spLocks noChangeArrowheads="1"/>
            </p:cNvSpPr>
            <p:nvPr/>
          </p:nvSpPr>
          <p:spPr bwMode="auto">
            <a:xfrm>
              <a:off x="4848" y="2150"/>
              <a:ext cx="223" cy="250"/>
            </a:xfrm>
            <a:prstGeom prst="rect">
              <a:avLst/>
            </a:prstGeom>
            <a:noFill/>
            <a:ln w="9525">
              <a:noFill/>
              <a:miter lim="800000"/>
              <a:headEnd/>
              <a:tailEnd/>
            </a:ln>
            <a:effectLst/>
          </p:spPr>
          <p:txBody>
            <a:bodyPr wrap="none">
              <a:spAutoFit/>
            </a:bodyPr>
            <a:lstStyle/>
            <a:p>
              <a:r>
                <a:rPr lang="en-US" sz="2000" b="1"/>
                <a:t>E</a:t>
              </a:r>
            </a:p>
          </p:txBody>
        </p:sp>
      </p:grpSp>
      <p:grpSp>
        <p:nvGrpSpPr>
          <p:cNvPr id="3" name="Group 89"/>
          <p:cNvGrpSpPr>
            <a:grpSpLocks/>
          </p:cNvGrpSpPr>
          <p:nvPr/>
        </p:nvGrpSpPr>
        <p:grpSpPr bwMode="auto">
          <a:xfrm>
            <a:off x="5562600" y="3733800"/>
            <a:ext cx="3214688" cy="2133600"/>
            <a:chOff x="3504" y="2352"/>
            <a:chExt cx="2025" cy="1344"/>
          </a:xfrm>
        </p:grpSpPr>
        <p:sp>
          <p:nvSpPr>
            <p:cNvPr id="264223" name="Line 31"/>
            <p:cNvSpPr>
              <a:spLocks noChangeShapeType="1"/>
            </p:cNvSpPr>
            <p:nvPr/>
          </p:nvSpPr>
          <p:spPr bwMode="auto">
            <a:xfrm>
              <a:off x="3716" y="2583"/>
              <a:ext cx="624" cy="0"/>
            </a:xfrm>
            <a:prstGeom prst="line">
              <a:avLst/>
            </a:prstGeom>
            <a:noFill/>
            <a:ln w="9525">
              <a:solidFill>
                <a:schemeClr val="tx1"/>
              </a:solidFill>
              <a:round/>
              <a:headEnd/>
              <a:tailEnd/>
            </a:ln>
            <a:effectLst/>
          </p:spPr>
          <p:txBody>
            <a:bodyPr/>
            <a:lstStyle/>
            <a:p>
              <a:endParaRPr lang="en-US"/>
            </a:p>
          </p:txBody>
        </p:sp>
        <p:sp>
          <p:nvSpPr>
            <p:cNvPr id="264224" name="Line 32"/>
            <p:cNvSpPr>
              <a:spLocks noChangeShapeType="1"/>
            </p:cNvSpPr>
            <p:nvPr/>
          </p:nvSpPr>
          <p:spPr bwMode="auto">
            <a:xfrm>
              <a:off x="4340" y="2583"/>
              <a:ext cx="0" cy="288"/>
            </a:xfrm>
            <a:prstGeom prst="line">
              <a:avLst/>
            </a:prstGeom>
            <a:noFill/>
            <a:ln w="9525">
              <a:solidFill>
                <a:schemeClr val="tx1"/>
              </a:solidFill>
              <a:round/>
              <a:headEnd/>
              <a:tailEnd/>
            </a:ln>
            <a:effectLst/>
          </p:spPr>
          <p:txBody>
            <a:bodyPr/>
            <a:lstStyle/>
            <a:p>
              <a:endParaRPr lang="en-US"/>
            </a:p>
          </p:txBody>
        </p:sp>
        <p:sp>
          <p:nvSpPr>
            <p:cNvPr id="264225" name="Line 33"/>
            <p:cNvSpPr>
              <a:spLocks noChangeShapeType="1"/>
            </p:cNvSpPr>
            <p:nvPr/>
          </p:nvSpPr>
          <p:spPr bwMode="auto">
            <a:xfrm>
              <a:off x="4196" y="2871"/>
              <a:ext cx="288" cy="0"/>
            </a:xfrm>
            <a:prstGeom prst="line">
              <a:avLst/>
            </a:prstGeom>
            <a:noFill/>
            <a:ln w="9525">
              <a:solidFill>
                <a:schemeClr val="tx1"/>
              </a:solidFill>
              <a:round/>
              <a:headEnd/>
              <a:tailEnd/>
            </a:ln>
            <a:effectLst/>
          </p:spPr>
          <p:txBody>
            <a:bodyPr/>
            <a:lstStyle/>
            <a:p>
              <a:endParaRPr lang="en-US"/>
            </a:p>
          </p:txBody>
        </p:sp>
        <p:sp>
          <p:nvSpPr>
            <p:cNvPr id="264226" name="Line 34"/>
            <p:cNvSpPr>
              <a:spLocks noChangeShapeType="1"/>
            </p:cNvSpPr>
            <p:nvPr/>
          </p:nvSpPr>
          <p:spPr bwMode="auto">
            <a:xfrm>
              <a:off x="4268" y="2919"/>
              <a:ext cx="144" cy="0"/>
            </a:xfrm>
            <a:prstGeom prst="line">
              <a:avLst/>
            </a:prstGeom>
            <a:noFill/>
            <a:ln w="9525">
              <a:solidFill>
                <a:schemeClr val="tx1"/>
              </a:solidFill>
              <a:round/>
              <a:headEnd/>
              <a:tailEnd/>
            </a:ln>
            <a:effectLst/>
          </p:spPr>
          <p:txBody>
            <a:bodyPr/>
            <a:lstStyle/>
            <a:p>
              <a:endParaRPr lang="en-US"/>
            </a:p>
          </p:txBody>
        </p:sp>
        <p:sp>
          <p:nvSpPr>
            <p:cNvPr id="264227" name="Line 35"/>
            <p:cNvSpPr>
              <a:spLocks noChangeShapeType="1"/>
            </p:cNvSpPr>
            <p:nvPr/>
          </p:nvSpPr>
          <p:spPr bwMode="auto">
            <a:xfrm>
              <a:off x="4340" y="2919"/>
              <a:ext cx="0" cy="336"/>
            </a:xfrm>
            <a:prstGeom prst="line">
              <a:avLst/>
            </a:prstGeom>
            <a:noFill/>
            <a:ln w="9525">
              <a:solidFill>
                <a:schemeClr val="tx1"/>
              </a:solidFill>
              <a:round/>
              <a:headEnd/>
              <a:tailEnd/>
            </a:ln>
            <a:effectLst/>
          </p:spPr>
          <p:txBody>
            <a:bodyPr/>
            <a:lstStyle/>
            <a:p>
              <a:endParaRPr lang="en-US"/>
            </a:p>
          </p:txBody>
        </p:sp>
        <p:sp>
          <p:nvSpPr>
            <p:cNvPr id="264228" name="Line 36"/>
            <p:cNvSpPr>
              <a:spLocks noChangeShapeType="1"/>
            </p:cNvSpPr>
            <p:nvPr/>
          </p:nvSpPr>
          <p:spPr bwMode="auto">
            <a:xfrm>
              <a:off x="4340" y="3243"/>
              <a:ext cx="528" cy="0"/>
            </a:xfrm>
            <a:prstGeom prst="line">
              <a:avLst/>
            </a:prstGeom>
            <a:noFill/>
            <a:ln w="9525">
              <a:solidFill>
                <a:schemeClr val="tx1"/>
              </a:solidFill>
              <a:round/>
              <a:headEnd/>
              <a:tailEnd/>
            </a:ln>
            <a:effectLst/>
          </p:spPr>
          <p:txBody>
            <a:bodyPr/>
            <a:lstStyle/>
            <a:p>
              <a:endParaRPr lang="en-US"/>
            </a:p>
          </p:txBody>
        </p:sp>
        <p:sp>
          <p:nvSpPr>
            <p:cNvPr id="264229" name="Line 37"/>
            <p:cNvSpPr>
              <a:spLocks noChangeShapeType="1"/>
            </p:cNvSpPr>
            <p:nvPr/>
          </p:nvSpPr>
          <p:spPr bwMode="auto">
            <a:xfrm flipV="1">
              <a:off x="4868" y="2967"/>
              <a:ext cx="0" cy="288"/>
            </a:xfrm>
            <a:prstGeom prst="line">
              <a:avLst/>
            </a:prstGeom>
            <a:noFill/>
            <a:ln w="9525">
              <a:solidFill>
                <a:schemeClr val="tx1"/>
              </a:solidFill>
              <a:round/>
              <a:headEnd/>
              <a:tailEnd/>
            </a:ln>
            <a:effectLst/>
          </p:spPr>
          <p:txBody>
            <a:bodyPr/>
            <a:lstStyle/>
            <a:p>
              <a:endParaRPr lang="en-US"/>
            </a:p>
          </p:txBody>
        </p:sp>
        <p:sp>
          <p:nvSpPr>
            <p:cNvPr id="264231" name="AutoShape 39"/>
            <p:cNvSpPr>
              <a:spLocks noChangeArrowheads="1"/>
            </p:cNvSpPr>
            <p:nvPr/>
          </p:nvSpPr>
          <p:spPr bwMode="auto">
            <a:xfrm>
              <a:off x="4676" y="2631"/>
              <a:ext cx="384" cy="336"/>
            </a:xfrm>
            <a:prstGeom prst="diamond">
              <a:avLst/>
            </a:prstGeom>
            <a:noFill/>
            <a:ln w="9525">
              <a:solidFill>
                <a:schemeClr val="tx1"/>
              </a:solidFill>
              <a:miter lim="800000"/>
              <a:headEnd/>
              <a:tailEnd/>
            </a:ln>
            <a:effectLst/>
          </p:spPr>
          <p:txBody>
            <a:bodyPr wrap="none" anchor="ctr"/>
            <a:lstStyle/>
            <a:p>
              <a:endParaRPr lang="en-US"/>
            </a:p>
          </p:txBody>
        </p:sp>
        <p:sp>
          <p:nvSpPr>
            <p:cNvPr id="264232" name="Line 40"/>
            <p:cNvSpPr>
              <a:spLocks noChangeShapeType="1"/>
            </p:cNvSpPr>
            <p:nvPr/>
          </p:nvSpPr>
          <p:spPr bwMode="auto">
            <a:xfrm flipV="1">
              <a:off x="4868" y="2487"/>
              <a:ext cx="0" cy="144"/>
            </a:xfrm>
            <a:prstGeom prst="line">
              <a:avLst/>
            </a:prstGeom>
            <a:noFill/>
            <a:ln w="9525">
              <a:solidFill>
                <a:schemeClr val="tx1"/>
              </a:solidFill>
              <a:round/>
              <a:headEnd/>
              <a:tailEnd/>
            </a:ln>
            <a:effectLst/>
          </p:spPr>
          <p:txBody>
            <a:bodyPr/>
            <a:lstStyle/>
            <a:p>
              <a:endParaRPr lang="en-US"/>
            </a:p>
          </p:txBody>
        </p:sp>
        <p:sp>
          <p:nvSpPr>
            <p:cNvPr id="264233" name="Line 41"/>
            <p:cNvSpPr>
              <a:spLocks noChangeShapeType="1"/>
            </p:cNvSpPr>
            <p:nvPr/>
          </p:nvSpPr>
          <p:spPr bwMode="auto">
            <a:xfrm>
              <a:off x="4868" y="2487"/>
              <a:ext cx="480" cy="0"/>
            </a:xfrm>
            <a:prstGeom prst="line">
              <a:avLst/>
            </a:prstGeom>
            <a:noFill/>
            <a:ln w="9525">
              <a:solidFill>
                <a:schemeClr val="tx1"/>
              </a:solidFill>
              <a:round/>
              <a:headEnd/>
              <a:tailEnd/>
            </a:ln>
            <a:effectLst/>
          </p:spPr>
          <p:txBody>
            <a:bodyPr/>
            <a:lstStyle/>
            <a:p>
              <a:endParaRPr lang="en-US"/>
            </a:p>
          </p:txBody>
        </p:sp>
        <p:sp>
          <p:nvSpPr>
            <p:cNvPr id="264235" name="Text Box 43"/>
            <p:cNvSpPr txBox="1">
              <a:spLocks noChangeArrowheads="1"/>
            </p:cNvSpPr>
            <p:nvPr/>
          </p:nvSpPr>
          <p:spPr bwMode="auto">
            <a:xfrm>
              <a:off x="3908" y="2352"/>
              <a:ext cx="236" cy="231"/>
            </a:xfrm>
            <a:prstGeom prst="rect">
              <a:avLst/>
            </a:prstGeom>
            <a:noFill/>
            <a:ln w="9525">
              <a:noFill/>
              <a:miter lim="800000"/>
              <a:headEnd/>
              <a:tailEnd/>
            </a:ln>
            <a:effectLst/>
          </p:spPr>
          <p:txBody>
            <a:bodyPr wrap="none">
              <a:spAutoFit/>
            </a:bodyPr>
            <a:lstStyle/>
            <a:p>
              <a:r>
                <a:rPr lang="en-US" sz="1800" b="1"/>
                <a:t>I</a:t>
              </a:r>
              <a:r>
                <a:rPr lang="en-US" sz="1800" b="1" baseline="-25000"/>
                <a:t>B</a:t>
              </a:r>
            </a:p>
          </p:txBody>
        </p:sp>
        <p:sp>
          <p:nvSpPr>
            <p:cNvPr id="264236" name="Line 44"/>
            <p:cNvSpPr>
              <a:spLocks noChangeShapeType="1"/>
            </p:cNvSpPr>
            <p:nvPr/>
          </p:nvSpPr>
          <p:spPr bwMode="auto">
            <a:xfrm>
              <a:off x="4868" y="2679"/>
              <a:ext cx="0" cy="192"/>
            </a:xfrm>
            <a:prstGeom prst="line">
              <a:avLst/>
            </a:prstGeom>
            <a:noFill/>
            <a:ln w="9525">
              <a:solidFill>
                <a:schemeClr val="tx1"/>
              </a:solidFill>
              <a:round/>
              <a:headEnd/>
              <a:tailEnd type="triangle" w="med" len="med"/>
            </a:ln>
            <a:effectLst/>
          </p:spPr>
          <p:txBody>
            <a:bodyPr/>
            <a:lstStyle/>
            <a:p>
              <a:endParaRPr lang="en-US"/>
            </a:p>
          </p:txBody>
        </p:sp>
        <p:sp>
          <p:nvSpPr>
            <p:cNvPr id="264237" name="Text Box 45"/>
            <p:cNvSpPr txBox="1">
              <a:spLocks noChangeArrowheads="1"/>
            </p:cNvSpPr>
            <p:nvPr/>
          </p:nvSpPr>
          <p:spPr bwMode="auto">
            <a:xfrm>
              <a:off x="5064" y="2832"/>
              <a:ext cx="312" cy="231"/>
            </a:xfrm>
            <a:prstGeom prst="rect">
              <a:avLst/>
            </a:prstGeom>
            <a:noFill/>
            <a:ln w="9525">
              <a:noFill/>
              <a:miter lim="800000"/>
              <a:headEnd/>
              <a:tailEnd/>
            </a:ln>
            <a:effectLst/>
          </p:spPr>
          <p:txBody>
            <a:bodyPr wrap="none">
              <a:spAutoFit/>
            </a:bodyPr>
            <a:lstStyle/>
            <a:p>
              <a:r>
                <a:rPr lang="el-GR" sz="1800" b="1">
                  <a:cs typeface="Times New Roman" pitchFamily="18" charset="0"/>
                </a:rPr>
                <a:t>β</a:t>
              </a:r>
              <a:r>
                <a:rPr lang="en-US" sz="1800" b="1"/>
                <a:t>I</a:t>
              </a:r>
              <a:r>
                <a:rPr lang="en-US" sz="1800" b="1" baseline="-25000"/>
                <a:t>B</a:t>
              </a:r>
            </a:p>
          </p:txBody>
        </p:sp>
        <p:sp>
          <p:nvSpPr>
            <p:cNvPr id="264238" name="Oval 46"/>
            <p:cNvSpPr>
              <a:spLocks noChangeArrowheads="1"/>
            </p:cNvSpPr>
            <p:nvPr/>
          </p:nvSpPr>
          <p:spPr bwMode="auto">
            <a:xfrm>
              <a:off x="3700" y="2570"/>
              <a:ext cx="40" cy="37"/>
            </a:xfrm>
            <a:prstGeom prst="ellipse">
              <a:avLst/>
            </a:prstGeom>
            <a:solidFill>
              <a:schemeClr val="tx2"/>
            </a:solidFill>
            <a:ln w="9525">
              <a:solidFill>
                <a:schemeClr val="tx1"/>
              </a:solidFill>
              <a:round/>
              <a:headEnd/>
              <a:tailEnd/>
            </a:ln>
            <a:effectLst/>
          </p:spPr>
          <p:txBody>
            <a:bodyPr wrap="none" anchor="ctr"/>
            <a:lstStyle/>
            <a:p>
              <a:endParaRPr lang="en-US"/>
            </a:p>
          </p:txBody>
        </p:sp>
        <p:sp>
          <p:nvSpPr>
            <p:cNvPr id="264239" name="Oval 47"/>
            <p:cNvSpPr>
              <a:spLocks noChangeArrowheads="1"/>
            </p:cNvSpPr>
            <p:nvPr/>
          </p:nvSpPr>
          <p:spPr bwMode="auto">
            <a:xfrm>
              <a:off x="5332" y="2474"/>
              <a:ext cx="40" cy="37"/>
            </a:xfrm>
            <a:prstGeom prst="ellipse">
              <a:avLst/>
            </a:prstGeom>
            <a:solidFill>
              <a:schemeClr val="tx2"/>
            </a:solidFill>
            <a:ln w="9525">
              <a:solidFill>
                <a:schemeClr val="tx1"/>
              </a:solidFill>
              <a:round/>
              <a:headEnd/>
              <a:tailEnd/>
            </a:ln>
            <a:effectLst/>
          </p:spPr>
          <p:txBody>
            <a:bodyPr wrap="none" anchor="ctr"/>
            <a:lstStyle/>
            <a:p>
              <a:endParaRPr lang="en-US"/>
            </a:p>
          </p:txBody>
        </p:sp>
        <p:sp>
          <p:nvSpPr>
            <p:cNvPr id="264242" name="Line 50"/>
            <p:cNvSpPr>
              <a:spLocks noChangeShapeType="1"/>
            </p:cNvSpPr>
            <p:nvPr/>
          </p:nvSpPr>
          <p:spPr bwMode="auto">
            <a:xfrm>
              <a:off x="4560" y="3240"/>
              <a:ext cx="0" cy="192"/>
            </a:xfrm>
            <a:prstGeom prst="line">
              <a:avLst/>
            </a:prstGeom>
            <a:noFill/>
            <a:ln w="9525">
              <a:solidFill>
                <a:schemeClr val="tx1"/>
              </a:solidFill>
              <a:round/>
              <a:headEnd/>
              <a:tailEnd/>
            </a:ln>
            <a:effectLst/>
          </p:spPr>
          <p:txBody>
            <a:bodyPr/>
            <a:lstStyle/>
            <a:p>
              <a:endParaRPr lang="en-US"/>
            </a:p>
          </p:txBody>
        </p:sp>
        <p:sp>
          <p:nvSpPr>
            <p:cNvPr id="264243" name="Oval 51"/>
            <p:cNvSpPr>
              <a:spLocks noChangeArrowheads="1"/>
            </p:cNvSpPr>
            <p:nvPr/>
          </p:nvSpPr>
          <p:spPr bwMode="auto">
            <a:xfrm>
              <a:off x="4548" y="3419"/>
              <a:ext cx="40" cy="37"/>
            </a:xfrm>
            <a:prstGeom prst="ellipse">
              <a:avLst/>
            </a:prstGeom>
            <a:solidFill>
              <a:schemeClr val="tx2"/>
            </a:solidFill>
            <a:ln w="9525">
              <a:solidFill>
                <a:schemeClr val="tx1"/>
              </a:solidFill>
              <a:round/>
              <a:headEnd/>
              <a:tailEnd/>
            </a:ln>
            <a:effectLst/>
          </p:spPr>
          <p:txBody>
            <a:bodyPr wrap="none" anchor="ctr"/>
            <a:lstStyle/>
            <a:p>
              <a:endParaRPr lang="en-US"/>
            </a:p>
          </p:txBody>
        </p:sp>
        <p:sp>
          <p:nvSpPr>
            <p:cNvPr id="264245" name="Text Box 53"/>
            <p:cNvSpPr txBox="1">
              <a:spLocks noChangeArrowheads="1"/>
            </p:cNvSpPr>
            <p:nvPr/>
          </p:nvSpPr>
          <p:spPr bwMode="auto">
            <a:xfrm>
              <a:off x="3504" y="2630"/>
              <a:ext cx="223" cy="250"/>
            </a:xfrm>
            <a:prstGeom prst="rect">
              <a:avLst/>
            </a:prstGeom>
            <a:noFill/>
            <a:ln w="9525">
              <a:noFill/>
              <a:miter lim="800000"/>
              <a:headEnd/>
              <a:tailEnd/>
            </a:ln>
            <a:effectLst/>
          </p:spPr>
          <p:txBody>
            <a:bodyPr wrap="none">
              <a:spAutoFit/>
            </a:bodyPr>
            <a:lstStyle/>
            <a:p>
              <a:r>
                <a:rPr lang="en-US" sz="2000" b="1"/>
                <a:t>B</a:t>
              </a:r>
            </a:p>
          </p:txBody>
        </p:sp>
        <p:sp>
          <p:nvSpPr>
            <p:cNvPr id="264246" name="Text Box 54"/>
            <p:cNvSpPr txBox="1">
              <a:spLocks noChangeArrowheads="1"/>
            </p:cNvSpPr>
            <p:nvPr/>
          </p:nvSpPr>
          <p:spPr bwMode="auto">
            <a:xfrm>
              <a:off x="5297" y="2496"/>
              <a:ext cx="232" cy="250"/>
            </a:xfrm>
            <a:prstGeom prst="rect">
              <a:avLst/>
            </a:prstGeom>
            <a:noFill/>
            <a:ln w="9525">
              <a:noFill/>
              <a:miter lim="800000"/>
              <a:headEnd/>
              <a:tailEnd/>
            </a:ln>
            <a:effectLst/>
          </p:spPr>
          <p:txBody>
            <a:bodyPr wrap="none">
              <a:spAutoFit/>
            </a:bodyPr>
            <a:lstStyle/>
            <a:p>
              <a:r>
                <a:rPr lang="en-US" sz="2000" b="1"/>
                <a:t>C</a:t>
              </a:r>
            </a:p>
          </p:txBody>
        </p:sp>
        <p:sp>
          <p:nvSpPr>
            <p:cNvPr id="264249" name="Text Box 57"/>
            <p:cNvSpPr txBox="1">
              <a:spLocks noChangeArrowheads="1"/>
            </p:cNvSpPr>
            <p:nvPr/>
          </p:nvSpPr>
          <p:spPr bwMode="auto">
            <a:xfrm>
              <a:off x="4416" y="3446"/>
              <a:ext cx="223" cy="250"/>
            </a:xfrm>
            <a:prstGeom prst="rect">
              <a:avLst/>
            </a:prstGeom>
            <a:noFill/>
            <a:ln w="9525">
              <a:noFill/>
              <a:miter lim="800000"/>
              <a:headEnd/>
              <a:tailEnd/>
            </a:ln>
            <a:effectLst/>
          </p:spPr>
          <p:txBody>
            <a:bodyPr wrap="none">
              <a:spAutoFit/>
            </a:bodyPr>
            <a:lstStyle/>
            <a:p>
              <a:r>
                <a:rPr lang="en-US" sz="2000" b="1"/>
                <a:t>E</a:t>
              </a:r>
            </a:p>
          </p:txBody>
        </p:sp>
        <p:sp>
          <p:nvSpPr>
            <p:cNvPr id="264253" name="Line 61"/>
            <p:cNvSpPr>
              <a:spLocks noChangeShapeType="1"/>
            </p:cNvSpPr>
            <p:nvPr/>
          </p:nvSpPr>
          <p:spPr bwMode="auto">
            <a:xfrm>
              <a:off x="4560" y="3456"/>
              <a:ext cx="816" cy="0"/>
            </a:xfrm>
            <a:prstGeom prst="line">
              <a:avLst/>
            </a:prstGeom>
            <a:noFill/>
            <a:ln w="9525">
              <a:solidFill>
                <a:schemeClr val="tx1"/>
              </a:solidFill>
              <a:round/>
              <a:headEnd/>
              <a:tailEnd/>
            </a:ln>
            <a:effectLst/>
          </p:spPr>
          <p:txBody>
            <a:bodyPr/>
            <a:lstStyle/>
            <a:p>
              <a:endParaRPr lang="en-US"/>
            </a:p>
          </p:txBody>
        </p:sp>
        <p:sp>
          <p:nvSpPr>
            <p:cNvPr id="264254" name="Line 62"/>
            <p:cNvSpPr>
              <a:spLocks noChangeShapeType="1"/>
            </p:cNvSpPr>
            <p:nvPr/>
          </p:nvSpPr>
          <p:spPr bwMode="auto">
            <a:xfrm>
              <a:off x="3732" y="3447"/>
              <a:ext cx="816" cy="0"/>
            </a:xfrm>
            <a:prstGeom prst="line">
              <a:avLst/>
            </a:prstGeom>
            <a:noFill/>
            <a:ln w="9525">
              <a:solidFill>
                <a:schemeClr val="tx1"/>
              </a:solidFill>
              <a:round/>
              <a:headEnd/>
              <a:tailEnd/>
            </a:ln>
            <a:effectLst/>
          </p:spPr>
          <p:txBody>
            <a:bodyPr/>
            <a:lstStyle/>
            <a:p>
              <a:endParaRPr lang="en-US"/>
            </a:p>
          </p:txBody>
        </p:sp>
        <p:sp>
          <p:nvSpPr>
            <p:cNvPr id="264255" name="Oval 63"/>
            <p:cNvSpPr>
              <a:spLocks noChangeArrowheads="1"/>
            </p:cNvSpPr>
            <p:nvPr/>
          </p:nvSpPr>
          <p:spPr bwMode="auto">
            <a:xfrm>
              <a:off x="5376" y="3444"/>
              <a:ext cx="48" cy="48"/>
            </a:xfrm>
            <a:prstGeom prst="ellipse">
              <a:avLst/>
            </a:prstGeom>
            <a:solidFill>
              <a:schemeClr val="tx1"/>
            </a:solidFill>
            <a:ln w="9525">
              <a:solidFill>
                <a:schemeClr val="tx1"/>
              </a:solidFill>
              <a:round/>
              <a:headEnd/>
              <a:tailEnd/>
            </a:ln>
            <a:effectLst/>
          </p:spPr>
          <p:txBody>
            <a:bodyPr wrap="none" anchor="ctr"/>
            <a:lstStyle/>
            <a:p>
              <a:endParaRPr lang="en-US"/>
            </a:p>
          </p:txBody>
        </p:sp>
        <p:sp>
          <p:nvSpPr>
            <p:cNvPr id="264256" name="Oval 64"/>
            <p:cNvSpPr>
              <a:spLocks noChangeArrowheads="1"/>
            </p:cNvSpPr>
            <p:nvPr/>
          </p:nvSpPr>
          <p:spPr bwMode="auto">
            <a:xfrm>
              <a:off x="3675" y="3426"/>
              <a:ext cx="48" cy="48"/>
            </a:xfrm>
            <a:prstGeom prst="ellipse">
              <a:avLst/>
            </a:prstGeom>
            <a:solidFill>
              <a:schemeClr val="tx1"/>
            </a:solidFill>
            <a:ln w="9525">
              <a:solidFill>
                <a:schemeClr val="tx1"/>
              </a:solidFill>
              <a:round/>
              <a:headEnd/>
              <a:tailEnd/>
            </a:ln>
            <a:effectLst/>
          </p:spPr>
          <p:txBody>
            <a:bodyPr wrap="none" anchor="ctr"/>
            <a:lstStyle/>
            <a:p>
              <a:endParaRPr 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264196"/>
                                        </p:tgtEl>
                                        <p:attrNameLst>
                                          <p:attrName>style.visibility</p:attrName>
                                        </p:attrNameLst>
                                      </p:cBhvr>
                                      <p:to>
                                        <p:strVal val="visible"/>
                                      </p:to>
                                    </p:set>
                                    <p:anim calcmode="lin" valueType="num">
                                      <p:cBhvr additive="base">
                                        <p:cTn id="7" dur="500" fill="hold"/>
                                        <p:tgtEl>
                                          <p:spTgt spid="264196"/>
                                        </p:tgtEl>
                                        <p:attrNameLst>
                                          <p:attrName>ppt_x</p:attrName>
                                        </p:attrNameLst>
                                      </p:cBhvr>
                                      <p:tavLst>
                                        <p:tav tm="0">
                                          <p:val>
                                            <p:strVal val="#ppt_x"/>
                                          </p:val>
                                        </p:tav>
                                        <p:tav tm="100000">
                                          <p:val>
                                            <p:strVal val="#ppt_x"/>
                                          </p:val>
                                        </p:tav>
                                      </p:tavLst>
                                    </p:anim>
                                    <p:anim calcmode="lin" valueType="num">
                                      <p:cBhvr additive="base">
                                        <p:cTn id="8" dur="500" fill="hold"/>
                                        <p:tgtEl>
                                          <p:spTgt spid="26419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4196" grpId="0"/>
    </p:bldLst>
  </p:timing>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12" name="Slide Number Placeholder 6"/>
          <p:cNvSpPr>
            <a:spLocks noGrp="1"/>
          </p:cNvSpPr>
          <p:nvPr>
            <p:ph type="sldNum" sz="quarter" idx="12"/>
          </p:nvPr>
        </p:nvSpPr>
        <p:spPr/>
        <p:txBody>
          <a:bodyPr/>
          <a:lstStyle/>
          <a:p>
            <a:fld id="{2CDCDB12-DA9F-49A2-8487-683B940CB08B}" type="slidenum">
              <a:rPr lang="en-US" altLang="en-US"/>
              <a:pPr/>
              <a:t>15</a:t>
            </a:fld>
            <a:endParaRPr lang="en-US" altLang="en-US"/>
          </a:p>
        </p:txBody>
      </p:sp>
      <p:sp>
        <p:nvSpPr>
          <p:cNvPr id="246786" name="Rectangle 2"/>
          <p:cNvSpPr>
            <a:spLocks noGrp="1" noChangeArrowheads="1"/>
          </p:cNvSpPr>
          <p:nvPr>
            <p:ph type="title"/>
          </p:nvPr>
        </p:nvSpPr>
        <p:spPr>
          <a:xfrm>
            <a:off x="762000" y="76200"/>
            <a:ext cx="7772400" cy="457200"/>
          </a:xfrm>
        </p:spPr>
        <p:txBody>
          <a:bodyPr/>
          <a:lstStyle/>
          <a:p>
            <a:r>
              <a:rPr lang="en-US" sz="2800" b="1" u="sng" dirty="0" smtClean="0"/>
              <a:t>Networks &amp; Circuits</a:t>
            </a:r>
            <a:endParaRPr lang="en-US" sz="2800" b="1" u="sng" dirty="0"/>
          </a:p>
        </p:txBody>
      </p:sp>
      <p:sp>
        <p:nvSpPr>
          <p:cNvPr id="246787" name="Rectangle 3"/>
          <p:cNvSpPr>
            <a:spLocks noGrp="1" noChangeArrowheads="1"/>
          </p:cNvSpPr>
          <p:nvPr>
            <p:ph type="body" sz="half" idx="1"/>
          </p:nvPr>
        </p:nvSpPr>
        <p:spPr>
          <a:xfrm>
            <a:off x="152400" y="609600"/>
            <a:ext cx="8839201" cy="6172200"/>
          </a:xfrm>
        </p:spPr>
        <p:txBody>
          <a:bodyPr/>
          <a:lstStyle/>
          <a:p>
            <a:pPr algn="just"/>
            <a:r>
              <a:rPr lang="en-US" sz="2000" b="1" dirty="0" smtClean="0">
                <a:solidFill>
                  <a:srgbClr val="CC00CC"/>
                </a:solidFill>
                <a:latin typeface="Arial" charset="0"/>
              </a:rPr>
              <a:t>Network </a:t>
            </a:r>
            <a:r>
              <a:rPr lang="en-US" sz="1800" b="1" dirty="0" smtClean="0">
                <a:solidFill>
                  <a:srgbClr val="CC00CC"/>
                </a:solidFill>
                <a:latin typeface="Arial" charset="0"/>
              </a:rPr>
              <a:t>:</a:t>
            </a:r>
            <a:r>
              <a:rPr lang="en-US" sz="1800" b="1" dirty="0" smtClean="0">
                <a:latin typeface="Arial" charset="0"/>
              </a:rPr>
              <a:t> </a:t>
            </a:r>
            <a:r>
              <a:rPr lang="en-US" sz="1800" dirty="0" smtClean="0">
                <a:latin typeface="Arial" charset="0"/>
              </a:rPr>
              <a:t>I</a:t>
            </a:r>
            <a:r>
              <a:rPr lang="en-US" sz="1800" dirty="0" smtClean="0">
                <a:latin typeface="Arial" pitchFamily="34" charset="0"/>
                <a:cs typeface="Arial" pitchFamily="34" charset="0"/>
              </a:rPr>
              <a:t>nterconnection </a:t>
            </a:r>
            <a:r>
              <a:rPr lang="en-US" sz="1800" dirty="0">
                <a:latin typeface="Arial" pitchFamily="34" charset="0"/>
                <a:cs typeface="Arial" pitchFamily="34" charset="0"/>
              </a:rPr>
              <a:t>of two or more </a:t>
            </a:r>
            <a:r>
              <a:rPr lang="en-US" sz="1800" dirty="0" smtClean="0">
                <a:latin typeface="Arial" pitchFamily="34" charset="0"/>
                <a:cs typeface="Arial" pitchFamily="34" charset="0"/>
              </a:rPr>
              <a:t>elements forms </a:t>
            </a:r>
            <a:r>
              <a:rPr lang="en-US" sz="1800" b="1" dirty="0" smtClean="0">
                <a:solidFill>
                  <a:srgbClr val="CC00CC"/>
                </a:solidFill>
                <a:latin typeface="Arial" pitchFamily="34" charset="0"/>
                <a:cs typeface="Arial" pitchFamily="34" charset="0"/>
              </a:rPr>
              <a:t>an electrical </a:t>
            </a:r>
            <a:r>
              <a:rPr lang="en-US" sz="1800" b="1" i="1" dirty="0" smtClean="0">
                <a:solidFill>
                  <a:srgbClr val="CC00CC"/>
                </a:solidFill>
                <a:latin typeface="Arial" pitchFamily="34" charset="0"/>
                <a:cs typeface="Arial" pitchFamily="34" charset="0"/>
              </a:rPr>
              <a:t>network</a:t>
            </a:r>
            <a:endParaRPr lang="en-US" sz="1800" b="1" dirty="0" smtClean="0">
              <a:solidFill>
                <a:srgbClr val="CC00CC"/>
              </a:solidFill>
              <a:latin typeface="Arial" pitchFamily="34" charset="0"/>
              <a:cs typeface="Arial" pitchFamily="34" charset="0"/>
            </a:endParaRPr>
          </a:p>
          <a:p>
            <a:pPr algn="just"/>
            <a:r>
              <a:rPr lang="en-US" sz="1800" b="1" dirty="0" smtClean="0">
                <a:solidFill>
                  <a:schemeClr val="accent2"/>
                </a:solidFill>
                <a:latin typeface="Arial" pitchFamily="34" charset="0"/>
                <a:cs typeface="Arial" pitchFamily="34" charset="0"/>
              </a:rPr>
              <a:t>Circuit</a:t>
            </a:r>
            <a:r>
              <a:rPr lang="en-US" sz="1800" dirty="0" smtClean="0">
                <a:latin typeface="Arial" pitchFamily="34" charset="0"/>
                <a:cs typeface="Arial" pitchFamily="34" charset="0"/>
              </a:rPr>
              <a:t>  : </a:t>
            </a:r>
            <a:r>
              <a:rPr lang="en-US" sz="1800" dirty="0">
                <a:latin typeface="Arial" pitchFamily="34" charset="0"/>
                <a:cs typeface="Arial" pitchFamily="34" charset="0"/>
              </a:rPr>
              <a:t>a network providing one or more closed </a:t>
            </a:r>
            <a:r>
              <a:rPr lang="en-US" sz="1800" dirty="0" smtClean="0">
                <a:latin typeface="Arial" pitchFamily="34" charset="0"/>
                <a:cs typeface="Arial" pitchFamily="34" charset="0"/>
              </a:rPr>
              <a:t>paths, </a:t>
            </a:r>
            <a:r>
              <a:rPr lang="en-US" sz="1800" dirty="0">
                <a:latin typeface="Arial" pitchFamily="34" charset="0"/>
                <a:cs typeface="Arial" pitchFamily="34" charset="0"/>
              </a:rPr>
              <a:t>it is also </a:t>
            </a:r>
            <a:r>
              <a:rPr lang="en-US" sz="1800" dirty="0" smtClean="0">
                <a:solidFill>
                  <a:schemeClr val="accent2"/>
                </a:solidFill>
                <a:latin typeface="Arial" pitchFamily="34" charset="0"/>
                <a:cs typeface="Arial" pitchFamily="34" charset="0"/>
              </a:rPr>
              <a:t>an </a:t>
            </a:r>
            <a:r>
              <a:rPr lang="en-US" sz="1800" b="1" dirty="0" smtClean="0">
                <a:solidFill>
                  <a:schemeClr val="accent2"/>
                </a:solidFill>
                <a:latin typeface="Arial" pitchFamily="34" charset="0"/>
                <a:cs typeface="Arial" pitchFamily="34" charset="0"/>
              </a:rPr>
              <a:t>electric </a:t>
            </a:r>
            <a:r>
              <a:rPr lang="en-US" sz="1800" b="1" i="1" dirty="0">
                <a:solidFill>
                  <a:schemeClr val="accent2"/>
                </a:solidFill>
                <a:latin typeface="Arial" pitchFamily="34" charset="0"/>
                <a:cs typeface="Arial" pitchFamily="34" charset="0"/>
              </a:rPr>
              <a:t>circuit.</a:t>
            </a:r>
            <a:endParaRPr lang="en-US" sz="1800" b="1" dirty="0" smtClean="0">
              <a:solidFill>
                <a:schemeClr val="accent2"/>
              </a:solidFill>
              <a:latin typeface="Arial" pitchFamily="34" charset="0"/>
              <a:cs typeface="Arial" pitchFamily="34" charset="0"/>
            </a:endParaRPr>
          </a:p>
          <a:p>
            <a:pPr marL="0" indent="0" algn="just">
              <a:buNone/>
            </a:pPr>
            <a:r>
              <a:rPr lang="en-US" sz="1800" dirty="0" smtClean="0">
                <a:solidFill>
                  <a:srgbClr val="C00000"/>
                </a:solidFill>
                <a:latin typeface="Arial" pitchFamily="34" charset="0"/>
                <a:cs typeface="Arial" pitchFamily="34" charset="0"/>
              </a:rPr>
              <a:t>Note</a:t>
            </a:r>
            <a:r>
              <a:rPr lang="en-US" sz="1800" dirty="0">
                <a:solidFill>
                  <a:srgbClr val="C00000"/>
                </a:solidFill>
                <a:latin typeface="Arial" pitchFamily="34" charset="0"/>
                <a:cs typeface="Arial" pitchFamily="34" charset="0"/>
              </a:rPr>
              <a:t>: Every circuit is a network, but not all networks </a:t>
            </a:r>
            <a:r>
              <a:rPr lang="en-US" sz="1800" dirty="0" smtClean="0">
                <a:solidFill>
                  <a:srgbClr val="C00000"/>
                </a:solidFill>
                <a:latin typeface="Arial" pitchFamily="34" charset="0"/>
                <a:cs typeface="Arial" pitchFamily="34" charset="0"/>
              </a:rPr>
              <a:t>are circuits </a:t>
            </a:r>
            <a:r>
              <a:rPr lang="en-US" sz="1800" dirty="0">
                <a:solidFill>
                  <a:srgbClr val="C00000"/>
                </a:solidFill>
                <a:latin typeface="Arial" pitchFamily="34" charset="0"/>
                <a:cs typeface="Arial" pitchFamily="34" charset="0"/>
              </a:rPr>
              <a:t>(see Fig. 2.21</a:t>
            </a:r>
            <a:r>
              <a:rPr lang="en-US" sz="1800" dirty="0" smtClean="0">
                <a:solidFill>
                  <a:srgbClr val="C00000"/>
                </a:solidFill>
                <a:latin typeface="Arial" pitchFamily="34" charset="0"/>
                <a:cs typeface="Arial" pitchFamily="34" charset="0"/>
              </a:rPr>
              <a:t>)!</a:t>
            </a:r>
          </a:p>
          <a:p>
            <a:pPr marL="0" indent="0">
              <a:buNone/>
            </a:pPr>
            <a:endParaRPr lang="en-US" sz="2000" dirty="0" smtClean="0">
              <a:latin typeface="Arial" pitchFamily="34" charset="0"/>
              <a:cs typeface="Arial" pitchFamily="34" charset="0"/>
            </a:endParaRPr>
          </a:p>
          <a:p>
            <a:pPr marL="0" indent="0">
              <a:lnSpc>
                <a:spcPct val="80000"/>
              </a:lnSpc>
              <a:buNone/>
            </a:pPr>
            <a:endParaRPr lang="en-US" sz="2000" dirty="0" smtClean="0">
              <a:latin typeface="Arial" pitchFamily="34" charset="0"/>
              <a:cs typeface="Arial" pitchFamily="34" charset="0"/>
            </a:endParaRPr>
          </a:p>
          <a:p>
            <a:pPr marL="0" indent="0">
              <a:lnSpc>
                <a:spcPct val="80000"/>
              </a:lnSpc>
              <a:buNone/>
            </a:pPr>
            <a:endParaRPr lang="en-US" sz="2000" dirty="0">
              <a:latin typeface="Arial" pitchFamily="34" charset="0"/>
              <a:cs typeface="Arial" pitchFamily="34" charset="0"/>
            </a:endParaRPr>
          </a:p>
          <a:p>
            <a:pPr marL="0" indent="0">
              <a:lnSpc>
                <a:spcPct val="80000"/>
              </a:lnSpc>
              <a:buNone/>
            </a:pPr>
            <a:endParaRPr lang="en-US" sz="2000" dirty="0">
              <a:latin typeface="Arial" pitchFamily="34" charset="0"/>
              <a:cs typeface="Arial" pitchFamily="34" charset="0"/>
            </a:endParaRPr>
          </a:p>
          <a:p>
            <a:pPr algn="just"/>
            <a:endParaRPr lang="en-US" sz="1800" b="1" dirty="0" smtClean="0">
              <a:solidFill>
                <a:srgbClr val="CC00CC"/>
              </a:solidFill>
              <a:latin typeface="Arial" pitchFamily="34" charset="0"/>
              <a:cs typeface="Arial" pitchFamily="34" charset="0"/>
            </a:endParaRPr>
          </a:p>
          <a:p>
            <a:pPr algn="just"/>
            <a:endParaRPr lang="en-US" sz="1800" b="1" dirty="0" smtClean="0">
              <a:solidFill>
                <a:srgbClr val="CC00CC"/>
              </a:solidFill>
              <a:latin typeface="Arial" pitchFamily="34" charset="0"/>
              <a:cs typeface="Arial" pitchFamily="34" charset="0"/>
            </a:endParaRPr>
          </a:p>
          <a:p>
            <a:pPr algn="just"/>
            <a:endParaRPr lang="en-US" sz="1800" b="1" dirty="0">
              <a:solidFill>
                <a:srgbClr val="CC00CC"/>
              </a:solidFill>
              <a:latin typeface="Arial" pitchFamily="34" charset="0"/>
              <a:cs typeface="Arial" pitchFamily="34" charset="0"/>
            </a:endParaRPr>
          </a:p>
          <a:p>
            <a:pPr algn="just"/>
            <a:r>
              <a:rPr lang="en-US" sz="1800" b="1" dirty="0" smtClean="0">
                <a:solidFill>
                  <a:srgbClr val="CC00CC"/>
                </a:solidFill>
                <a:latin typeface="Arial" pitchFamily="34" charset="0"/>
                <a:cs typeface="Arial" pitchFamily="34" charset="0"/>
              </a:rPr>
              <a:t>Active Network </a:t>
            </a:r>
            <a:r>
              <a:rPr lang="en-US" sz="1800" dirty="0" smtClean="0">
                <a:solidFill>
                  <a:srgbClr val="CC00CC"/>
                </a:solidFill>
                <a:latin typeface="Arial" pitchFamily="34" charset="0"/>
                <a:cs typeface="Arial" pitchFamily="34" charset="0"/>
              </a:rPr>
              <a:t>: </a:t>
            </a:r>
            <a:r>
              <a:rPr lang="en-US" sz="1800" dirty="0">
                <a:latin typeface="Arial" pitchFamily="34" charset="0"/>
                <a:cs typeface="Arial" pitchFamily="34" charset="0"/>
              </a:rPr>
              <a:t>A network that contains at least one active element, such as an </a:t>
            </a:r>
            <a:r>
              <a:rPr lang="en-US" sz="1800" dirty="0" smtClean="0">
                <a:latin typeface="Arial" pitchFamily="34" charset="0"/>
                <a:cs typeface="Arial" pitchFamily="34" charset="0"/>
              </a:rPr>
              <a:t>independent voltage </a:t>
            </a:r>
            <a:r>
              <a:rPr lang="en-US" sz="1800" dirty="0">
                <a:latin typeface="Arial" pitchFamily="34" charset="0"/>
                <a:cs typeface="Arial" pitchFamily="34" charset="0"/>
              </a:rPr>
              <a:t>or current source, is an active network. </a:t>
            </a:r>
            <a:r>
              <a:rPr lang="en-US" sz="1800" dirty="0" smtClean="0">
                <a:latin typeface="Arial" pitchFamily="34" charset="0"/>
                <a:cs typeface="Arial" pitchFamily="34" charset="0"/>
              </a:rPr>
              <a:t>contains active element</a:t>
            </a:r>
          </a:p>
          <a:p>
            <a:pPr algn="just"/>
            <a:r>
              <a:rPr lang="en-US" sz="1800" b="1" dirty="0" smtClean="0">
                <a:solidFill>
                  <a:srgbClr val="CC00CC"/>
                </a:solidFill>
                <a:latin typeface="Arial" pitchFamily="34" charset="0"/>
                <a:cs typeface="Arial" pitchFamily="34" charset="0"/>
              </a:rPr>
              <a:t>Passive Network </a:t>
            </a:r>
            <a:r>
              <a:rPr lang="en-US" sz="1800" dirty="0" smtClean="0">
                <a:solidFill>
                  <a:srgbClr val="CC00CC"/>
                </a:solidFill>
                <a:latin typeface="Arial" pitchFamily="34" charset="0"/>
                <a:cs typeface="Arial" pitchFamily="34" charset="0"/>
              </a:rPr>
              <a:t>: </a:t>
            </a:r>
            <a:r>
              <a:rPr lang="en-US" sz="1800" dirty="0">
                <a:latin typeface="Arial" pitchFamily="34" charset="0"/>
                <a:cs typeface="Arial" pitchFamily="34" charset="0"/>
              </a:rPr>
              <a:t>A network that does </a:t>
            </a:r>
            <a:r>
              <a:rPr lang="en-US" sz="1800" dirty="0" smtClean="0">
                <a:latin typeface="Arial" pitchFamily="34" charset="0"/>
                <a:cs typeface="Arial" pitchFamily="34" charset="0"/>
              </a:rPr>
              <a:t>not contain </a:t>
            </a:r>
            <a:r>
              <a:rPr lang="en-US" sz="1800" dirty="0">
                <a:latin typeface="Arial" pitchFamily="34" charset="0"/>
                <a:cs typeface="Arial" pitchFamily="34" charset="0"/>
              </a:rPr>
              <a:t>any active elements is a passive </a:t>
            </a:r>
            <a:r>
              <a:rPr lang="en-US" sz="1800" dirty="0" smtClean="0">
                <a:latin typeface="Arial" pitchFamily="34" charset="0"/>
                <a:cs typeface="Arial" pitchFamily="34" charset="0"/>
              </a:rPr>
              <a:t>network.no active element</a:t>
            </a:r>
          </a:p>
          <a:p>
            <a:pPr lvl="1" algn="just"/>
            <a:r>
              <a:rPr lang="en-US" sz="1800" b="1" dirty="0" smtClean="0">
                <a:latin typeface="Arial" charset="0"/>
              </a:rPr>
              <a:t>Networks </a:t>
            </a:r>
            <a:r>
              <a:rPr lang="en-US" sz="1800" b="1" dirty="0">
                <a:latin typeface="Arial" charset="0"/>
              </a:rPr>
              <a:t>have branches, nodes, paths, loops and meshes etc.</a:t>
            </a:r>
          </a:p>
          <a:p>
            <a:pPr>
              <a:lnSpc>
                <a:spcPct val="80000"/>
              </a:lnSpc>
            </a:pPr>
            <a:endParaRPr lang="en-US" sz="1800" b="1" dirty="0" smtClean="0">
              <a:solidFill>
                <a:srgbClr val="FF0000"/>
              </a:solidFill>
              <a:latin typeface="Arial" charset="0"/>
            </a:endParaRPr>
          </a:p>
          <a:p>
            <a:pPr>
              <a:lnSpc>
                <a:spcPct val="80000"/>
              </a:lnSpc>
            </a:pPr>
            <a:r>
              <a:rPr lang="en-US" sz="1800" b="1" dirty="0" smtClean="0">
                <a:solidFill>
                  <a:srgbClr val="FF0000"/>
                </a:solidFill>
                <a:latin typeface="Arial" charset="0"/>
              </a:rPr>
              <a:t>Ohm’s Law !</a:t>
            </a:r>
            <a:endParaRPr lang="en-US" sz="1800" b="1" baseline="-25000" dirty="0">
              <a:solidFill>
                <a:srgbClr val="FF0000"/>
              </a:solidFill>
              <a:latin typeface="Arial" charset="0"/>
            </a:endParaRPr>
          </a:p>
        </p:txBody>
      </p:sp>
      <p:sp>
        <p:nvSpPr>
          <p:cNvPr id="246788" name="Rectangle 4"/>
          <p:cNvSpPr>
            <a:spLocks noChangeArrowheads="1"/>
          </p:cNvSpPr>
          <p:nvPr/>
        </p:nvSpPr>
        <p:spPr bwMode="auto">
          <a:xfrm>
            <a:off x="8640763" y="6400800"/>
            <a:ext cx="503237" cy="457200"/>
          </a:xfrm>
          <a:prstGeom prst="rect">
            <a:avLst/>
          </a:prstGeom>
          <a:noFill/>
          <a:ln w="9525">
            <a:noFill/>
            <a:miter lim="800000"/>
            <a:headEnd/>
            <a:tailEnd/>
          </a:ln>
          <a:effectLst/>
        </p:spPr>
        <p:txBody>
          <a:bodyPr wrap="none">
            <a:spAutoFit/>
          </a:bodyPr>
          <a:lstStyle/>
          <a:p>
            <a:pPr>
              <a:spcBef>
                <a:spcPct val="50000"/>
              </a:spcBef>
              <a:buFont typeface="Wingdings" pitchFamily="2" charset="2"/>
              <a:buChar char="Ø"/>
            </a:pPr>
            <a:r>
              <a:rPr lang="en-US"/>
              <a:t> </a:t>
            </a:r>
          </a:p>
        </p:txBody>
      </p:sp>
      <p:pic>
        <p:nvPicPr>
          <p:cNvPr id="1026" name="Picture 2"/>
          <p:cNvPicPr>
            <a:picLocks noChangeAspect="1" noChangeArrowheads="1"/>
          </p:cNvPicPr>
          <p:nvPr/>
        </p:nvPicPr>
        <p:blipFill>
          <a:blip r:embed="rId2">
            <a:extLst>
              <a:ext uri="{BEBA8EAE-BF5A-486C-A8C5-ECC9F3942E4B}">
                <a14:imgProps xmlns:a14="http://schemas.microsoft.com/office/drawing/2010/main">
                  <a14:imgLayer r:embed="rId3">
                    <a14:imgEffect>
                      <a14:brightnessContrast bright="-30000" contrast="71000"/>
                    </a14:imgEffect>
                  </a14:imgLayer>
                </a14:imgProps>
              </a:ext>
              <a:ext uri="{28A0092B-C50C-407E-A947-70E740481C1C}">
                <a14:useLocalDpi xmlns:a14="http://schemas.microsoft.com/office/drawing/2010/main" val="0"/>
              </a:ext>
            </a:extLst>
          </a:blip>
          <a:srcRect/>
          <a:stretch>
            <a:fillRect/>
          </a:stretch>
        </p:blipFill>
        <p:spPr bwMode="auto">
          <a:xfrm>
            <a:off x="4543424" y="1981200"/>
            <a:ext cx="3000376" cy="2057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p:cover dir="l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246788"/>
                                        </p:tgtEl>
                                        <p:attrNameLst>
                                          <p:attrName>style.visibility</p:attrName>
                                        </p:attrNameLst>
                                      </p:cBhvr>
                                      <p:to>
                                        <p:strVal val="visible"/>
                                      </p:to>
                                    </p:set>
                                    <p:anim calcmode="lin" valueType="num">
                                      <p:cBhvr additive="base">
                                        <p:cTn id="7" dur="500" fill="hold"/>
                                        <p:tgtEl>
                                          <p:spTgt spid="246788"/>
                                        </p:tgtEl>
                                        <p:attrNameLst>
                                          <p:attrName>ppt_x</p:attrName>
                                        </p:attrNameLst>
                                      </p:cBhvr>
                                      <p:tavLst>
                                        <p:tav tm="0">
                                          <p:val>
                                            <p:strVal val="#ppt_x"/>
                                          </p:val>
                                        </p:tav>
                                        <p:tav tm="100000">
                                          <p:val>
                                            <p:strVal val="#ppt_x"/>
                                          </p:val>
                                        </p:tav>
                                      </p:tavLst>
                                    </p:anim>
                                    <p:anim calcmode="lin" valueType="num">
                                      <p:cBhvr additive="base">
                                        <p:cTn id="8" dur="500" fill="hold"/>
                                        <p:tgtEl>
                                          <p:spTgt spid="24678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6788" grpId="0"/>
    </p:bldLst>
  </p:timing>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8" name="Slide Number Placeholder 6"/>
          <p:cNvSpPr>
            <a:spLocks noGrp="1"/>
          </p:cNvSpPr>
          <p:nvPr>
            <p:ph type="sldNum" sz="quarter" idx="12"/>
          </p:nvPr>
        </p:nvSpPr>
        <p:spPr/>
        <p:txBody>
          <a:bodyPr/>
          <a:lstStyle/>
          <a:p>
            <a:fld id="{522B7C92-1A6F-4DEC-9507-B82EB5349D56}" type="slidenum">
              <a:rPr lang="en-US" altLang="en-US"/>
              <a:pPr/>
              <a:t>16</a:t>
            </a:fld>
            <a:endParaRPr lang="en-US" altLang="en-US"/>
          </a:p>
        </p:txBody>
      </p:sp>
      <p:sp>
        <p:nvSpPr>
          <p:cNvPr id="248834" name="Rectangle 2"/>
          <p:cNvSpPr>
            <a:spLocks noGrp="1" noChangeArrowheads="1"/>
          </p:cNvSpPr>
          <p:nvPr>
            <p:ph type="title"/>
          </p:nvPr>
        </p:nvSpPr>
        <p:spPr>
          <a:xfrm>
            <a:off x="3048000" y="228600"/>
            <a:ext cx="3048000" cy="457200"/>
          </a:xfrm>
        </p:spPr>
        <p:txBody>
          <a:bodyPr/>
          <a:lstStyle/>
          <a:p>
            <a:r>
              <a:rPr lang="en-US" sz="2800" b="1" u="sng" dirty="0" smtClean="0"/>
              <a:t>Ohm’s Law</a:t>
            </a:r>
            <a:endParaRPr lang="en-US" sz="2800" b="1" u="sng" dirty="0"/>
          </a:p>
        </p:txBody>
      </p:sp>
      <p:sp>
        <p:nvSpPr>
          <p:cNvPr id="248835" name="Rectangle 3"/>
          <p:cNvSpPr>
            <a:spLocks noChangeArrowheads="1"/>
          </p:cNvSpPr>
          <p:nvPr/>
        </p:nvSpPr>
        <p:spPr bwMode="auto">
          <a:xfrm>
            <a:off x="8640763" y="6400800"/>
            <a:ext cx="503237" cy="457200"/>
          </a:xfrm>
          <a:prstGeom prst="rect">
            <a:avLst/>
          </a:prstGeom>
          <a:noFill/>
          <a:ln w="9525">
            <a:noFill/>
            <a:miter lim="800000"/>
            <a:headEnd/>
            <a:tailEnd/>
          </a:ln>
          <a:effectLst/>
        </p:spPr>
        <p:txBody>
          <a:bodyPr wrap="none">
            <a:spAutoFit/>
          </a:bodyPr>
          <a:lstStyle/>
          <a:p>
            <a:pPr>
              <a:spcBef>
                <a:spcPct val="50000"/>
              </a:spcBef>
              <a:buFont typeface="Wingdings" pitchFamily="2" charset="2"/>
              <a:buChar char="Ø"/>
            </a:pPr>
            <a:r>
              <a:rPr lang="en-US"/>
              <a:t> </a:t>
            </a:r>
          </a:p>
        </p:txBody>
      </p:sp>
      <p:sp>
        <p:nvSpPr>
          <p:cNvPr id="248836" name="Rectangle 4"/>
          <p:cNvSpPr>
            <a:spLocks noChangeArrowheads="1"/>
          </p:cNvSpPr>
          <p:nvPr/>
        </p:nvSpPr>
        <p:spPr bwMode="auto">
          <a:xfrm>
            <a:off x="457201" y="838200"/>
            <a:ext cx="8435180" cy="5867400"/>
          </a:xfrm>
          <a:prstGeom prst="rect">
            <a:avLst/>
          </a:prstGeom>
          <a:noFill/>
          <a:ln w="9525">
            <a:noFill/>
            <a:miter lim="800000"/>
            <a:headEnd/>
            <a:tailEnd/>
          </a:ln>
          <a:effectLst/>
        </p:spPr>
        <p:txBody>
          <a:bodyPr/>
          <a:lstStyle/>
          <a:p>
            <a:pPr marL="342900" indent="-342900" algn="just">
              <a:lnSpc>
                <a:spcPct val="90000"/>
              </a:lnSpc>
              <a:spcBef>
                <a:spcPct val="20000"/>
              </a:spcBef>
              <a:buFontTx/>
              <a:buChar char="•"/>
            </a:pPr>
            <a:r>
              <a:rPr lang="en-US" sz="2000" b="1" dirty="0" smtClean="0">
                <a:latin typeface="Arial" charset="0"/>
              </a:rPr>
              <a:t>Relationship </a:t>
            </a:r>
            <a:r>
              <a:rPr lang="en-US" sz="2000" b="1" dirty="0">
                <a:latin typeface="Arial" charset="0"/>
              </a:rPr>
              <a:t>between </a:t>
            </a:r>
            <a:r>
              <a:rPr lang="en-US" sz="2000" b="1" dirty="0">
                <a:solidFill>
                  <a:srgbClr val="C00000"/>
                </a:solidFill>
                <a:latin typeface="Arial" charset="0"/>
              </a:rPr>
              <a:t>current and voltage </a:t>
            </a:r>
            <a:r>
              <a:rPr lang="en-US" sz="2000" b="1" dirty="0">
                <a:latin typeface="Arial" charset="0"/>
              </a:rPr>
              <a:t>for </a:t>
            </a:r>
            <a:r>
              <a:rPr lang="en-US" sz="2000" b="1" dirty="0">
                <a:solidFill>
                  <a:srgbClr val="C00000"/>
                </a:solidFill>
                <a:latin typeface="Arial" charset="0"/>
              </a:rPr>
              <a:t>a resistor </a:t>
            </a:r>
            <a:r>
              <a:rPr lang="en-US" sz="2000" b="1" dirty="0" smtClean="0">
                <a:latin typeface="Arial" charset="0"/>
              </a:rPr>
              <a:t>:  </a:t>
            </a:r>
            <a:r>
              <a:rPr lang="en-US" sz="2000" b="1" dirty="0">
                <a:latin typeface="Arial" charset="0"/>
              </a:rPr>
              <a:t>found in 1827 by </a:t>
            </a:r>
            <a:r>
              <a:rPr lang="en-US" sz="2000" b="1" i="1" dirty="0">
                <a:solidFill>
                  <a:schemeClr val="accent2"/>
                </a:solidFill>
                <a:latin typeface="Arial" pitchFamily="34" charset="0"/>
                <a:cs typeface="Arial" pitchFamily="34" charset="0"/>
              </a:rPr>
              <a:t>Georg </a:t>
            </a:r>
            <a:r>
              <a:rPr lang="en-US" sz="2000" b="1" i="1" dirty="0" smtClean="0">
                <a:solidFill>
                  <a:schemeClr val="accent2"/>
                </a:solidFill>
                <a:latin typeface="Arial" pitchFamily="34" charset="0"/>
                <a:cs typeface="Arial" pitchFamily="34" charset="0"/>
              </a:rPr>
              <a:t>Simon Ohm </a:t>
            </a:r>
            <a:r>
              <a:rPr lang="en-US" sz="2000" b="1" dirty="0" smtClean="0">
                <a:latin typeface="Arial" charset="0"/>
              </a:rPr>
              <a:t>(German </a:t>
            </a:r>
            <a:r>
              <a:rPr lang="en-US" sz="2000" b="1" dirty="0">
                <a:latin typeface="Arial" charset="0"/>
              </a:rPr>
              <a:t>physicist 1787 – </a:t>
            </a:r>
            <a:r>
              <a:rPr lang="en-US" sz="2000" b="1" dirty="0" smtClean="0">
                <a:latin typeface="Arial" charset="0"/>
              </a:rPr>
              <a:t>1854)</a:t>
            </a:r>
          </a:p>
          <a:p>
            <a:pPr marL="342900" indent="-342900" algn="just">
              <a:lnSpc>
                <a:spcPct val="90000"/>
              </a:lnSpc>
              <a:spcBef>
                <a:spcPct val="20000"/>
              </a:spcBef>
              <a:buFontTx/>
              <a:buChar char="•"/>
            </a:pPr>
            <a:endParaRPr lang="en-US" sz="2000" b="1" dirty="0">
              <a:latin typeface="Arial" charset="0"/>
            </a:endParaRPr>
          </a:p>
          <a:p>
            <a:pPr marL="342900" indent="-342900" algn="just">
              <a:lnSpc>
                <a:spcPct val="90000"/>
              </a:lnSpc>
              <a:spcBef>
                <a:spcPct val="20000"/>
              </a:spcBef>
              <a:buFontTx/>
              <a:buChar char="•"/>
            </a:pPr>
            <a:r>
              <a:rPr lang="en-US" sz="2000" b="1" dirty="0" smtClean="0">
                <a:solidFill>
                  <a:srgbClr val="CC00CC"/>
                </a:solidFill>
                <a:latin typeface="Arial" charset="0"/>
              </a:rPr>
              <a:t>Forty-six </a:t>
            </a:r>
            <a:r>
              <a:rPr lang="en-US" sz="2000" b="1" dirty="0">
                <a:solidFill>
                  <a:srgbClr val="CC00CC"/>
                </a:solidFill>
                <a:latin typeface="Arial" charset="0"/>
              </a:rPr>
              <a:t>years earlier Henry Cavendish, a semi recluse, had also discovered this relationship</a:t>
            </a:r>
            <a:r>
              <a:rPr lang="en-US" sz="2000" b="1" dirty="0" smtClean="0">
                <a:solidFill>
                  <a:srgbClr val="CC00CC"/>
                </a:solidFill>
                <a:latin typeface="Arial" charset="0"/>
              </a:rPr>
              <a:t>.</a:t>
            </a:r>
          </a:p>
          <a:p>
            <a:pPr marL="342900" indent="-342900" algn="just">
              <a:lnSpc>
                <a:spcPct val="90000"/>
              </a:lnSpc>
              <a:spcBef>
                <a:spcPct val="20000"/>
              </a:spcBef>
              <a:buFontTx/>
              <a:buChar char="•"/>
            </a:pPr>
            <a:endParaRPr lang="en-US" sz="2000" b="1" dirty="0">
              <a:solidFill>
                <a:srgbClr val="CC00CC"/>
              </a:solidFill>
              <a:latin typeface="Arial" charset="0"/>
            </a:endParaRPr>
          </a:p>
          <a:p>
            <a:pPr marL="342900" indent="-342900" algn="just">
              <a:lnSpc>
                <a:spcPct val="90000"/>
              </a:lnSpc>
              <a:spcBef>
                <a:spcPct val="20000"/>
              </a:spcBef>
              <a:buFontTx/>
              <a:buChar char="•"/>
            </a:pPr>
            <a:r>
              <a:rPr lang="en-US" sz="2000" b="1" dirty="0">
                <a:latin typeface="Arial" charset="0"/>
              </a:rPr>
              <a:t>Ohm’s Law states that the </a:t>
            </a:r>
            <a:r>
              <a:rPr lang="en-US" sz="2000" b="1" i="1" dirty="0">
                <a:solidFill>
                  <a:srgbClr val="C00000"/>
                </a:solidFill>
                <a:latin typeface="Arial" charset="0"/>
              </a:rPr>
              <a:t>voltage ‘v’</a:t>
            </a:r>
            <a:r>
              <a:rPr lang="en-US" sz="2000" b="1" dirty="0">
                <a:latin typeface="Arial" charset="0"/>
              </a:rPr>
              <a:t> across a </a:t>
            </a:r>
            <a:r>
              <a:rPr lang="en-US" sz="2000" b="1" i="1" dirty="0" smtClean="0">
                <a:solidFill>
                  <a:schemeClr val="accent2"/>
                </a:solidFill>
                <a:latin typeface="Arial" charset="0"/>
              </a:rPr>
              <a:t>conducting material</a:t>
            </a:r>
            <a:r>
              <a:rPr lang="en-US" sz="2000" b="1" dirty="0" smtClean="0">
                <a:solidFill>
                  <a:schemeClr val="accent2"/>
                </a:solidFill>
                <a:latin typeface="Arial" charset="0"/>
              </a:rPr>
              <a:t> </a:t>
            </a:r>
            <a:r>
              <a:rPr lang="en-US" sz="2000" b="1" dirty="0">
                <a:latin typeface="Arial" charset="0"/>
              </a:rPr>
              <a:t>is directly proportional to the </a:t>
            </a:r>
            <a:r>
              <a:rPr lang="en-US" sz="2000" b="1" i="1" dirty="0">
                <a:solidFill>
                  <a:schemeClr val="accent2"/>
                </a:solidFill>
                <a:latin typeface="Arial" charset="0"/>
              </a:rPr>
              <a:t>current ‘</a:t>
            </a:r>
            <a:r>
              <a:rPr lang="en-US" sz="2000" b="1" i="1" dirty="0" err="1">
                <a:solidFill>
                  <a:schemeClr val="accent2"/>
                </a:solidFill>
                <a:latin typeface="Arial" charset="0"/>
              </a:rPr>
              <a:t>i</a:t>
            </a:r>
            <a:r>
              <a:rPr lang="en-US" sz="2000" b="1" i="1" dirty="0">
                <a:solidFill>
                  <a:schemeClr val="accent2"/>
                </a:solidFill>
                <a:latin typeface="Arial" charset="0"/>
              </a:rPr>
              <a:t>’</a:t>
            </a:r>
            <a:r>
              <a:rPr lang="en-US" sz="2000" b="1" dirty="0">
                <a:latin typeface="Arial" charset="0"/>
              </a:rPr>
              <a:t> flowing through the </a:t>
            </a:r>
            <a:r>
              <a:rPr lang="en-US" sz="2000" b="1" dirty="0" smtClean="0">
                <a:latin typeface="Arial" charset="0"/>
              </a:rPr>
              <a:t>material</a:t>
            </a:r>
            <a:endParaRPr lang="en-US" sz="2000" b="1" dirty="0">
              <a:latin typeface="Arial" charset="0"/>
            </a:endParaRPr>
          </a:p>
          <a:p>
            <a:pPr marL="342900" indent="-342900" algn="just">
              <a:lnSpc>
                <a:spcPct val="90000"/>
              </a:lnSpc>
              <a:spcBef>
                <a:spcPct val="20000"/>
              </a:spcBef>
              <a:buFontTx/>
              <a:buChar char="•"/>
            </a:pPr>
            <a:r>
              <a:rPr lang="en-US" sz="2000" b="1" dirty="0">
                <a:latin typeface="Arial" charset="0"/>
              </a:rPr>
              <a:t>Mathematically, </a:t>
            </a:r>
            <a:endParaRPr lang="en-US" sz="2000" b="1" dirty="0" smtClean="0">
              <a:latin typeface="Arial" charset="0"/>
            </a:endParaRPr>
          </a:p>
          <a:p>
            <a:pPr algn="just">
              <a:lnSpc>
                <a:spcPct val="90000"/>
              </a:lnSpc>
              <a:spcBef>
                <a:spcPct val="20000"/>
              </a:spcBef>
            </a:pPr>
            <a:r>
              <a:rPr lang="en-US" sz="2000" b="1" dirty="0" smtClean="0">
                <a:latin typeface="Arial" charset="0"/>
              </a:rPr>
              <a:t>			</a:t>
            </a:r>
            <a:r>
              <a:rPr lang="en-US" b="1" dirty="0" smtClean="0">
                <a:solidFill>
                  <a:srgbClr val="C00000"/>
                </a:solidFill>
                <a:latin typeface="Arial" charset="0"/>
              </a:rPr>
              <a:t>v </a:t>
            </a:r>
            <a:r>
              <a:rPr lang="en-US" b="1" dirty="0">
                <a:latin typeface="Arial" charset="0"/>
                <a:cs typeface="Arial" charset="0"/>
              </a:rPr>
              <a:t>∞ </a:t>
            </a:r>
            <a:r>
              <a:rPr lang="en-US" b="1" dirty="0" err="1">
                <a:latin typeface="Arial" charset="0"/>
                <a:cs typeface="Arial" charset="0"/>
              </a:rPr>
              <a:t>i</a:t>
            </a:r>
            <a:r>
              <a:rPr lang="en-US" b="1" dirty="0">
                <a:latin typeface="Arial" charset="0"/>
                <a:cs typeface="Arial" charset="0"/>
              </a:rPr>
              <a:t>  </a:t>
            </a:r>
          </a:p>
          <a:p>
            <a:pPr algn="just">
              <a:lnSpc>
                <a:spcPct val="90000"/>
              </a:lnSpc>
              <a:spcBef>
                <a:spcPct val="20000"/>
              </a:spcBef>
            </a:pPr>
            <a:r>
              <a:rPr lang="en-US" sz="2000" b="1" dirty="0">
                <a:latin typeface="Arial" charset="0"/>
              </a:rPr>
              <a:t>	</a:t>
            </a:r>
            <a:r>
              <a:rPr lang="en-US" sz="1400" b="1" dirty="0">
                <a:latin typeface="Arial" charset="0"/>
              </a:rPr>
              <a:t>		</a:t>
            </a:r>
            <a:r>
              <a:rPr lang="en-US" b="1" dirty="0" smtClean="0">
                <a:solidFill>
                  <a:srgbClr val="C00000"/>
                </a:solidFill>
                <a:latin typeface="Arial" charset="0"/>
              </a:rPr>
              <a:t>v</a:t>
            </a:r>
            <a:r>
              <a:rPr lang="en-US" b="1" dirty="0" smtClean="0">
                <a:solidFill>
                  <a:schemeClr val="accent2"/>
                </a:solidFill>
                <a:latin typeface="Arial" charset="0"/>
              </a:rPr>
              <a:t> </a:t>
            </a:r>
            <a:r>
              <a:rPr lang="en-US" b="1" dirty="0" smtClean="0">
                <a:solidFill>
                  <a:schemeClr val="accent2"/>
                </a:solidFill>
                <a:latin typeface="Arial" charset="0"/>
                <a:cs typeface="Arial" charset="0"/>
              </a:rPr>
              <a:t>= </a:t>
            </a:r>
            <a:r>
              <a:rPr lang="en-US" b="1" dirty="0" err="1" smtClean="0">
                <a:solidFill>
                  <a:schemeClr val="accent2"/>
                </a:solidFill>
                <a:latin typeface="Arial" charset="0"/>
                <a:cs typeface="Arial" charset="0"/>
              </a:rPr>
              <a:t>Ri</a:t>
            </a:r>
            <a:r>
              <a:rPr lang="en-US" b="1" dirty="0" smtClean="0">
                <a:solidFill>
                  <a:schemeClr val="accent2"/>
                </a:solidFill>
                <a:latin typeface="Arial" charset="0"/>
                <a:cs typeface="Arial" charset="0"/>
              </a:rPr>
              <a:t>  </a:t>
            </a:r>
            <a:endParaRPr lang="en-US" b="1" dirty="0">
              <a:solidFill>
                <a:schemeClr val="accent2"/>
              </a:solidFill>
              <a:latin typeface="Arial" charset="0"/>
              <a:cs typeface="Arial" charset="0"/>
            </a:endParaRPr>
          </a:p>
          <a:p>
            <a:r>
              <a:rPr lang="en-US" sz="2000" dirty="0">
                <a:latin typeface="Arial" pitchFamily="34" charset="0"/>
                <a:cs typeface="Arial" pitchFamily="34" charset="0"/>
              </a:rPr>
              <a:t>where the constant of proportionality </a:t>
            </a:r>
            <a:r>
              <a:rPr lang="en-US" sz="2000" b="1" i="1" dirty="0">
                <a:solidFill>
                  <a:schemeClr val="accent2"/>
                </a:solidFill>
                <a:latin typeface="Arial" pitchFamily="34" charset="0"/>
                <a:cs typeface="Arial" pitchFamily="34" charset="0"/>
              </a:rPr>
              <a:t>R</a:t>
            </a:r>
            <a:r>
              <a:rPr lang="en-US" sz="2000" i="1" dirty="0">
                <a:latin typeface="Arial" pitchFamily="34" charset="0"/>
                <a:cs typeface="Arial" pitchFamily="34" charset="0"/>
              </a:rPr>
              <a:t> </a:t>
            </a:r>
            <a:r>
              <a:rPr lang="en-US" sz="2000" dirty="0">
                <a:latin typeface="Arial" pitchFamily="34" charset="0"/>
                <a:cs typeface="Arial" pitchFamily="34" charset="0"/>
              </a:rPr>
              <a:t>is called the </a:t>
            </a:r>
            <a:r>
              <a:rPr lang="en-US" sz="2000" b="1" i="1" dirty="0">
                <a:solidFill>
                  <a:schemeClr val="accent2"/>
                </a:solidFill>
                <a:latin typeface="Arial" pitchFamily="34" charset="0"/>
                <a:cs typeface="Arial" pitchFamily="34" charset="0"/>
              </a:rPr>
              <a:t>resistance</a:t>
            </a:r>
            <a:r>
              <a:rPr lang="en-US" sz="2000" b="1" i="1" dirty="0">
                <a:latin typeface="Arial" pitchFamily="34" charset="0"/>
                <a:cs typeface="Arial" pitchFamily="34" charset="0"/>
              </a:rPr>
              <a:t>. </a:t>
            </a:r>
            <a:r>
              <a:rPr lang="en-US" sz="2000" dirty="0">
                <a:latin typeface="Arial" pitchFamily="34" charset="0"/>
                <a:cs typeface="Arial" pitchFamily="34" charset="0"/>
              </a:rPr>
              <a:t>The unit </a:t>
            </a:r>
            <a:r>
              <a:rPr lang="en-US" sz="2000" dirty="0" smtClean="0">
                <a:latin typeface="Arial" pitchFamily="34" charset="0"/>
                <a:cs typeface="Arial" pitchFamily="34" charset="0"/>
              </a:rPr>
              <a:t>of resistance </a:t>
            </a:r>
            <a:r>
              <a:rPr lang="en-US" sz="2000" dirty="0">
                <a:latin typeface="Arial" pitchFamily="34" charset="0"/>
                <a:cs typeface="Arial" pitchFamily="34" charset="0"/>
              </a:rPr>
              <a:t>is the </a:t>
            </a:r>
            <a:r>
              <a:rPr lang="en-US" sz="2000" b="1" i="1" dirty="0">
                <a:solidFill>
                  <a:schemeClr val="accent2"/>
                </a:solidFill>
                <a:latin typeface="Arial" pitchFamily="34" charset="0"/>
                <a:cs typeface="Arial" pitchFamily="34" charset="0"/>
              </a:rPr>
              <a:t>ohm</a:t>
            </a:r>
            <a:r>
              <a:rPr lang="en-US" sz="2000" i="1" dirty="0">
                <a:latin typeface="Arial" pitchFamily="34" charset="0"/>
                <a:cs typeface="Arial" pitchFamily="34" charset="0"/>
              </a:rPr>
              <a:t>, </a:t>
            </a:r>
            <a:r>
              <a:rPr lang="en-US" sz="2000" dirty="0">
                <a:latin typeface="Arial" pitchFamily="34" charset="0"/>
                <a:cs typeface="Arial" pitchFamily="34" charset="0"/>
              </a:rPr>
              <a:t>which is </a:t>
            </a:r>
            <a:r>
              <a:rPr lang="en-US" sz="2000" dirty="0" smtClean="0">
                <a:latin typeface="Arial" pitchFamily="34" charset="0"/>
                <a:cs typeface="Arial" pitchFamily="34" charset="0"/>
              </a:rPr>
              <a:t> </a:t>
            </a:r>
            <a:r>
              <a:rPr lang="en-US" sz="2000" b="1" dirty="0">
                <a:solidFill>
                  <a:schemeClr val="accent2"/>
                </a:solidFill>
                <a:latin typeface="Arial" pitchFamily="34" charset="0"/>
                <a:cs typeface="Arial" pitchFamily="34" charset="0"/>
              </a:rPr>
              <a:t>V/A </a:t>
            </a:r>
            <a:r>
              <a:rPr lang="en-US" sz="2000" dirty="0">
                <a:latin typeface="Arial" pitchFamily="34" charset="0"/>
                <a:cs typeface="Arial" pitchFamily="34" charset="0"/>
              </a:rPr>
              <a:t>and customarily abbreviated by a</a:t>
            </a:r>
          </a:p>
          <a:p>
            <a:r>
              <a:rPr lang="en-US" sz="2000" dirty="0">
                <a:latin typeface="Arial" pitchFamily="34" charset="0"/>
                <a:cs typeface="Arial" pitchFamily="34" charset="0"/>
              </a:rPr>
              <a:t>capital </a:t>
            </a:r>
            <a:r>
              <a:rPr lang="en-US" sz="2000" dirty="0" smtClean="0">
                <a:latin typeface="Arial" pitchFamily="34" charset="0"/>
                <a:cs typeface="Arial" pitchFamily="34" charset="0"/>
              </a:rPr>
              <a:t>omega</a:t>
            </a:r>
            <a:r>
              <a:rPr lang="en-US" sz="2000" dirty="0">
                <a:latin typeface="Arial" pitchFamily="34" charset="0"/>
                <a:cs typeface="Arial" pitchFamily="34" charset="0"/>
              </a:rPr>
              <a:t> </a:t>
            </a:r>
            <a:r>
              <a:rPr lang="en-US" sz="2000" b="1" dirty="0" smtClean="0">
                <a:solidFill>
                  <a:schemeClr val="accent2"/>
                </a:solidFill>
                <a:latin typeface="Arial" pitchFamily="34" charset="0"/>
                <a:cs typeface="Arial" pitchFamily="34" charset="0"/>
              </a:rPr>
              <a:t>(</a:t>
            </a:r>
            <a:r>
              <a:rPr lang="el-GR" sz="2000" b="1" dirty="0">
                <a:solidFill>
                  <a:schemeClr val="accent2"/>
                </a:solidFill>
                <a:latin typeface="Arial" pitchFamily="34" charset="0"/>
                <a:cs typeface="Arial" pitchFamily="34" charset="0"/>
              </a:rPr>
              <a:t>Ω</a:t>
            </a:r>
            <a:r>
              <a:rPr lang="en-US" sz="2000" b="1" dirty="0">
                <a:solidFill>
                  <a:schemeClr val="accent2"/>
                </a:solidFill>
                <a:latin typeface="Arial" pitchFamily="34" charset="0"/>
                <a:cs typeface="Arial" pitchFamily="34" charset="0"/>
              </a:rPr>
              <a:t>)</a:t>
            </a:r>
          </a:p>
        </p:txBody>
      </p:sp>
      <p:sp>
        <p:nvSpPr>
          <p:cNvPr id="248855" name="Rectangle 23"/>
          <p:cNvSpPr>
            <a:spLocks noChangeArrowheads="1"/>
          </p:cNvSpPr>
          <p:nvPr/>
        </p:nvSpPr>
        <p:spPr bwMode="auto">
          <a:xfrm>
            <a:off x="990600" y="5943600"/>
            <a:ext cx="7620000" cy="609600"/>
          </a:xfrm>
          <a:prstGeom prst="rect">
            <a:avLst/>
          </a:prstGeom>
          <a:noFill/>
          <a:ln w="9525">
            <a:noFill/>
            <a:miter lim="800000"/>
            <a:headEnd/>
            <a:tailEnd/>
          </a:ln>
          <a:effectLst/>
        </p:spPr>
        <p:txBody>
          <a:bodyPr/>
          <a:lstStyle/>
          <a:p>
            <a:pPr marL="2057400" lvl="4" indent="-228600" algn="just">
              <a:lnSpc>
                <a:spcPct val="90000"/>
              </a:lnSpc>
              <a:spcBef>
                <a:spcPct val="20000"/>
              </a:spcBef>
            </a:pPr>
            <a:endParaRPr lang="en-US" sz="1800" b="1" dirty="0">
              <a:latin typeface="Arial" charset="0"/>
              <a:cs typeface="Arial" charset="0"/>
            </a:endParaRPr>
          </a:p>
          <a:p>
            <a:pPr marL="342900" indent="-342900" algn="just">
              <a:lnSpc>
                <a:spcPct val="90000"/>
              </a:lnSpc>
              <a:spcBef>
                <a:spcPct val="20000"/>
              </a:spcBef>
              <a:buFontTx/>
              <a:buChar char="•"/>
            </a:pPr>
            <a:r>
              <a:rPr lang="en-US" sz="2000" b="1" dirty="0" smtClean="0">
                <a:solidFill>
                  <a:srgbClr val="FF0000"/>
                </a:solidFill>
                <a:latin typeface="Arial" charset="0"/>
                <a:cs typeface="Arial" charset="0"/>
              </a:rPr>
              <a:t>Ohm’s Law…</a:t>
            </a:r>
            <a:r>
              <a:rPr lang="en-US" sz="2000" b="1" dirty="0" err="1" smtClean="0">
                <a:solidFill>
                  <a:srgbClr val="FF0000"/>
                </a:solidFill>
                <a:latin typeface="Arial" charset="0"/>
                <a:cs typeface="Arial" charset="0"/>
              </a:rPr>
              <a:t>contd</a:t>
            </a:r>
            <a:r>
              <a:rPr lang="en-US" sz="2000" b="1" dirty="0" smtClean="0">
                <a:solidFill>
                  <a:srgbClr val="FF0000"/>
                </a:solidFill>
                <a:latin typeface="Arial" charset="0"/>
                <a:cs typeface="Arial" charset="0"/>
              </a:rPr>
              <a:t>!</a:t>
            </a:r>
            <a:endParaRPr lang="en-US" sz="1800" b="1" dirty="0">
              <a:latin typeface="Arial" charset="0"/>
            </a:endParaRPr>
          </a:p>
        </p:txBody>
      </p:sp>
      <p:grpSp>
        <p:nvGrpSpPr>
          <p:cNvPr id="29" name="Group 28"/>
          <p:cNvGrpSpPr/>
          <p:nvPr/>
        </p:nvGrpSpPr>
        <p:grpSpPr>
          <a:xfrm>
            <a:off x="6865937" y="5302250"/>
            <a:ext cx="1668463" cy="946150"/>
            <a:chOff x="6324600" y="5257800"/>
            <a:chExt cx="1668463" cy="946150"/>
          </a:xfrm>
        </p:grpSpPr>
        <p:grpSp>
          <p:nvGrpSpPr>
            <p:cNvPr id="3" name="Group 5"/>
            <p:cNvGrpSpPr>
              <a:grpSpLocks/>
            </p:cNvGrpSpPr>
            <p:nvPr/>
          </p:nvGrpSpPr>
          <p:grpSpPr bwMode="auto">
            <a:xfrm>
              <a:off x="6477000" y="5611813"/>
              <a:ext cx="1371600" cy="484188"/>
              <a:chOff x="3552" y="3312"/>
              <a:chExt cx="1056" cy="596"/>
            </a:xfrm>
          </p:grpSpPr>
          <p:grpSp>
            <p:nvGrpSpPr>
              <p:cNvPr id="4" name="Group 6"/>
              <p:cNvGrpSpPr>
                <a:grpSpLocks/>
              </p:cNvGrpSpPr>
              <p:nvPr/>
            </p:nvGrpSpPr>
            <p:grpSpPr bwMode="auto">
              <a:xfrm>
                <a:off x="3552" y="3312"/>
                <a:ext cx="1056" cy="144"/>
                <a:chOff x="1200" y="1296"/>
                <a:chExt cx="2256" cy="243"/>
              </a:xfrm>
            </p:grpSpPr>
            <p:sp>
              <p:nvSpPr>
                <p:cNvPr id="248839" name="Line 7"/>
                <p:cNvSpPr>
                  <a:spLocks noChangeShapeType="1"/>
                </p:cNvSpPr>
                <p:nvPr/>
              </p:nvSpPr>
              <p:spPr bwMode="auto">
                <a:xfrm>
                  <a:off x="1200" y="1440"/>
                  <a:ext cx="576" cy="0"/>
                </a:xfrm>
                <a:prstGeom prst="line">
                  <a:avLst/>
                </a:prstGeom>
                <a:noFill/>
                <a:ln w="9525">
                  <a:solidFill>
                    <a:schemeClr val="tx1"/>
                  </a:solidFill>
                  <a:round/>
                  <a:headEnd/>
                  <a:tailEnd/>
                </a:ln>
                <a:effectLst/>
              </p:spPr>
              <p:txBody>
                <a:bodyPr/>
                <a:lstStyle/>
                <a:p>
                  <a:endParaRPr lang="en-US"/>
                </a:p>
              </p:txBody>
            </p:sp>
            <p:sp>
              <p:nvSpPr>
                <p:cNvPr id="248840" name="Line 8"/>
                <p:cNvSpPr>
                  <a:spLocks noChangeShapeType="1"/>
                </p:cNvSpPr>
                <p:nvPr/>
              </p:nvSpPr>
              <p:spPr bwMode="auto">
                <a:xfrm flipV="1">
                  <a:off x="1776" y="1296"/>
                  <a:ext cx="144" cy="144"/>
                </a:xfrm>
                <a:prstGeom prst="line">
                  <a:avLst/>
                </a:prstGeom>
                <a:noFill/>
                <a:ln w="9525">
                  <a:solidFill>
                    <a:schemeClr val="tx1"/>
                  </a:solidFill>
                  <a:round/>
                  <a:headEnd/>
                  <a:tailEnd/>
                </a:ln>
                <a:effectLst/>
              </p:spPr>
              <p:txBody>
                <a:bodyPr/>
                <a:lstStyle/>
                <a:p>
                  <a:endParaRPr lang="en-US"/>
                </a:p>
              </p:txBody>
            </p:sp>
            <p:grpSp>
              <p:nvGrpSpPr>
                <p:cNvPr id="5" name="Group 9"/>
                <p:cNvGrpSpPr>
                  <a:grpSpLocks/>
                </p:cNvGrpSpPr>
                <p:nvPr/>
              </p:nvGrpSpPr>
              <p:grpSpPr bwMode="auto">
                <a:xfrm>
                  <a:off x="1920" y="1296"/>
                  <a:ext cx="288" cy="240"/>
                  <a:chOff x="1920" y="1296"/>
                  <a:chExt cx="288" cy="240"/>
                </a:xfrm>
              </p:grpSpPr>
              <p:sp>
                <p:nvSpPr>
                  <p:cNvPr id="248842" name="Line 10"/>
                  <p:cNvSpPr>
                    <a:spLocks noChangeShapeType="1"/>
                  </p:cNvSpPr>
                  <p:nvPr/>
                </p:nvSpPr>
                <p:spPr bwMode="auto">
                  <a:xfrm>
                    <a:off x="1920" y="1296"/>
                    <a:ext cx="144" cy="240"/>
                  </a:xfrm>
                  <a:prstGeom prst="line">
                    <a:avLst/>
                  </a:prstGeom>
                  <a:noFill/>
                  <a:ln w="9525">
                    <a:solidFill>
                      <a:schemeClr val="tx1"/>
                    </a:solidFill>
                    <a:round/>
                    <a:headEnd/>
                    <a:tailEnd/>
                  </a:ln>
                  <a:effectLst/>
                </p:spPr>
                <p:txBody>
                  <a:bodyPr/>
                  <a:lstStyle/>
                  <a:p>
                    <a:endParaRPr lang="en-US"/>
                  </a:p>
                </p:txBody>
              </p:sp>
              <p:sp>
                <p:nvSpPr>
                  <p:cNvPr id="248843" name="Line 11"/>
                  <p:cNvSpPr>
                    <a:spLocks noChangeShapeType="1"/>
                  </p:cNvSpPr>
                  <p:nvPr/>
                </p:nvSpPr>
                <p:spPr bwMode="auto">
                  <a:xfrm flipV="1">
                    <a:off x="2064" y="1296"/>
                    <a:ext cx="144" cy="240"/>
                  </a:xfrm>
                  <a:prstGeom prst="line">
                    <a:avLst/>
                  </a:prstGeom>
                  <a:noFill/>
                  <a:ln w="9525">
                    <a:solidFill>
                      <a:schemeClr val="tx1"/>
                    </a:solidFill>
                    <a:round/>
                    <a:headEnd/>
                    <a:tailEnd/>
                  </a:ln>
                  <a:effectLst/>
                </p:spPr>
                <p:txBody>
                  <a:bodyPr/>
                  <a:lstStyle/>
                  <a:p>
                    <a:endParaRPr lang="en-US"/>
                  </a:p>
                </p:txBody>
              </p:sp>
            </p:grpSp>
            <p:grpSp>
              <p:nvGrpSpPr>
                <p:cNvPr id="6" name="Group 12"/>
                <p:cNvGrpSpPr>
                  <a:grpSpLocks/>
                </p:cNvGrpSpPr>
                <p:nvPr/>
              </p:nvGrpSpPr>
              <p:grpSpPr bwMode="auto">
                <a:xfrm>
                  <a:off x="2214" y="1299"/>
                  <a:ext cx="288" cy="240"/>
                  <a:chOff x="1920" y="1296"/>
                  <a:chExt cx="288" cy="240"/>
                </a:xfrm>
              </p:grpSpPr>
              <p:sp>
                <p:nvSpPr>
                  <p:cNvPr id="248845" name="Line 13"/>
                  <p:cNvSpPr>
                    <a:spLocks noChangeShapeType="1"/>
                  </p:cNvSpPr>
                  <p:nvPr/>
                </p:nvSpPr>
                <p:spPr bwMode="auto">
                  <a:xfrm>
                    <a:off x="1920" y="1296"/>
                    <a:ext cx="144" cy="240"/>
                  </a:xfrm>
                  <a:prstGeom prst="line">
                    <a:avLst/>
                  </a:prstGeom>
                  <a:noFill/>
                  <a:ln w="9525">
                    <a:solidFill>
                      <a:schemeClr val="tx1"/>
                    </a:solidFill>
                    <a:round/>
                    <a:headEnd/>
                    <a:tailEnd/>
                  </a:ln>
                  <a:effectLst/>
                </p:spPr>
                <p:txBody>
                  <a:bodyPr/>
                  <a:lstStyle/>
                  <a:p>
                    <a:endParaRPr lang="en-US"/>
                  </a:p>
                </p:txBody>
              </p:sp>
              <p:sp>
                <p:nvSpPr>
                  <p:cNvPr id="248846" name="Line 14"/>
                  <p:cNvSpPr>
                    <a:spLocks noChangeShapeType="1"/>
                  </p:cNvSpPr>
                  <p:nvPr/>
                </p:nvSpPr>
                <p:spPr bwMode="auto">
                  <a:xfrm flipV="1">
                    <a:off x="2064" y="1296"/>
                    <a:ext cx="144" cy="240"/>
                  </a:xfrm>
                  <a:prstGeom prst="line">
                    <a:avLst/>
                  </a:prstGeom>
                  <a:noFill/>
                  <a:ln w="9525">
                    <a:solidFill>
                      <a:schemeClr val="tx1"/>
                    </a:solidFill>
                    <a:round/>
                    <a:headEnd/>
                    <a:tailEnd/>
                  </a:ln>
                  <a:effectLst/>
                </p:spPr>
                <p:txBody>
                  <a:bodyPr/>
                  <a:lstStyle/>
                  <a:p>
                    <a:endParaRPr lang="en-US"/>
                  </a:p>
                </p:txBody>
              </p:sp>
            </p:grpSp>
            <p:grpSp>
              <p:nvGrpSpPr>
                <p:cNvPr id="7" name="Group 15"/>
                <p:cNvGrpSpPr>
                  <a:grpSpLocks/>
                </p:cNvGrpSpPr>
                <p:nvPr/>
              </p:nvGrpSpPr>
              <p:grpSpPr bwMode="auto">
                <a:xfrm>
                  <a:off x="2508" y="1296"/>
                  <a:ext cx="288" cy="240"/>
                  <a:chOff x="1920" y="1296"/>
                  <a:chExt cx="288" cy="240"/>
                </a:xfrm>
              </p:grpSpPr>
              <p:sp>
                <p:nvSpPr>
                  <p:cNvPr id="248848" name="Line 16"/>
                  <p:cNvSpPr>
                    <a:spLocks noChangeShapeType="1"/>
                  </p:cNvSpPr>
                  <p:nvPr/>
                </p:nvSpPr>
                <p:spPr bwMode="auto">
                  <a:xfrm>
                    <a:off x="1920" y="1296"/>
                    <a:ext cx="144" cy="240"/>
                  </a:xfrm>
                  <a:prstGeom prst="line">
                    <a:avLst/>
                  </a:prstGeom>
                  <a:noFill/>
                  <a:ln w="9525">
                    <a:solidFill>
                      <a:schemeClr val="tx1"/>
                    </a:solidFill>
                    <a:round/>
                    <a:headEnd/>
                    <a:tailEnd/>
                  </a:ln>
                  <a:effectLst/>
                </p:spPr>
                <p:txBody>
                  <a:bodyPr/>
                  <a:lstStyle/>
                  <a:p>
                    <a:endParaRPr lang="en-US"/>
                  </a:p>
                </p:txBody>
              </p:sp>
              <p:sp>
                <p:nvSpPr>
                  <p:cNvPr id="248849" name="Line 17"/>
                  <p:cNvSpPr>
                    <a:spLocks noChangeShapeType="1"/>
                  </p:cNvSpPr>
                  <p:nvPr/>
                </p:nvSpPr>
                <p:spPr bwMode="auto">
                  <a:xfrm flipV="1">
                    <a:off x="2064" y="1296"/>
                    <a:ext cx="144" cy="240"/>
                  </a:xfrm>
                  <a:prstGeom prst="line">
                    <a:avLst/>
                  </a:prstGeom>
                  <a:noFill/>
                  <a:ln w="9525">
                    <a:solidFill>
                      <a:schemeClr val="tx1"/>
                    </a:solidFill>
                    <a:round/>
                    <a:headEnd/>
                    <a:tailEnd/>
                  </a:ln>
                  <a:effectLst/>
                </p:spPr>
                <p:txBody>
                  <a:bodyPr/>
                  <a:lstStyle/>
                  <a:p>
                    <a:endParaRPr lang="en-US"/>
                  </a:p>
                </p:txBody>
              </p:sp>
            </p:grpSp>
            <p:sp>
              <p:nvSpPr>
                <p:cNvPr id="248850" name="Line 18"/>
                <p:cNvSpPr>
                  <a:spLocks noChangeShapeType="1"/>
                </p:cNvSpPr>
                <p:nvPr/>
              </p:nvSpPr>
              <p:spPr bwMode="auto">
                <a:xfrm>
                  <a:off x="2880" y="1440"/>
                  <a:ext cx="576" cy="0"/>
                </a:xfrm>
                <a:prstGeom prst="line">
                  <a:avLst/>
                </a:prstGeom>
                <a:noFill/>
                <a:ln w="9525">
                  <a:solidFill>
                    <a:schemeClr val="tx1"/>
                  </a:solidFill>
                  <a:round/>
                  <a:headEnd/>
                  <a:tailEnd/>
                </a:ln>
                <a:effectLst/>
              </p:spPr>
              <p:txBody>
                <a:bodyPr/>
                <a:lstStyle/>
                <a:p>
                  <a:endParaRPr lang="en-US"/>
                </a:p>
              </p:txBody>
            </p:sp>
            <p:sp>
              <p:nvSpPr>
                <p:cNvPr id="248851" name="Line 19"/>
                <p:cNvSpPr>
                  <a:spLocks noChangeShapeType="1"/>
                </p:cNvSpPr>
                <p:nvPr/>
              </p:nvSpPr>
              <p:spPr bwMode="auto">
                <a:xfrm>
                  <a:off x="2793" y="1296"/>
                  <a:ext cx="96" cy="144"/>
                </a:xfrm>
                <a:prstGeom prst="line">
                  <a:avLst/>
                </a:prstGeom>
                <a:noFill/>
                <a:ln w="9525">
                  <a:solidFill>
                    <a:schemeClr val="tx1"/>
                  </a:solidFill>
                  <a:round/>
                  <a:headEnd/>
                  <a:tailEnd/>
                </a:ln>
                <a:effectLst/>
              </p:spPr>
              <p:txBody>
                <a:bodyPr/>
                <a:lstStyle/>
                <a:p>
                  <a:endParaRPr lang="en-US"/>
                </a:p>
              </p:txBody>
            </p:sp>
          </p:grpSp>
          <p:sp>
            <p:nvSpPr>
              <p:cNvPr id="248852" name="Text Box 20"/>
              <p:cNvSpPr txBox="1">
                <a:spLocks noChangeArrowheads="1"/>
              </p:cNvSpPr>
              <p:nvPr/>
            </p:nvSpPr>
            <p:spPr bwMode="auto">
              <a:xfrm>
                <a:off x="4046" y="3457"/>
                <a:ext cx="274" cy="451"/>
              </a:xfrm>
              <a:prstGeom prst="rect">
                <a:avLst/>
              </a:prstGeom>
              <a:noFill/>
              <a:ln w="9525">
                <a:noFill/>
                <a:miter lim="800000"/>
                <a:headEnd/>
                <a:tailEnd/>
              </a:ln>
              <a:effectLst/>
            </p:spPr>
            <p:txBody>
              <a:bodyPr>
                <a:spAutoFit/>
              </a:bodyPr>
              <a:lstStyle/>
              <a:p>
                <a:pPr>
                  <a:spcBef>
                    <a:spcPct val="50000"/>
                  </a:spcBef>
                </a:pPr>
                <a:r>
                  <a:rPr lang="en-US" sz="1800" b="1">
                    <a:latin typeface="Arial" charset="0"/>
                  </a:rPr>
                  <a:t>R</a:t>
                </a:r>
              </a:p>
            </p:txBody>
          </p:sp>
        </p:grpSp>
        <p:sp>
          <p:nvSpPr>
            <p:cNvPr id="248853" name="Line 21"/>
            <p:cNvSpPr>
              <a:spLocks noChangeShapeType="1"/>
            </p:cNvSpPr>
            <p:nvPr/>
          </p:nvSpPr>
          <p:spPr bwMode="auto">
            <a:xfrm>
              <a:off x="6629400" y="5486400"/>
              <a:ext cx="457200" cy="0"/>
            </a:xfrm>
            <a:prstGeom prst="line">
              <a:avLst/>
            </a:prstGeom>
            <a:noFill/>
            <a:ln w="9525">
              <a:solidFill>
                <a:schemeClr val="tx1"/>
              </a:solidFill>
              <a:round/>
              <a:headEnd/>
              <a:tailEnd type="triangle" w="med" len="med"/>
            </a:ln>
            <a:effectLst/>
          </p:spPr>
          <p:txBody>
            <a:bodyPr/>
            <a:lstStyle/>
            <a:p>
              <a:endParaRPr lang="en-US"/>
            </a:p>
          </p:txBody>
        </p:sp>
        <p:sp>
          <p:nvSpPr>
            <p:cNvPr id="248854" name="Rectangle 22"/>
            <p:cNvSpPr>
              <a:spLocks noChangeArrowheads="1"/>
            </p:cNvSpPr>
            <p:nvPr/>
          </p:nvSpPr>
          <p:spPr bwMode="auto">
            <a:xfrm>
              <a:off x="6324600" y="5257800"/>
              <a:ext cx="241300" cy="336550"/>
            </a:xfrm>
            <a:prstGeom prst="rect">
              <a:avLst/>
            </a:prstGeom>
            <a:noFill/>
            <a:ln w="9525">
              <a:noFill/>
              <a:miter lim="800000"/>
              <a:headEnd/>
              <a:tailEnd/>
            </a:ln>
            <a:effectLst/>
          </p:spPr>
          <p:txBody>
            <a:bodyPr wrap="none">
              <a:spAutoFit/>
            </a:bodyPr>
            <a:lstStyle/>
            <a:p>
              <a:r>
                <a:rPr lang="en-US" sz="1600" b="1" dirty="0">
                  <a:latin typeface="Arial" charset="0"/>
                  <a:cs typeface="Arial" charset="0"/>
                </a:rPr>
                <a:t>i</a:t>
              </a:r>
            </a:p>
          </p:txBody>
        </p:sp>
        <p:sp>
          <p:nvSpPr>
            <p:cNvPr id="248856" name="Rectangle 24"/>
            <p:cNvSpPr>
              <a:spLocks noChangeArrowheads="1"/>
            </p:cNvSpPr>
            <p:nvPr/>
          </p:nvSpPr>
          <p:spPr bwMode="auto">
            <a:xfrm>
              <a:off x="6477000" y="5715000"/>
              <a:ext cx="303213" cy="336550"/>
            </a:xfrm>
            <a:prstGeom prst="rect">
              <a:avLst/>
            </a:prstGeom>
            <a:noFill/>
            <a:ln w="9525">
              <a:noFill/>
              <a:miter lim="800000"/>
              <a:headEnd/>
              <a:tailEnd/>
            </a:ln>
            <a:effectLst/>
          </p:spPr>
          <p:txBody>
            <a:bodyPr wrap="none">
              <a:spAutoFit/>
            </a:bodyPr>
            <a:lstStyle/>
            <a:p>
              <a:r>
                <a:rPr lang="en-US" sz="1600" b="1" dirty="0">
                  <a:latin typeface="Arial" charset="0"/>
                  <a:cs typeface="Arial" charset="0"/>
                </a:rPr>
                <a:t>+</a:t>
              </a:r>
            </a:p>
          </p:txBody>
        </p:sp>
        <p:sp>
          <p:nvSpPr>
            <p:cNvPr id="248857" name="Rectangle 25"/>
            <p:cNvSpPr>
              <a:spLocks noChangeArrowheads="1"/>
            </p:cNvSpPr>
            <p:nvPr/>
          </p:nvSpPr>
          <p:spPr bwMode="auto">
            <a:xfrm>
              <a:off x="7696200" y="5638800"/>
              <a:ext cx="296863" cy="336550"/>
            </a:xfrm>
            <a:prstGeom prst="rect">
              <a:avLst/>
            </a:prstGeom>
            <a:noFill/>
            <a:ln w="9525">
              <a:noFill/>
              <a:miter lim="800000"/>
              <a:headEnd/>
              <a:tailEnd/>
            </a:ln>
            <a:effectLst/>
          </p:spPr>
          <p:txBody>
            <a:bodyPr wrap="none">
              <a:spAutoFit/>
            </a:bodyPr>
            <a:lstStyle/>
            <a:p>
              <a:r>
                <a:rPr lang="en-US" sz="1600" b="1">
                  <a:latin typeface="Arial" charset="0"/>
                  <a:cs typeface="Arial" charset="0"/>
                </a:rPr>
                <a:t>_</a:t>
              </a:r>
            </a:p>
          </p:txBody>
        </p:sp>
        <p:sp>
          <p:nvSpPr>
            <p:cNvPr id="248858" name="Rectangle 26"/>
            <p:cNvSpPr>
              <a:spLocks noChangeArrowheads="1"/>
            </p:cNvSpPr>
            <p:nvPr/>
          </p:nvSpPr>
          <p:spPr bwMode="auto">
            <a:xfrm>
              <a:off x="6858000" y="5867400"/>
              <a:ext cx="296863" cy="336550"/>
            </a:xfrm>
            <a:prstGeom prst="rect">
              <a:avLst/>
            </a:prstGeom>
            <a:noFill/>
            <a:ln w="9525">
              <a:noFill/>
              <a:miter lim="800000"/>
              <a:headEnd/>
              <a:tailEnd/>
            </a:ln>
            <a:effectLst/>
          </p:spPr>
          <p:txBody>
            <a:bodyPr wrap="none">
              <a:spAutoFit/>
            </a:bodyPr>
            <a:lstStyle/>
            <a:p>
              <a:r>
                <a:rPr lang="en-US" sz="1600" b="1">
                  <a:latin typeface="Arial" charset="0"/>
                  <a:cs typeface="Arial" charset="0"/>
                </a:rPr>
                <a:t>v</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grpId="0" nodeType="withEffect">
                                  <p:stCondLst>
                                    <p:cond delay="0"/>
                                  </p:stCondLst>
                                  <p:childTnLst>
                                    <p:set>
                                      <p:cBhvr>
                                        <p:cTn id="6" dur="1" fill="hold">
                                          <p:stCondLst>
                                            <p:cond delay="0"/>
                                          </p:stCondLst>
                                        </p:cTn>
                                        <p:tgtEl>
                                          <p:spTgt spid="248836"/>
                                        </p:tgtEl>
                                        <p:attrNameLst>
                                          <p:attrName>style.visibility</p:attrName>
                                        </p:attrNameLst>
                                      </p:cBhvr>
                                      <p:to>
                                        <p:strVal val="visible"/>
                                      </p:to>
                                    </p:set>
                                    <p:anim calcmode="lin" valueType="num">
                                      <p:cBhvr>
                                        <p:cTn id="7" dur="1000" fill="hold"/>
                                        <p:tgtEl>
                                          <p:spTgt spid="248836"/>
                                        </p:tgtEl>
                                        <p:attrNameLst>
                                          <p:attrName>ppt_w</p:attrName>
                                        </p:attrNameLst>
                                      </p:cBhvr>
                                      <p:tavLst>
                                        <p:tav tm="0">
                                          <p:val>
                                            <p:fltVal val="0"/>
                                          </p:val>
                                        </p:tav>
                                        <p:tav tm="100000">
                                          <p:val>
                                            <p:strVal val="#ppt_w"/>
                                          </p:val>
                                        </p:tav>
                                      </p:tavLst>
                                    </p:anim>
                                    <p:anim calcmode="lin" valueType="num">
                                      <p:cBhvr>
                                        <p:cTn id="8" dur="1000" fill="hold"/>
                                        <p:tgtEl>
                                          <p:spTgt spid="248836"/>
                                        </p:tgtEl>
                                        <p:attrNameLst>
                                          <p:attrName>ppt_h</p:attrName>
                                        </p:attrNameLst>
                                      </p:cBhvr>
                                      <p:tavLst>
                                        <p:tav tm="0">
                                          <p:val>
                                            <p:fltVal val="0"/>
                                          </p:val>
                                        </p:tav>
                                        <p:tav tm="100000">
                                          <p:val>
                                            <p:strVal val="#ppt_h"/>
                                          </p:val>
                                        </p:tav>
                                      </p:tavLst>
                                    </p:anim>
                                    <p:anim calcmode="lin" valueType="num">
                                      <p:cBhvr>
                                        <p:cTn id="9" dur="1000" fill="hold"/>
                                        <p:tgtEl>
                                          <p:spTgt spid="248836"/>
                                        </p:tgtEl>
                                        <p:attrNameLst>
                                          <p:attrName>style.rotation</p:attrName>
                                        </p:attrNameLst>
                                      </p:cBhvr>
                                      <p:tavLst>
                                        <p:tav tm="0">
                                          <p:val>
                                            <p:fltVal val="90"/>
                                          </p:val>
                                        </p:tav>
                                        <p:tav tm="100000">
                                          <p:val>
                                            <p:fltVal val="0"/>
                                          </p:val>
                                        </p:tav>
                                      </p:tavLst>
                                    </p:anim>
                                    <p:animEffect transition="in" filter="fade">
                                      <p:cBhvr>
                                        <p:cTn id="10" dur="1000"/>
                                        <p:tgtEl>
                                          <p:spTgt spid="248836"/>
                                        </p:tgtEl>
                                      </p:cBhvr>
                                    </p:animEffect>
                                  </p:childTnLst>
                                </p:cTn>
                              </p:par>
                              <p:par>
                                <p:cTn id="11" presetID="5" presetClass="entr" presetSubtype="10" fill="hold" nodeType="withEffect">
                                  <p:stCondLst>
                                    <p:cond delay="0"/>
                                  </p:stCondLst>
                                  <p:childTnLst>
                                    <p:set>
                                      <p:cBhvr>
                                        <p:cTn id="12" dur="1" fill="hold">
                                          <p:stCondLst>
                                            <p:cond delay="0"/>
                                          </p:stCondLst>
                                        </p:cTn>
                                        <p:tgtEl>
                                          <p:spTgt spid="29"/>
                                        </p:tgtEl>
                                        <p:attrNameLst>
                                          <p:attrName>style.visibility</p:attrName>
                                        </p:attrNameLst>
                                      </p:cBhvr>
                                      <p:to>
                                        <p:strVal val="visible"/>
                                      </p:to>
                                    </p:set>
                                    <p:animEffect transition="in" filter="checkerboard(across)">
                                      <p:cBhvr>
                                        <p:cTn id="13" dur="500"/>
                                        <p:tgtEl>
                                          <p:spTgt spid="29"/>
                                        </p:tgtEl>
                                      </p:cBhvr>
                                    </p:animEffect>
                                  </p:childTnLst>
                                </p:cTn>
                              </p:par>
                              <p:par>
                                <p:cTn id="14" presetID="3" presetClass="entr" presetSubtype="10" fill="hold" grpId="0" nodeType="withEffect">
                                  <p:stCondLst>
                                    <p:cond delay="0"/>
                                  </p:stCondLst>
                                  <p:childTnLst>
                                    <p:set>
                                      <p:cBhvr>
                                        <p:cTn id="15" dur="1" fill="hold">
                                          <p:stCondLst>
                                            <p:cond delay="0"/>
                                          </p:stCondLst>
                                        </p:cTn>
                                        <p:tgtEl>
                                          <p:spTgt spid="248855">
                                            <p:txEl>
                                              <p:pRg st="1" end="1"/>
                                            </p:txEl>
                                          </p:spTgt>
                                        </p:tgtEl>
                                        <p:attrNameLst>
                                          <p:attrName>style.visibility</p:attrName>
                                        </p:attrNameLst>
                                      </p:cBhvr>
                                      <p:to>
                                        <p:strVal val="visible"/>
                                      </p:to>
                                    </p:set>
                                    <p:animEffect transition="in" filter="blinds(horizontal)">
                                      <p:cBhvr>
                                        <p:cTn id="16" dur="500"/>
                                        <p:tgtEl>
                                          <p:spTgt spid="248855">
                                            <p:txEl>
                                              <p:pRg st="1" end="1"/>
                                            </p:txEl>
                                          </p:spTgt>
                                        </p:tgtEl>
                                      </p:cBhvr>
                                    </p:animEffect>
                                  </p:childTnLst>
                                </p:cTn>
                              </p:par>
                              <p:par>
                                <p:cTn id="17" presetID="2" presetClass="entr" presetSubtype="4" fill="hold" grpId="0" nodeType="withEffect">
                                  <p:stCondLst>
                                    <p:cond delay="0"/>
                                  </p:stCondLst>
                                  <p:childTnLst>
                                    <p:set>
                                      <p:cBhvr>
                                        <p:cTn id="18" dur="1" fill="hold">
                                          <p:stCondLst>
                                            <p:cond delay="0"/>
                                          </p:stCondLst>
                                        </p:cTn>
                                        <p:tgtEl>
                                          <p:spTgt spid="248835"/>
                                        </p:tgtEl>
                                        <p:attrNameLst>
                                          <p:attrName>style.visibility</p:attrName>
                                        </p:attrNameLst>
                                      </p:cBhvr>
                                      <p:to>
                                        <p:strVal val="visible"/>
                                      </p:to>
                                    </p:set>
                                    <p:anim calcmode="lin" valueType="num">
                                      <p:cBhvr additive="base">
                                        <p:cTn id="19" dur="500" fill="hold"/>
                                        <p:tgtEl>
                                          <p:spTgt spid="248835"/>
                                        </p:tgtEl>
                                        <p:attrNameLst>
                                          <p:attrName>ppt_x</p:attrName>
                                        </p:attrNameLst>
                                      </p:cBhvr>
                                      <p:tavLst>
                                        <p:tav tm="0">
                                          <p:val>
                                            <p:strVal val="#ppt_x"/>
                                          </p:val>
                                        </p:tav>
                                        <p:tav tm="100000">
                                          <p:val>
                                            <p:strVal val="#ppt_x"/>
                                          </p:val>
                                        </p:tav>
                                      </p:tavLst>
                                    </p:anim>
                                    <p:anim calcmode="lin" valueType="num">
                                      <p:cBhvr additive="base">
                                        <p:cTn id="20" dur="500" fill="hold"/>
                                        <p:tgtEl>
                                          <p:spTgt spid="24883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8835" grpId="0"/>
      <p:bldP spid="248836" grpId="0"/>
      <p:bldP spid="248855" grpId="0" build="p"/>
    </p:bldLst>
  </p:timing>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4" name="Slide Number Placeholder 6"/>
          <p:cNvSpPr>
            <a:spLocks noGrp="1"/>
          </p:cNvSpPr>
          <p:nvPr>
            <p:ph type="sldNum" sz="quarter" idx="12"/>
          </p:nvPr>
        </p:nvSpPr>
        <p:spPr/>
        <p:txBody>
          <a:bodyPr/>
          <a:lstStyle/>
          <a:p>
            <a:fld id="{D8CB8DB7-1486-42F9-821D-DD9FF69F95A6}" type="slidenum">
              <a:rPr lang="en-US" altLang="en-US"/>
              <a:pPr/>
              <a:t>17</a:t>
            </a:fld>
            <a:endParaRPr lang="en-US" altLang="en-US"/>
          </a:p>
        </p:txBody>
      </p:sp>
      <p:sp>
        <p:nvSpPr>
          <p:cNvPr id="247810" name="Rectangle 2"/>
          <p:cNvSpPr>
            <a:spLocks noGrp="1" noChangeArrowheads="1"/>
          </p:cNvSpPr>
          <p:nvPr>
            <p:ph type="title"/>
          </p:nvPr>
        </p:nvSpPr>
        <p:spPr>
          <a:xfrm>
            <a:off x="2971800" y="228600"/>
            <a:ext cx="3048000" cy="457200"/>
          </a:xfrm>
        </p:spPr>
        <p:txBody>
          <a:bodyPr/>
          <a:lstStyle/>
          <a:p>
            <a:r>
              <a:rPr lang="en-US" sz="2800" b="1" u="sng" dirty="0" smtClean="0"/>
              <a:t>The Resistor</a:t>
            </a:r>
            <a:endParaRPr lang="en-US" sz="2800" b="1" u="sng" dirty="0"/>
          </a:p>
        </p:txBody>
      </p:sp>
      <p:sp>
        <p:nvSpPr>
          <p:cNvPr id="247811" name="Rectangle 3"/>
          <p:cNvSpPr>
            <a:spLocks noGrp="1" noChangeArrowheads="1"/>
          </p:cNvSpPr>
          <p:nvPr>
            <p:ph type="body" sz="half" idx="1"/>
          </p:nvPr>
        </p:nvSpPr>
        <p:spPr>
          <a:xfrm>
            <a:off x="152400" y="1828800"/>
            <a:ext cx="5559430" cy="3498324"/>
          </a:xfrm>
        </p:spPr>
        <p:txBody>
          <a:bodyPr/>
          <a:lstStyle/>
          <a:p>
            <a:pPr algn="just">
              <a:lnSpc>
                <a:spcPct val="80000"/>
              </a:lnSpc>
            </a:pPr>
            <a:r>
              <a:rPr lang="en-US" sz="1800" b="1" dirty="0">
                <a:latin typeface="Arial" charset="0"/>
              </a:rPr>
              <a:t>For the material shown,</a:t>
            </a:r>
          </a:p>
          <a:p>
            <a:pPr lvl="2" algn="just">
              <a:lnSpc>
                <a:spcPct val="80000"/>
              </a:lnSpc>
              <a:buFontTx/>
              <a:buNone/>
            </a:pPr>
            <a:r>
              <a:rPr lang="en-US" sz="1800" b="1" dirty="0">
                <a:latin typeface="Arial" charset="0"/>
              </a:rPr>
              <a:t>R </a:t>
            </a:r>
            <a:r>
              <a:rPr lang="en-US" sz="1800" b="1" dirty="0">
                <a:latin typeface="Arial" charset="0"/>
                <a:cs typeface="Arial" charset="0"/>
              </a:rPr>
              <a:t>∞</a:t>
            </a:r>
            <a:r>
              <a:rPr lang="en-US" sz="1800" b="1" dirty="0">
                <a:latin typeface="Brush Script MT" panose="03060802040406070304" pitchFamily="66" charset="0"/>
                <a:cs typeface="Arial" charset="0"/>
              </a:rPr>
              <a:t> </a:t>
            </a:r>
            <a:r>
              <a:rPr lang="en-US" sz="1800" b="1" dirty="0" smtClean="0">
                <a:latin typeface="Brush Script MT" panose="03060802040406070304" pitchFamily="66" charset="0"/>
                <a:cs typeface="Arial" charset="0"/>
              </a:rPr>
              <a:t>l</a:t>
            </a:r>
            <a:endParaRPr lang="en-US" sz="1800" b="1" dirty="0">
              <a:latin typeface="Brush Script MT" panose="03060802040406070304" pitchFamily="66" charset="0"/>
              <a:cs typeface="Arial" charset="0"/>
            </a:endParaRPr>
          </a:p>
          <a:p>
            <a:pPr lvl="2">
              <a:lnSpc>
                <a:spcPct val="80000"/>
              </a:lnSpc>
              <a:buFontTx/>
              <a:buNone/>
            </a:pPr>
            <a:r>
              <a:rPr lang="en-US" sz="1800" b="1" dirty="0">
                <a:latin typeface="Arial" charset="0"/>
                <a:cs typeface="Arial" charset="0"/>
              </a:rPr>
              <a:t>R ∞ </a:t>
            </a:r>
            <a:r>
              <a:rPr lang="en-US" sz="1800" b="1" dirty="0">
                <a:latin typeface="Brush Script MT" panose="03060802040406070304" pitchFamily="66" charset="0"/>
                <a:cs typeface="Arial" charset="0"/>
              </a:rPr>
              <a:t>l</a:t>
            </a:r>
            <a:r>
              <a:rPr lang="en-US" sz="1800" b="1" dirty="0" smtClean="0">
                <a:latin typeface="Arial" charset="0"/>
                <a:cs typeface="Arial" charset="0"/>
              </a:rPr>
              <a:t> </a:t>
            </a:r>
            <a:r>
              <a:rPr lang="en-US" sz="1800" b="1" dirty="0">
                <a:latin typeface="Arial" charset="0"/>
                <a:cs typeface="Arial" charset="0"/>
              </a:rPr>
              <a:t>/ A </a:t>
            </a:r>
            <a:endParaRPr lang="en-US" sz="1800" b="1" dirty="0" smtClean="0">
              <a:latin typeface="Arial" charset="0"/>
              <a:cs typeface="Arial" charset="0"/>
            </a:endParaRPr>
          </a:p>
          <a:p>
            <a:pPr lvl="2">
              <a:lnSpc>
                <a:spcPct val="80000"/>
              </a:lnSpc>
              <a:buFontTx/>
              <a:buNone/>
            </a:pPr>
            <a:r>
              <a:rPr lang="en-US" sz="1800" b="1" dirty="0" smtClean="0">
                <a:latin typeface="Arial" charset="0"/>
                <a:cs typeface="Arial" charset="0"/>
              </a:rPr>
              <a:t>So       R </a:t>
            </a:r>
            <a:r>
              <a:rPr lang="en-US" sz="1800" b="1" dirty="0">
                <a:latin typeface="Arial" charset="0"/>
                <a:cs typeface="Arial" charset="0"/>
              </a:rPr>
              <a:t>= </a:t>
            </a:r>
            <a:r>
              <a:rPr lang="el-GR" sz="1800" b="1" dirty="0">
                <a:latin typeface="Arial" charset="0"/>
              </a:rPr>
              <a:t>ρ</a:t>
            </a:r>
            <a:r>
              <a:rPr lang="en-US" sz="1800" b="1" dirty="0">
                <a:latin typeface="Arial" charset="0"/>
              </a:rPr>
              <a:t> </a:t>
            </a:r>
            <a:r>
              <a:rPr lang="en-US" sz="1800" b="1" dirty="0" smtClean="0">
                <a:latin typeface="Arial" charset="0"/>
              </a:rPr>
              <a:t>(</a:t>
            </a:r>
            <a:r>
              <a:rPr lang="en-US" sz="1800" b="1" dirty="0">
                <a:latin typeface="Brush Script MT" panose="03060802040406070304" pitchFamily="66" charset="0"/>
                <a:cs typeface="Arial" charset="0"/>
              </a:rPr>
              <a:t>l</a:t>
            </a:r>
            <a:r>
              <a:rPr lang="en-US" sz="1800" b="1" dirty="0" smtClean="0">
                <a:latin typeface="Arial" charset="0"/>
              </a:rPr>
              <a:t> </a:t>
            </a:r>
            <a:r>
              <a:rPr lang="en-US" sz="1800" b="1" dirty="0">
                <a:latin typeface="Arial" charset="0"/>
              </a:rPr>
              <a:t>/ A)</a:t>
            </a:r>
          </a:p>
          <a:p>
            <a:pPr lvl="2">
              <a:lnSpc>
                <a:spcPct val="80000"/>
              </a:lnSpc>
              <a:buFontTx/>
              <a:buNone/>
            </a:pPr>
            <a:r>
              <a:rPr lang="en-US" sz="1800" b="1" dirty="0">
                <a:latin typeface="Arial" charset="0"/>
                <a:cs typeface="Arial" charset="0"/>
              </a:rPr>
              <a:t>Where </a:t>
            </a:r>
            <a:r>
              <a:rPr lang="el-GR" sz="1800" b="1" dirty="0">
                <a:solidFill>
                  <a:schemeClr val="accent2"/>
                </a:solidFill>
                <a:latin typeface="Arial" charset="0"/>
              </a:rPr>
              <a:t>ρ</a:t>
            </a:r>
            <a:r>
              <a:rPr lang="en-US" sz="1800" b="1" dirty="0">
                <a:solidFill>
                  <a:schemeClr val="accent2"/>
                </a:solidFill>
                <a:latin typeface="Arial" charset="0"/>
              </a:rPr>
              <a:t> is resistivity in ohm – meters</a:t>
            </a:r>
            <a:r>
              <a:rPr lang="en-US" sz="1800" b="1" dirty="0">
                <a:latin typeface="Arial" charset="0"/>
              </a:rPr>
              <a:t>.</a:t>
            </a:r>
            <a:endParaRPr lang="en-US" sz="1800" b="1" dirty="0">
              <a:latin typeface="Arial" charset="0"/>
              <a:cs typeface="Arial" charset="0"/>
            </a:endParaRPr>
          </a:p>
          <a:p>
            <a:pPr lvl="2">
              <a:lnSpc>
                <a:spcPct val="80000"/>
              </a:lnSpc>
              <a:buFontTx/>
              <a:buNone/>
            </a:pPr>
            <a:endParaRPr lang="en-US" sz="1200" b="1" dirty="0">
              <a:latin typeface="Arial" charset="0"/>
            </a:endParaRPr>
          </a:p>
          <a:p>
            <a:pPr>
              <a:lnSpc>
                <a:spcPct val="80000"/>
              </a:lnSpc>
            </a:pPr>
            <a:r>
              <a:rPr lang="en-US" sz="1600" b="1" dirty="0">
                <a:latin typeface="Arial" charset="0"/>
              </a:rPr>
              <a:t>Resistivity is the measure of the ease with which electrons can travel through a material. High resistivity means greater difficulty, more resistance</a:t>
            </a:r>
            <a:r>
              <a:rPr lang="en-US" sz="1600" b="1" dirty="0" smtClean="0">
                <a:latin typeface="Arial" charset="0"/>
              </a:rPr>
              <a:t>.</a:t>
            </a:r>
          </a:p>
          <a:p>
            <a:pPr marL="0" indent="0">
              <a:lnSpc>
                <a:spcPct val="80000"/>
              </a:lnSpc>
              <a:buNone/>
            </a:pPr>
            <a:r>
              <a:rPr lang="en-US" sz="1800" b="1" dirty="0" smtClean="0">
                <a:solidFill>
                  <a:srgbClr val="C00000"/>
                </a:solidFill>
                <a:latin typeface="Arial" charset="0"/>
              </a:rPr>
              <a:t>Silver</a:t>
            </a:r>
            <a:r>
              <a:rPr lang="en-US" sz="1800" b="1" dirty="0" smtClean="0">
                <a:latin typeface="Arial" charset="0"/>
              </a:rPr>
              <a:t> </a:t>
            </a:r>
            <a:r>
              <a:rPr lang="en-US" sz="1800" b="1" dirty="0">
                <a:latin typeface="Arial" charset="0"/>
              </a:rPr>
              <a:t>has 1.64 X 10 </a:t>
            </a:r>
            <a:r>
              <a:rPr lang="en-US" sz="1800" b="1" baseline="30000" dirty="0">
                <a:latin typeface="Arial" charset="0"/>
              </a:rPr>
              <a:t>- 8</a:t>
            </a:r>
            <a:r>
              <a:rPr lang="en-US" sz="1800" b="1" dirty="0">
                <a:latin typeface="Arial" charset="0"/>
              </a:rPr>
              <a:t> </a:t>
            </a:r>
            <a:r>
              <a:rPr lang="el-GR" sz="1800" b="1" dirty="0" smtClean="0">
                <a:latin typeface="Arial" charset="0"/>
                <a:cs typeface="Arial" charset="0"/>
              </a:rPr>
              <a:t>Ω</a:t>
            </a:r>
            <a:r>
              <a:rPr lang="en-US" sz="1800" b="1" dirty="0" smtClean="0">
                <a:latin typeface="Arial" charset="0"/>
                <a:cs typeface="Arial" charset="0"/>
              </a:rPr>
              <a:t>–meter : </a:t>
            </a:r>
            <a:r>
              <a:rPr lang="en-US" sz="1800" b="1" dirty="0">
                <a:latin typeface="Arial" charset="0"/>
                <a:cs typeface="Arial" charset="0"/>
              </a:rPr>
              <a:t>conductor</a:t>
            </a:r>
          </a:p>
          <a:p>
            <a:pPr marL="0" indent="0">
              <a:lnSpc>
                <a:spcPct val="80000"/>
              </a:lnSpc>
              <a:buNone/>
            </a:pPr>
            <a:r>
              <a:rPr lang="en-US" sz="1800" b="1" dirty="0" smtClean="0">
                <a:solidFill>
                  <a:schemeClr val="accent2"/>
                </a:solidFill>
                <a:latin typeface="Arial" charset="0"/>
                <a:cs typeface="Arial" charset="0"/>
              </a:rPr>
              <a:t>Silicon</a:t>
            </a:r>
            <a:r>
              <a:rPr lang="en-US" sz="1800" b="1" dirty="0" smtClean="0">
                <a:latin typeface="Arial" charset="0"/>
                <a:cs typeface="Arial" charset="0"/>
              </a:rPr>
              <a:t> </a:t>
            </a:r>
            <a:r>
              <a:rPr lang="en-US" sz="1800" b="1" dirty="0">
                <a:latin typeface="Arial" charset="0"/>
                <a:cs typeface="Arial" charset="0"/>
              </a:rPr>
              <a:t>has 6.4 X </a:t>
            </a:r>
            <a:r>
              <a:rPr lang="en-US" sz="1800" b="1" dirty="0">
                <a:latin typeface="Arial" charset="0"/>
              </a:rPr>
              <a:t>10 </a:t>
            </a:r>
            <a:r>
              <a:rPr lang="en-US" sz="1800" b="1" baseline="30000" dirty="0">
                <a:latin typeface="Arial" charset="0"/>
              </a:rPr>
              <a:t>2</a:t>
            </a:r>
            <a:r>
              <a:rPr lang="en-US" sz="1800" b="1" dirty="0">
                <a:latin typeface="Arial" charset="0"/>
              </a:rPr>
              <a:t> </a:t>
            </a:r>
            <a:r>
              <a:rPr lang="el-GR" sz="1800" b="1" dirty="0" smtClean="0">
                <a:latin typeface="Arial" charset="0"/>
                <a:cs typeface="Arial" charset="0"/>
              </a:rPr>
              <a:t>Ω</a:t>
            </a:r>
            <a:r>
              <a:rPr lang="en-US" sz="1800" b="1" dirty="0" smtClean="0">
                <a:latin typeface="Arial" charset="0"/>
                <a:cs typeface="Arial" charset="0"/>
              </a:rPr>
              <a:t>-meter   </a:t>
            </a:r>
            <a:r>
              <a:rPr lang="en-US" sz="1800" b="1" dirty="0">
                <a:latin typeface="Arial" charset="0"/>
                <a:cs typeface="Arial" charset="0"/>
              </a:rPr>
              <a:t>: semi conductor</a:t>
            </a:r>
          </a:p>
          <a:p>
            <a:pPr marL="0" indent="0">
              <a:lnSpc>
                <a:spcPct val="80000"/>
              </a:lnSpc>
              <a:buNone/>
            </a:pPr>
            <a:r>
              <a:rPr lang="en-US" sz="1800" b="1" dirty="0">
                <a:solidFill>
                  <a:srgbClr val="FF0000"/>
                </a:solidFill>
                <a:latin typeface="Arial" charset="0"/>
                <a:cs typeface="Arial" charset="0"/>
              </a:rPr>
              <a:t>Paper</a:t>
            </a:r>
            <a:r>
              <a:rPr lang="en-US" sz="1800" b="1" dirty="0">
                <a:latin typeface="Arial" charset="0"/>
                <a:cs typeface="Arial" charset="0"/>
              </a:rPr>
              <a:t> has </a:t>
            </a:r>
            <a:r>
              <a:rPr lang="en-US" sz="1800" b="1" dirty="0">
                <a:latin typeface="Arial" charset="0"/>
              </a:rPr>
              <a:t>10</a:t>
            </a:r>
            <a:r>
              <a:rPr lang="en-US" sz="1800" b="1" baseline="30000" dirty="0">
                <a:latin typeface="Arial" charset="0"/>
              </a:rPr>
              <a:t>10</a:t>
            </a:r>
            <a:r>
              <a:rPr lang="en-US" sz="1800" b="1" dirty="0">
                <a:latin typeface="Arial" charset="0"/>
              </a:rPr>
              <a:t> </a:t>
            </a:r>
            <a:r>
              <a:rPr lang="el-GR" sz="1800" b="1" dirty="0">
                <a:latin typeface="Arial" charset="0"/>
                <a:cs typeface="Arial" charset="0"/>
              </a:rPr>
              <a:t>Ω</a:t>
            </a:r>
            <a:r>
              <a:rPr lang="en-US" sz="1800" b="1" dirty="0">
                <a:latin typeface="Arial" charset="0"/>
                <a:cs typeface="Arial" charset="0"/>
              </a:rPr>
              <a:t> - meter              : insulator</a:t>
            </a:r>
            <a:endParaRPr lang="el-GR" sz="1800" b="1" dirty="0">
              <a:latin typeface="Arial" charset="0"/>
              <a:cs typeface="Arial" charset="0"/>
            </a:endParaRPr>
          </a:p>
          <a:p>
            <a:pPr algn="ctr">
              <a:lnSpc>
                <a:spcPct val="80000"/>
              </a:lnSpc>
              <a:buFontTx/>
              <a:buNone/>
            </a:pPr>
            <a:endParaRPr lang="en-US" sz="1600" b="1" dirty="0">
              <a:latin typeface="Arial" charset="0"/>
            </a:endParaRPr>
          </a:p>
          <a:p>
            <a:pPr>
              <a:lnSpc>
                <a:spcPct val="80000"/>
              </a:lnSpc>
            </a:pPr>
            <a:endParaRPr lang="en-US" sz="1600" b="1" dirty="0">
              <a:latin typeface="Arial" charset="0"/>
            </a:endParaRPr>
          </a:p>
        </p:txBody>
      </p:sp>
      <p:sp>
        <p:nvSpPr>
          <p:cNvPr id="247812" name="Rectangle 4"/>
          <p:cNvSpPr>
            <a:spLocks noChangeArrowheads="1"/>
          </p:cNvSpPr>
          <p:nvPr/>
        </p:nvSpPr>
        <p:spPr bwMode="auto">
          <a:xfrm>
            <a:off x="8640763" y="6477000"/>
            <a:ext cx="503237" cy="457200"/>
          </a:xfrm>
          <a:prstGeom prst="rect">
            <a:avLst/>
          </a:prstGeom>
          <a:noFill/>
          <a:ln w="9525">
            <a:noFill/>
            <a:miter lim="800000"/>
            <a:headEnd/>
            <a:tailEnd/>
          </a:ln>
          <a:effectLst/>
        </p:spPr>
        <p:txBody>
          <a:bodyPr wrap="none">
            <a:spAutoFit/>
          </a:bodyPr>
          <a:lstStyle/>
          <a:p>
            <a:pPr>
              <a:spcBef>
                <a:spcPct val="50000"/>
              </a:spcBef>
              <a:buFont typeface="Wingdings" pitchFamily="2" charset="2"/>
              <a:buChar char="Ø"/>
            </a:pPr>
            <a:r>
              <a:rPr lang="en-US"/>
              <a:t> </a:t>
            </a:r>
          </a:p>
        </p:txBody>
      </p:sp>
      <p:sp>
        <p:nvSpPr>
          <p:cNvPr id="247813" name="Rectangle 5"/>
          <p:cNvSpPr>
            <a:spLocks noChangeArrowheads="1"/>
          </p:cNvSpPr>
          <p:nvPr/>
        </p:nvSpPr>
        <p:spPr bwMode="auto">
          <a:xfrm>
            <a:off x="304800" y="769091"/>
            <a:ext cx="8458200" cy="907309"/>
          </a:xfrm>
          <a:prstGeom prst="rect">
            <a:avLst/>
          </a:prstGeom>
          <a:noFill/>
          <a:ln w="9525">
            <a:noFill/>
            <a:miter lim="800000"/>
            <a:headEnd/>
            <a:tailEnd/>
          </a:ln>
          <a:effectLst/>
        </p:spPr>
        <p:txBody>
          <a:bodyPr/>
          <a:lstStyle/>
          <a:p>
            <a:pPr marL="342900" indent="-342900" algn="just">
              <a:lnSpc>
                <a:spcPct val="80000"/>
              </a:lnSpc>
              <a:spcBef>
                <a:spcPct val="20000"/>
              </a:spcBef>
              <a:buFontTx/>
              <a:buChar char="•"/>
            </a:pPr>
            <a:r>
              <a:rPr lang="en-US" sz="2000" b="1" dirty="0">
                <a:latin typeface="Arial" charset="0"/>
              </a:rPr>
              <a:t>In general, </a:t>
            </a:r>
            <a:r>
              <a:rPr lang="en-US" sz="2000" b="1" i="1" dirty="0">
                <a:solidFill>
                  <a:srgbClr val="FF0000"/>
                </a:solidFill>
                <a:latin typeface="Arial" charset="0"/>
              </a:rPr>
              <a:t>materials resist the flow of electric charge</a:t>
            </a:r>
            <a:r>
              <a:rPr lang="en-US" sz="2000" b="1" dirty="0">
                <a:latin typeface="Arial" charset="0"/>
              </a:rPr>
              <a:t>.</a:t>
            </a:r>
          </a:p>
          <a:p>
            <a:pPr marL="342900" indent="-342900" algn="just">
              <a:lnSpc>
                <a:spcPct val="80000"/>
              </a:lnSpc>
              <a:spcBef>
                <a:spcPct val="20000"/>
              </a:spcBef>
              <a:buFontTx/>
              <a:buChar char="•"/>
            </a:pPr>
            <a:r>
              <a:rPr lang="en-US" sz="2000" b="1" dirty="0" smtClean="0">
                <a:latin typeface="Arial" charset="0"/>
              </a:rPr>
              <a:t>This </a:t>
            </a:r>
            <a:r>
              <a:rPr lang="en-US" sz="2000" b="1" dirty="0">
                <a:latin typeface="Arial" charset="0"/>
              </a:rPr>
              <a:t>physical property or ability </a:t>
            </a:r>
            <a:r>
              <a:rPr lang="en-US" sz="2000" b="1" i="1" dirty="0">
                <a:solidFill>
                  <a:srgbClr val="C00000"/>
                </a:solidFill>
                <a:latin typeface="Arial" charset="0"/>
              </a:rPr>
              <a:t>to resist current </a:t>
            </a:r>
            <a:r>
              <a:rPr lang="en-US" sz="2000" b="1" dirty="0">
                <a:latin typeface="Arial" charset="0"/>
              </a:rPr>
              <a:t>is known as </a:t>
            </a:r>
            <a:r>
              <a:rPr lang="en-US" sz="2000" b="1" i="1" dirty="0">
                <a:solidFill>
                  <a:srgbClr val="C00000"/>
                </a:solidFill>
                <a:latin typeface="Arial" charset="0"/>
              </a:rPr>
              <a:t>resistance</a:t>
            </a:r>
            <a:r>
              <a:rPr lang="en-US" sz="2000" b="1" dirty="0">
                <a:latin typeface="Arial" charset="0"/>
              </a:rPr>
              <a:t> and is represented by symbol </a:t>
            </a:r>
            <a:r>
              <a:rPr lang="en-US" sz="2000" b="1" dirty="0">
                <a:solidFill>
                  <a:srgbClr val="C00000"/>
                </a:solidFill>
                <a:latin typeface="Arial" charset="0"/>
              </a:rPr>
              <a:t>‘R’</a:t>
            </a:r>
            <a:r>
              <a:rPr lang="en-US" sz="2000" b="1" dirty="0">
                <a:latin typeface="Arial" charset="0"/>
              </a:rPr>
              <a:t>.</a:t>
            </a:r>
          </a:p>
        </p:txBody>
      </p:sp>
      <p:sp>
        <p:nvSpPr>
          <p:cNvPr id="247814" name="Rectangle 6"/>
          <p:cNvSpPr>
            <a:spLocks noChangeArrowheads="1"/>
          </p:cNvSpPr>
          <p:nvPr/>
        </p:nvSpPr>
        <p:spPr bwMode="auto">
          <a:xfrm>
            <a:off x="304800" y="5410200"/>
            <a:ext cx="5407030" cy="1066800"/>
          </a:xfrm>
          <a:prstGeom prst="rect">
            <a:avLst/>
          </a:prstGeom>
          <a:noFill/>
          <a:ln w="9525">
            <a:noFill/>
            <a:miter lim="800000"/>
            <a:headEnd/>
            <a:tailEnd/>
          </a:ln>
          <a:effectLst/>
        </p:spPr>
        <p:txBody>
          <a:bodyPr/>
          <a:lstStyle/>
          <a:p>
            <a:pPr marL="342900" indent="-342900" algn="just">
              <a:lnSpc>
                <a:spcPct val="80000"/>
              </a:lnSpc>
              <a:spcBef>
                <a:spcPct val="20000"/>
              </a:spcBef>
              <a:buFontTx/>
              <a:buChar char="•"/>
            </a:pPr>
            <a:r>
              <a:rPr lang="en-US" sz="1800" b="1" dirty="0">
                <a:latin typeface="Arial" charset="0"/>
              </a:rPr>
              <a:t>The circuit symbol for resistance is </a:t>
            </a:r>
            <a:r>
              <a:rPr lang="en-US" sz="1800" b="1" dirty="0" smtClean="0">
                <a:latin typeface="Arial" charset="0"/>
              </a:rPr>
              <a:t>:--</a:t>
            </a:r>
            <a:endParaRPr lang="en-US" sz="1800" b="1" dirty="0">
              <a:latin typeface="Arial" charset="0"/>
            </a:endParaRPr>
          </a:p>
          <a:p>
            <a:pPr marL="342900" indent="-342900" algn="just">
              <a:lnSpc>
                <a:spcPct val="80000"/>
              </a:lnSpc>
              <a:spcBef>
                <a:spcPct val="20000"/>
              </a:spcBef>
              <a:buFontTx/>
              <a:buChar char="•"/>
            </a:pPr>
            <a:r>
              <a:rPr lang="en-US" sz="1800" b="1" dirty="0">
                <a:latin typeface="Arial" charset="0"/>
              </a:rPr>
              <a:t>Resistor is the simplest passive element. </a:t>
            </a:r>
            <a:r>
              <a:rPr lang="en-US" sz="1800" b="1" i="1" dirty="0">
                <a:solidFill>
                  <a:schemeClr val="accent2"/>
                </a:solidFill>
                <a:latin typeface="Arial" charset="0"/>
              </a:rPr>
              <a:t>It always absorbs power from the circuit.</a:t>
            </a:r>
          </a:p>
          <a:p>
            <a:pPr marL="342900" indent="-342900" algn="just">
              <a:lnSpc>
                <a:spcPct val="80000"/>
              </a:lnSpc>
              <a:spcBef>
                <a:spcPct val="20000"/>
              </a:spcBef>
              <a:buFontTx/>
              <a:buChar char="•"/>
            </a:pPr>
            <a:r>
              <a:rPr lang="en-US" sz="1800" b="1" dirty="0" err="1">
                <a:latin typeface="Arial" charset="0"/>
              </a:rPr>
              <a:t>Colour</a:t>
            </a:r>
            <a:r>
              <a:rPr lang="en-US" sz="1800" b="1" dirty="0">
                <a:latin typeface="Arial" charset="0"/>
              </a:rPr>
              <a:t> coding and power dissipation</a:t>
            </a:r>
            <a:r>
              <a:rPr lang="en-US" sz="1800" b="1" dirty="0" smtClean="0">
                <a:latin typeface="Arial" charset="0"/>
              </a:rPr>
              <a:t>.</a:t>
            </a:r>
          </a:p>
        </p:txBody>
      </p:sp>
      <p:grpSp>
        <p:nvGrpSpPr>
          <p:cNvPr id="3" name="Group 12"/>
          <p:cNvGrpSpPr>
            <a:grpSpLocks/>
          </p:cNvGrpSpPr>
          <p:nvPr/>
        </p:nvGrpSpPr>
        <p:grpSpPr bwMode="auto">
          <a:xfrm>
            <a:off x="6477000" y="4392613"/>
            <a:ext cx="1371600" cy="484187"/>
            <a:chOff x="3552" y="3312"/>
            <a:chExt cx="1056" cy="596"/>
          </a:xfrm>
        </p:grpSpPr>
        <p:grpSp>
          <p:nvGrpSpPr>
            <p:cNvPr id="4" name="Group 13"/>
            <p:cNvGrpSpPr>
              <a:grpSpLocks/>
            </p:cNvGrpSpPr>
            <p:nvPr/>
          </p:nvGrpSpPr>
          <p:grpSpPr bwMode="auto">
            <a:xfrm>
              <a:off x="3552" y="3312"/>
              <a:ext cx="1056" cy="144"/>
              <a:chOff x="1200" y="1296"/>
              <a:chExt cx="2256" cy="243"/>
            </a:xfrm>
          </p:grpSpPr>
          <p:sp>
            <p:nvSpPr>
              <p:cNvPr id="247822" name="Line 14"/>
              <p:cNvSpPr>
                <a:spLocks noChangeShapeType="1"/>
              </p:cNvSpPr>
              <p:nvPr/>
            </p:nvSpPr>
            <p:spPr bwMode="auto">
              <a:xfrm>
                <a:off x="1200" y="1440"/>
                <a:ext cx="576" cy="0"/>
              </a:xfrm>
              <a:prstGeom prst="line">
                <a:avLst/>
              </a:prstGeom>
              <a:noFill/>
              <a:ln w="9525">
                <a:solidFill>
                  <a:schemeClr val="tx1"/>
                </a:solidFill>
                <a:round/>
                <a:headEnd/>
                <a:tailEnd/>
              </a:ln>
              <a:effectLst/>
            </p:spPr>
            <p:txBody>
              <a:bodyPr/>
              <a:lstStyle/>
              <a:p>
                <a:endParaRPr lang="en-US"/>
              </a:p>
            </p:txBody>
          </p:sp>
          <p:sp>
            <p:nvSpPr>
              <p:cNvPr id="247823" name="Line 15"/>
              <p:cNvSpPr>
                <a:spLocks noChangeShapeType="1"/>
              </p:cNvSpPr>
              <p:nvPr/>
            </p:nvSpPr>
            <p:spPr bwMode="auto">
              <a:xfrm flipV="1">
                <a:off x="1776" y="1296"/>
                <a:ext cx="144" cy="144"/>
              </a:xfrm>
              <a:prstGeom prst="line">
                <a:avLst/>
              </a:prstGeom>
              <a:noFill/>
              <a:ln w="9525">
                <a:solidFill>
                  <a:schemeClr val="tx1"/>
                </a:solidFill>
                <a:round/>
                <a:headEnd/>
                <a:tailEnd/>
              </a:ln>
              <a:effectLst/>
            </p:spPr>
            <p:txBody>
              <a:bodyPr/>
              <a:lstStyle/>
              <a:p>
                <a:endParaRPr lang="en-US"/>
              </a:p>
            </p:txBody>
          </p:sp>
          <p:grpSp>
            <p:nvGrpSpPr>
              <p:cNvPr id="5" name="Group 16"/>
              <p:cNvGrpSpPr>
                <a:grpSpLocks/>
              </p:cNvGrpSpPr>
              <p:nvPr/>
            </p:nvGrpSpPr>
            <p:grpSpPr bwMode="auto">
              <a:xfrm>
                <a:off x="1920" y="1296"/>
                <a:ext cx="288" cy="240"/>
                <a:chOff x="1920" y="1296"/>
                <a:chExt cx="288" cy="240"/>
              </a:xfrm>
            </p:grpSpPr>
            <p:sp>
              <p:nvSpPr>
                <p:cNvPr id="247825" name="Line 17"/>
                <p:cNvSpPr>
                  <a:spLocks noChangeShapeType="1"/>
                </p:cNvSpPr>
                <p:nvPr/>
              </p:nvSpPr>
              <p:spPr bwMode="auto">
                <a:xfrm>
                  <a:off x="1920" y="1296"/>
                  <a:ext cx="144" cy="240"/>
                </a:xfrm>
                <a:prstGeom prst="line">
                  <a:avLst/>
                </a:prstGeom>
                <a:noFill/>
                <a:ln w="9525">
                  <a:solidFill>
                    <a:schemeClr val="tx1"/>
                  </a:solidFill>
                  <a:round/>
                  <a:headEnd/>
                  <a:tailEnd/>
                </a:ln>
                <a:effectLst/>
              </p:spPr>
              <p:txBody>
                <a:bodyPr/>
                <a:lstStyle/>
                <a:p>
                  <a:endParaRPr lang="en-US"/>
                </a:p>
              </p:txBody>
            </p:sp>
            <p:sp>
              <p:nvSpPr>
                <p:cNvPr id="247826" name="Line 18"/>
                <p:cNvSpPr>
                  <a:spLocks noChangeShapeType="1"/>
                </p:cNvSpPr>
                <p:nvPr/>
              </p:nvSpPr>
              <p:spPr bwMode="auto">
                <a:xfrm flipV="1">
                  <a:off x="2064" y="1296"/>
                  <a:ext cx="144" cy="240"/>
                </a:xfrm>
                <a:prstGeom prst="line">
                  <a:avLst/>
                </a:prstGeom>
                <a:noFill/>
                <a:ln w="9525">
                  <a:solidFill>
                    <a:schemeClr val="tx1"/>
                  </a:solidFill>
                  <a:round/>
                  <a:headEnd/>
                  <a:tailEnd/>
                </a:ln>
                <a:effectLst/>
              </p:spPr>
              <p:txBody>
                <a:bodyPr/>
                <a:lstStyle/>
                <a:p>
                  <a:endParaRPr lang="en-US"/>
                </a:p>
              </p:txBody>
            </p:sp>
          </p:grpSp>
          <p:grpSp>
            <p:nvGrpSpPr>
              <p:cNvPr id="6" name="Group 19"/>
              <p:cNvGrpSpPr>
                <a:grpSpLocks/>
              </p:cNvGrpSpPr>
              <p:nvPr/>
            </p:nvGrpSpPr>
            <p:grpSpPr bwMode="auto">
              <a:xfrm>
                <a:off x="2214" y="1299"/>
                <a:ext cx="288" cy="240"/>
                <a:chOff x="1920" y="1296"/>
                <a:chExt cx="288" cy="240"/>
              </a:xfrm>
            </p:grpSpPr>
            <p:sp>
              <p:nvSpPr>
                <p:cNvPr id="247828" name="Line 20"/>
                <p:cNvSpPr>
                  <a:spLocks noChangeShapeType="1"/>
                </p:cNvSpPr>
                <p:nvPr/>
              </p:nvSpPr>
              <p:spPr bwMode="auto">
                <a:xfrm>
                  <a:off x="1920" y="1296"/>
                  <a:ext cx="144" cy="240"/>
                </a:xfrm>
                <a:prstGeom prst="line">
                  <a:avLst/>
                </a:prstGeom>
                <a:noFill/>
                <a:ln w="9525">
                  <a:solidFill>
                    <a:schemeClr val="tx1"/>
                  </a:solidFill>
                  <a:round/>
                  <a:headEnd/>
                  <a:tailEnd/>
                </a:ln>
                <a:effectLst/>
              </p:spPr>
              <p:txBody>
                <a:bodyPr/>
                <a:lstStyle/>
                <a:p>
                  <a:endParaRPr lang="en-US"/>
                </a:p>
              </p:txBody>
            </p:sp>
            <p:sp>
              <p:nvSpPr>
                <p:cNvPr id="247829" name="Line 21"/>
                <p:cNvSpPr>
                  <a:spLocks noChangeShapeType="1"/>
                </p:cNvSpPr>
                <p:nvPr/>
              </p:nvSpPr>
              <p:spPr bwMode="auto">
                <a:xfrm flipV="1">
                  <a:off x="2064" y="1296"/>
                  <a:ext cx="144" cy="240"/>
                </a:xfrm>
                <a:prstGeom prst="line">
                  <a:avLst/>
                </a:prstGeom>
                <a:noFill/>
                <a:ln w="9525">
                  <a:solidFill>
                    <a:schemeClr val="tx1"/>
                  </a:solidFill>
                  <a:round/>
                  <a:headEnd/>
                  <a:tailEnd/>
                </a:ln>
                <a:effectLst/>
              </p:spPr>
              <p:txBody>
                <a:bodyPr/>
                <a:lstStyle/>
                <a:p>
                  <a:endParaRPr lang="en-US"/>
                </a:p>
              </p:txBody>
            </p:sp>
          </p:grpSp>
          <p:grpSp>
            <p:nvGrpSpPr>
              <p:cNvPr id="7" name="Group 22"/>
              <p:cNvGrpSpPr>
                <a:grpSpLocks/>
              </p:cNvGrpSpPr>
              <p:nvPr/>
            </p:nvGrpSpPr>
            <p:grpSpPr bwMode="auto">
              <a:xfrm>
                <a:off x="2508" y="1296"/>
                <a:ext cx="288" cy="240"/>
                <a:chOff x="1920" y="1296"/>
                <a:chExt cx="288" cy="240"/>
              </a:xfrm>
            </p:grpSpPr>
            <p:sp>
              <p:nvSpPr>
                <p:cNvPr id="247831" name="Line 23"/>
                <p:cNvSpPr>
                  <a:spLocks noChangeShapeType="1"/>
                </p:cNvSpPr>
                <p:nvPr/>
              </p:nvSpPr>
              <p:spPr bwMode="auto">
                <a:xfrm>
                  <a:off x="1920" y="1296"/>
                  <a:ext cx="144" cy="240"/>
                </a:xfrm>
                <a:prstGeom prst="line">
                  <a:avLst/>
                </a:prstGeom>
                <a:noFill/>
                <a:ln w="9525">
                  <a:solidFill>
                    <a:schemeClr val="tx1"/>
                  </a:solidFill>
                  <a:round/>
                  <a:headEnd/>
                  <a:tailEnd/>
                </a:ln>
                <a:effectLst/>
              </p:spPr>
              <p:txBody>
                <a:bodyPr/>
                <a:lstStyle/>
                <a:p>
                  <a:endParaRPr lang="en-US"/>
                </a:p>
              </p:txBody>
            </p:sp>
            <p:sp>
              <p:nvSpPr>
                <p:cNvPr id="247832" name="Line 24"/>
                <p:cNvSpPr>
                  <a:spLocks noChangeShapeType="1"/>
                </p:cNvSpPr>
                <p:nvPr/>
              </p:nvSpPr>
              <p:spPr bwMode="auto">
                <a:xfrm flipV="1">
                  <a:off x="2064" y="1296"/>
                  <a:ext cx="144" cy="240"/>
                </a:xfrm>
                <a:prstGeom prst="line">
                  <a:avLst/>
                </a:prstGeom>
                <a:noFill/>
                <a:ln w="9525">
                  <a:solidFill>
                    <a:schemeClr val="tx1"/>
                  </a:solidFill>
                  <a:round/>
                  <a:headEnd/>
                  <a:tailEnd/>
                </a:ln>
                <a:effectLst/>
              </p:spPr>
              <p:txBody>
                <a:bodyPr/>
                <a:lstStyle/>
                <a:p>
                  <a:endParaRPr lang="en-US"/>
                </a:p>
              </p:txBody>
            </p:sp>
          </p:grpSp>
          <p:sp>
            <p:nvSpPr>
              <p:cNvPr id="247833" name="Line 25"/>
              <p:cNvSpPr>
                <a:spLocks noChangeShapeType="1"/>
              </p:cNvSpPr>
              <p:nvPr/>
            </p:nvSpPr>
            <p:spPr bwMode="auto">
              <a:xfrm>
                <a:off x="2880" y="1440"/>
                <a:ext cx="576" cy="0"/>
              </a:xfrm>
              <a:prstGeom prst="line">
                <a:avLst/>
              </a:prstGeom>
              <a:noFill/>
              <a:ln w="9525">
                <a:solidFill>
                  <a:schemeClr val="tx1"/>
                </a:solidFill>
                <a:round/>
                <a:headEnd/>
                <a:tailEnd/>
              </a:ln>
              <a:effectLst/>
            </p:spPr>
            <p:txBody>
              <a:bodyPr/>
              <a:lstStyle/>
              <a:p>
                <a:endParaRPr lang="en-US"/>
              </a:p>
            </p:txBody>
          </p:sp>
          <p:sp>
            <p:nvSpPr>
              <p:cNvPr id="247834" name="Line 26"/>
              <p:cNvSpPr>
                <a:spLocks noChangeShapeType="1"/>
              </p:cNvSpPr>
              <p:nvPr/>
            </p:nvSpPr>
            <p:spPr bwMode="auto">
              <a:xfrm>
                <a:off x="2793" y="1296"/>
                <a:ext cx="96" cy="144"/>
              </a:xfrm>
              <a:prstGeom prst="line">
                <a:avLst/>
              </a:prstGeom>
              <a:noFill/>
              <a:ln w="9525">
                <a:solidFill>
                  <a:schemeClr val="tx1"/>
                </a:solidFill>
                <a:round/>
                <a:headEnd/>
                <a:tailEnd/>
              </a:ln>
              <a:effectLst/>
            </p:spPr>
            <p:txBody>
              <a:bodyPr/>
              <a:lstStyle/>
              <a:p>
                <a:endParaRPr lang="en-US"/>
              </a:p>
            </p:txBody>
          </p:sp>
        </p:grpSp>
        <p:sp>
          <p:nvSpPr>
            <p:cNvPr id="247835" name="Text Box 27"/>
            <p:cNvSpPr txBox="1">
              <a:spLocks noChangeArrowheads="1"/>
            </p:cNvSpPr>
            <p:nvPr/>
          </p:nvSpPr>
          <p:spPr bwMode="auto">
            <a:xfrm>
              <a:off x="4046" y="3457"/>
              <a:ext cx="274" cy="451"/>
            </a:xfrm>
            <a:prstGeom prst="rect">
              <a:avLst/>
            </a:prstGeom>
            <a:noFill/>
            <a:ln w="9525">
              <a:noFill/>
              <a:miter lim="800000"/>
              <a:headEnd/>
              <a:tailEnd/>
            </a:ln>
            <a:effectLst/>
          </p:spPr>
          <p:txBody>
            <a:bodyPr>
              <a:spAutoFit/>
            </a:bodyPr>
            <a:lstStyle/>
            <a:p>
              <a:pPr>
                <a:spcBef>
                  <a:spcPct val="50000"/>
                </a:spcBef>
              </a:pPr>
              <a:r>
                <a:rPr lang="en-US" sz="1800" b="1">
                  <a:latin typeface="Arial" charset="0"/>
                </a:rPr>
                <a:t>R</a:t>
              </a:r>
            </a:p>
          </p:txBody>
        </p:sp>
      </p:grpSp>
      <p:grpSp>
        <p:nvGrpSpPr>
          <p:cNvPr id="8" name="Group 47"/>
          <p:cNvGrpSpPr>
            <a:grpSpLocks/>
          </p:cNvGrpSpPr>
          <p:nvPr/>
        </p:nvGrpSpPr>
        <p:grpSpPr bwMode="auto">
          <a:xfrm>
            <a:off x="6454775" y="5794375"/>
            <a:ext cx="1470025" cy="682625"/>
            <a:chOff x="4066" y="3360"/>
            <a:chExt cx="1056" cy="726"/>
          </a:xfrm>
        </p:grpSpPr>
        <p:grpSp>
          <p:nvGrpSpPr>
            <p:cNvPr id="9" name="Group 29"/>
            <p:cNvGrpSpPr>
              <a:grpSpLocks/>
            </p:cNvGrpSpPr>
            <p:nvPr/>
          </p:nvGrpSpPr>
          <p:grpSpPr bwMode="auto">
            <a:xfrm>
              <a:off x="4066" y="3360"/>
              <a:ext cx="1056" cy="144"/>
              <a:chOff x="1200" y="1296"/>
              <a:chExt cx="2256" cy="243"/>
            </a:xfrm>
          </p:grpSpPr>
          <p:sp>
            <p:nvSpPr>
              <p:cNvPr id="247838" name="Line 30"/>
              <p:cNvSpPr>
                <a:spLocks noChangeShapeType="1"/>
              </p:cNvSpPr>
              <p:nvPr/>
            </p:nvSpPr>
            <p:spPr bwMode="auto">
              <a:xfrm>
                <a:off x="1200" y="1440"/>
                <a:ext cx="576" cy="0"/>
              </a:xfrm>
              <a:prstGeom prst="line">
                <a:avLst/>
              </a:prstGeom>
              <a:noFill/>
              <a:ln w="9525">
                <a:solidFill>
                  <a:schemeClr val="tx1"/>
                </a:solidFill>
                <a:round/>
                <a:headEnd/>
                <a:tailEnd/>
              </a:ln>
              <a:effectLst/>
            </p:spPr>
            <p:txBody>
              <a:bodyPr/>
              <a:lstStyle/>
              <a:p>
                <a:endParaRPr lang="en-US"/>
              </a:p>
            </p:txBody>
          </p:sp>
          <p:sp>
            <p:nvSpPr>
              <p:cNvPr id="247839" name="Line 31"/>
              <p:cNvSpPr>
                <a:spLocks noChangeShapeType="1"/>
              </p:cNvSpPr>
              <p:nvPr/>
            </p:nvSpPr>
            <p:spPr bwMode="auto">
              <a:xfrm flipV="1">
                <a:off x="1776" y="1296"/>
                <a:ext cx="144" cy="144"/>
              </a:xfrm>
              <a:prstGeom prst="line">
                <a:avLst/>
              </a:prstGeom>
              <a:noFill/>
              <a:ln w="9525">
                <a:solidFill>
                  <a:schemeClr val="tx1"/>
                </a:solidFill>
                <a:round/>
                <a:headEnd/>
                <a:tailEnd/>
              </a:ln>
              <a:effectLst/>
            </p:spPr>
            <p:txBody>
              <a:bodyPr/>
              <a:lstStyle/>
              <a:p>
                <a:endParaRPr lang="en-US"/>
              </a:p>
            </p:txBody>
          </p:sp>
          <p:grpSp>
            <p:nvGrpSpPr>
              <p:cNvPr id="10" name="Group 32"/>
              <p:cNvGrpSpPr>
                <a:grpSpLocks/>
              </p:cNvGrpSpPr>
              <p:nvPr/>
            </p:nvGrpSpPr>
            <p:grpSpPr bwMode="auto">
              <a:xfrm>
                <a:off x="1920" y="1296"/>
                <a:ext cx="288" cy="240"/>
                <a:chOff x="1920" y="1296"/>
                <a:chExt cx="288" cy="240"/>
              </a:xfrm>
            </p:grpSpPr>
            <p:sp>
              <p:nvSpPr>
                <p:cNvPr id="247841" name="Line 33"/>
                <p:cNvSpPr>
                  <a:spLocks noChangeShapeType="1"/>
                </p:cNvSpPr>
                <p:nvPr/>
              </p:nvSpPr>
              <p:spPr bwMode="auto">
                <a:xfrm>
                  <a:off x="1920" y="1296"/>
                  <a:ext cx="144" cy="240"/>
                </a:xfrm>
                <a:prstGeom prst="line">
                  <a:avLst/>
                </a:prstGeom>
                <a:noFill/>
                <a:ln w="9525">
                  <a:solidFill>
                    <a:schemeClr val="tx1"/>
                  </a:solidFill>
                  <a:round/>
                  <a:headEnd/>
                  <a:tailEnd/>
                </a:ln>
                <a:effectLst/>
              </p:spPr>
              <p:txBody>
                <a:bodyPr/>
                <a:lstStyle/>
                <a:p>
                  <a:endParaRPr lang="en-US"/>
                </a:p>
              </p:txBody>
            </p:sp>
            <p:sp>
              <p:nvSpPr>
                <p:cNvPr id="247842" name="Line 34"/>
                <p:cNvSpPr>
                  <a:spLocks noChangeShapeType="1"/>
                </p:cNvSpPr>
                <p:nvPr/>
              </p:nvSpPr>
              <p:spPr bwMode="auto">
                <a:xfrm flipV="1">
                  <a:off x="2064" y="1296"/>
                  <a:ext cx="144" cy="240"/>
                </a:xfrm>
                <a:prstGeom prst="line">
                  <a:avLst/>
                </a:prstGeom>
                <a:noFill/>
                <a:ln w="9525">
                  <a:solidFill>
                    <a:schemeClr val="tx1"/>
                  </a:solidFill>
                  <a:round/>
                  <a:headEnd/>
                  <a:tailEnd/>
                </a:ln>
                <a:effectLst/>
              </p:spPr>
              <p:txBody>
                <a:bodyPr/>
                <a:lstStyle/>
                <a:p>
                  <a:endParaRPr lang="en-US"/>
                </a:p>
              </p:txBody>
            </p:sp>
          </p:grpSp>
          <p:grpSp>
            <p:nvGrpSpPr>
              <p:cNvPr id="11" name="Group 35"/>
              <p:cNvGrpSpPr>
                <a:grpSpLocks/>
              </p:cNvGrpSpPr>
              <p:nvPr/>
            </p:nvGrpSpPr>
            <p:grpSpPr bwMode="auto">
              <a:xfrm>
                <a:off x="2214" y="1299"/>
                <a:ext cx="288" cy="240"/>
                <a:chOff x="1920" y="1296"/>
                <a:chExt cx="288" cy="240"/>
              </a:xfrm>
            </p:grpSpPr>
            <p:sp>
              <p:nvSpPr>
                <p:cNvPr id="247844" name="Line 36"/>
                <p:cNvSpPr>
                  <a:spLocks noChangeShapeType="1"/>
                </p:cNvSpPr>
                <p:nvPr/>
              </p:nvSpPr>
              <p:spPr bwMode="auto">
                <a:xfrm>
                  <a:off x="1920" y="1296"/>
                  <a:ext cx="144" cy="240"/>
                </a:xfrm>
                <a:prstGeom prst="line">
                  <a:avLst/>
                </a:prstGeom>
                <a:noFill/>
                <a:ln w="9525">
                  <a:solidFill>
                    <a:schemeClr val="tx1"/>
                  </a:solidFill>
                  <a:round/>
                  <a:headEnd/>
                  <a:tailEnd/>
                </a:ln>
                <a:effectLst/>
              </p:spPr>
              <p:txBody>
                <a:bodyPr/>
                <a:lstStyle/>
                <a:p>
                  <a:endParaRPr lang="en-US"/>
                </a:p>
              </p:txBody>
            </p:sp>
            <p:sp>
              <p:nvSpPr>
                <p:cNvPr id="247845" name="Line 37"/>
                <p:cNvSpPr>
                  <a:spLocks noChangeShapeType="1"/>
                </p:cNvSpPr>
                <p:nvPr/>
              </p:nvSpPr>
              <p:spPr bwMode="auto">
                <a:xfrm flipV="1">
                  <a:off x="2064" y="1296"/>
                  <a:ext cx="144" cy="240"/>
                </a:xfrm>
                <a:prstGeom prst="line">
                  <a:avLst/>
                </a:prstGeom>
                <a:noFill/>
                <a:ln w="9525">
                  <a:solidFill>
                    <a:schemeClr val="tx1"/>
                  </a:solidFill>
                  <a:round/>
                  <a:headEnd/>
                  <a:tailEnd/>
                </a:ln>
                <a:effectLst/>
              </p:spPr>
              <p:txBody>
                <a:bodyPr/>
                <a:lstStyle/>
                <a:p>
                  <a:endParaRPr lang="en-US"/>
                </a:p>
              </p:txBody>
            </p:sp>
          </p:grpSp>
          <p:grpSp>
            <p:nvGrpSpPr>
              <p:cNvPr id="12" name="Group 38"/>
              <p:cNvGrpSpPr>
                <a:grpSpLocks/>
              </p:cNvGrpSpPr>
              <p:nvPr/>
            </p:nvGrpSpPr>
            <p:grpSpPr bwMode="auto">
              <a:xfrm>
                <a:off x="2508" y="1296"/>
                <a:ext cx="288" cy="240"/>
                <a:chOff x="1920" y="1296"/>
                <a:chExt cx="288" cy="240"/>
              </a:xfrm>
            </p:grpSpPr>
            <p:sp>
              <p:nvSpPr>
                <p:cNvPr id="247847" name="Line 39"/>
                <p:cNvSpPr>
                  <a:spLocks noChangeShapeType="1"/>
                </p:cNvSpPr>
                <p:nvPr/>
              </p:nvSpPr>
              <p:spPr bwMode="auto">
                <a:xfrm>
                  <a:off x="1920" y="1296"/>
                  <a:ext cx="144" cy="240"/>
                </a:xfrm>
                <a:prstGeom prst="line">
                  <a:avLst/>
                </a:prstGeom>
                <a:noFill/>
                <a:ln w="9525">
                  <a:solidFill>
                    <a:schemeClr val="tx1"/>
                  </a:solidFill>
                  <a:round/>
                  <a:headEnd/>
                  <a:tailEnd/>
                </a:ln>
                <a:effectLst/>
              </p:spPr>
              <p:txBody>
                <a:bodyPr/>
                <a:lstStyle/>
                <a:p>
                  <a:endParaRPr lang="en-US"/>
                </a:p>
              </p:txBody>
            </p:sp>
            <p:sp>
              <p:nvSpPr>
                <p:cNvPr id="247848" name="Line 40"/>
                <p:cNvSpPr>
                  <a:spLocks noChangeShapeType="1"/>
                </p:cNvSpPr>
                <p:nvPr/>
              </p:nvSpPr>
              <p:spPr bwMode="auto">
                <a:xfrm flipV="1">
                  <a:off x="2064" y="1296"/>
                  <a:ext cx="144" cy="240"/>
                </a:xfrm>
                <a:prstGeom prst="line">
                  <a:avLst/>
                </a:prstGeom>
                <a:noFill/>
                <a:ln w="9525">
                  <a:solidFill>
                    <a:schemeClr val="tx1"/>
                  </a:solidFill>
                  <a:round/>
                  <a:headEnd/>
                  <a:tailEnd/>
                </a:ln>
                <a:effectLst/>
              </p:spPr>
              <p:txBody>
                <a:bodyPr/>
                <a:lstStyle/>
                <a:p>
                  <a:endParaRPr lang="en-US"/>
                </a:p>
              </p:txBody>
            </p:sp>
          </p:grpSp>
          <p:sp>
            <p:nvSpPr>
              <p:cNvPr id="247849" name="Line 41"/>
              <p:cNvSpPr>
                <a:spLocks noChangeShapeType="1"/>
              </p:cNvSpPr>
              <p:nvPr/>
            </p:nvSpPr>
            <p:spPr bwMode="auto">
              <a:xfrm>
                <a:off x="2880" y="1440"/>
                <a:ext cx="576" cy="0"/>
              </a:xfrm>
              <a:prstGeom prst="line">
                <a:avLst/>
              </a:prstGeom>
              <a:noFill/>
              <a:ln w="9525">
                <a:solidFill>
                  <a:schemeClr val="tx1"/>
                </a:solidFill>
                <a:round/>
                <a:headEnd/>
                <a:tailEnd/>
              </a:ln>
              <a:effectLst/>
            </p:spPr>
            <p:txBody>
              <a:bodyPr/>
              <a:lstStyle/>
              <a:p>
                <a:endParaRPr lang="en-US"/>
              </a:p>
            </p:txBody>
          </p:sp>
          <p:sp>
            <p:nvSpPr>
              <p:cNvPr id="247850" name="Line 42"/>
              <p:cNvSpPr>
                <a:spLocks noChangeShapeType="1"/>
              </p:cNvSpPr>
              <p:nvPr/>
            </p:nvSpPr>
            <p:spPr bwMode="auto">
              <a:xfrm>
                <a:off x="2793" y="1296"/>
                <a:ext cx="96" cy="144"/>
              </a:xfrm>
              <a:prstGeom prst="line">
                <a:avLst/>
              </a:prstGeom>
              <a:noFill/>
              <a:ln w="9525">
                <a:solidFill>
                  <a:schemeClr val="tx1"/>
                </a:solidFill>
                <a:round/>
                <a:headEnd/>
                <a:tailEnd/>
              </a:ln>
              <a:effectLst/>
            </p:spPr>
            <p:txBody>
              <a:bodyPr/>
              <a:lstStyle/>
              <a:p>
                <a:endParaRPr lang="en-US"/>
              </a:p>
            </p:txBody>
          </p:sp>
        </p:grpSp>
        <p:sp>
          <p:nvSpPr>
            <p:cNvPr id="247851" name="Text Box 43"/>
            <p:cNvSpPr txBox="1">
              <a:spLocks noChangeArrowheads="1"/>
            </p:cNvSpPr>
            <p:nvPr/>
          </p:nvSpPr>
          <p:spPr bwMode="auto">
            <a:xfrm>
              <a:off x="4560" y="3696"/>
              <a:ext cx="273" cy="390"/>
            </a:xfrm>
            <a:prstGeom prst="rect">
              <a:avLst/>
            </a:prstGeom>
            <a:noFill/>
            <a:ln w="9525">
              <a:noFill/>
              <a:miter lim="800000"/>
              <a:headEnd/>
              <a:tailEnd/>
            </a:ln>
            <a:effectLst/>
          </p:spPr>
          <p:txBody>
            <a:bodyPr>
              <a:spAutoFit/>
            </a:bodyPr>
            <a:lstStyle/>
            <a:p>
              <a:pPr>
                <a:spcBef>
                  <a:spcPct val="50000"/>
                </a:spcBef>
              </a:pPr>
              <a:r>
                <a:rPr lang="en-US" sz="1800" b="1">
                  <a:latin typeface="Arial" charset="0"/>
                </a:rPr>
                <a:t>R</a:t>
              </a:r>
            </a:p>
          </p:txBody>
        </p:sp>
        <p:sp>
          <p:nvSpPr>
            <p:cNvPr id="247852" name="Line 44"/>
            <p:cNvSpPr>
              <a:spLocks noChangeShapeType="1"/>
            </p:cNvSpPr>
            <p:nvPr/>
          </p:nvSpPr>
          <p:spPr bwMode="auto">
            <a:xfrm flipV="1">
              <a:off x="4608" y="3480"/>
              <a:ext cx="0" cy="240"/>
            </a:xfrm>
            <a:prstGeom prst="line">
              <a:avLst/>
            </a:prstGeom>
            <a:noFill/>
            <a:ln w="9525">
              <a:solidFill>
                <a:schemeClr val="tx1"/>
              </a:solidFill>
              <a:round/>
              <a:headEnd/>
              <a:tailEnd type="triangle" w="med" len="med"/>
            </a:ln>
            <a:effectLst/>
          </p:spPr>
          <p:txBody>
            <a:bodyPr/>
            <a:lstStyle/>
            <a:p>
              <a:endParaRPr lang="en-US"/>
            </a:p>
          </p:txBody>
        </p:sp>
        <p:sp>
          <p:nvSpPr>
            <p:cNvPr id="247853" name="Line 45"/>
            <p:cNvSpPr>
              <a:spLocks noChangeShapeType="1"/>
            </p:cNvSpPr>
            <p:nvPr/>
          </p:nvSpPr>
          <p:spPr bwMode="auto">
            <a:xfrm>
              <a:off x="4608" y="3720"/>
              <a:ext cx="336" cy="0"/>
            </a:xfrm>
            <a:prstGeom prst="line">
              <a:avLst/>
            </a:prstGeom>
            <a:noFill/>
            <a:ln w="9525">
              <a:solidFill>
                <a:schemeClr val="tx1"/>
              </a:solidFill>
              <a:round/>
              <a:headEnd/>
              <a:tailEnd/>
            </a:ln>
            <a:effectLst/>
          </p:spPr>
          <p:txBody>
            <a:bodyPr/>
            <a:lstStyle/>
            <a:p>
              <a:endParaRPr lang="en-US"/>
            </a:p>
          </p:txBody>
        </p:sp>
      </p:grpSp>
      <p:grpSp>
        <p:nvGrpSpPr>
          <p:cNvPr id="13" name="Group 65"/>
          <p:cNvGrpSpPr>
            <a:grpSpLocks/>
          </p:cNvGrpSpPr>
          <p:nvPr/>
        </p:nvGrpSpPr>
        <p:grpSpPr bwMode="auto">
          <a:xfrm>
            <a:off x="6477000" y="5029200"/>
            <a:ext cx="1371600" cy="712788"/>
            <a:chOff x="4080" y="3168"/>
            <a:chExt cx="864" cy="449"/>
          </a:xfrm>
        </p:grpSpPr>
        <p:grpSp>
          <p:nvGrpSpPr>
            <p:cNvPr id="14" name="Group 48"/>
            <p:cNvGrpSpPr>
              <a:grpSpLocks/>
            </p:cNvGrpSpPr>
            <p:nvPr/>
          </p:nvGrpSpPr>
          <p:grpSpPr bwMode="auto">
            <a:xfrm>
              <a:off x="4080" y="3312"/>
              <a:ext cx="864" cy="305"/>
              <a:chOff x="3552" y="3312"/>
              <a:chExt cx="1056" cy="596"/>
            </a:xfrm>
          </p:grpSpPr>
          <p:grpSp>
            <p:nvGrpSpPr>
              <p:cNvPr id="15" name="Group 49"/>
              <p:cNvGrpSpPr>
                <a:grpSpLocks/>
              </p:cNvGrpSpPr>
              <p:nvPr/>
            </p:nvGrpSpPr>
            <p:grpSpPr bwMode="auto">
              <a:xfrm>
                <a:off x="3552" y="3312"/>
                <a:ext cx="1056" cy="144"/>
                <a:chOff x="1200" y="1296"/>
                <a:chExt cx="2256" cy="243"/>
              </a:xfrm>
            </p:grpSpPr>
            <p:sp>
              <p:nvSpPr>
                <p:cNvPr id="247858" name="Line 50"/>
                <p:cNvSpPr>
                  <a:spLocks noChangeShapeType="1"/>
                </p:cNvSpPr>
                <p:nvPr/>
              </p:nvSpPr>
              <p:spPr bwMode="auto">
                <a:xfrm>
                  <a:off x="1200" y="1440"/>
                  <a:ext cx="576" cy="0"/>
                </a:xfrm>
                <a:prstGeom prst="line">
                  <a:avLst/>
                </a:prstGeom>
                <a:noFill/>
                <a:ln w="9525">
                  <a:solidFill>
                    <a:schemeClr val="tx1"/>
                  </a:solidFill>
                  <a:round/>
                  <a:headEnd/>
                  <a:tailEnd/>
                </a:ln>
                <a:effectLst/>
              </p:spPr>
              <p:txBody>
                <a:bodyPr/>
                <a:lstStyle/>
                <a:p>
                  <a:endParaRPr lang="en-US"/>
                </a:p>
              </p:txBody>
            </p:sp>
            <p:sp>
              <p:nvSpPr>
                <p:cNvPr id="247859" name="Line 51"/>
                <p:cNvSpPr>
                  <a:spLocks noChangeShapeType="1"/>
                </p:cNvSpPr>
                <p:nvPr/>
              </p:nvSpPr>
              <p:spPr bwMode="auto">
                <a:xfrm flipV="1">
                  <a:off x="1776" y="1296"/>
                  <a:ext cx="144" cy="144"/>
                </a:xfrm>
                <a:prstGeom prst="line">
                  <a:avLst/>
                </a:prstGeom>
                <a:noFill/>
                <a:ln w="9525">
                  <a:solidFill>
                    <a:schemeClr val="tx1"/>
                  </a:solidFill>
                  <a:round/>
                  <a:headEnd/>
                  <a:tailEnd/>
                </a:ln>
                <a:effectLst/>
              </p:spPr>
              <p:txBody>
                <a:bodyPr/>
                <a:lstStyle/>
                <a:p>
                  <a:endParaRPr lang="en-US"/>
                </a:p>
              </p:txBody>
            </p:sp>
            <p:grpSp>
              <p:nvGrpSpPr>
                <p:cNvPr id="16" name="Group 52"/>
                <p:cNvGrpSpPr>
                  <a:grpSpLocks/>
                </p:cNvGrpSpPr>
                <p:nvPr/>
              </p:nvGrpSpPr>
              <p:grpSpPr bwMode="auto">
                <a:xfrm>
                  <a:off x="1920" y="1296"/>
                  <a:ext cx="288" cy="240"/>
                  <a:chOff x="1920" y="1296"/>
                  <a:chExt cx="288" cy="240"/>
                </a:xfrm>
              </p:grpSpPr>
              <p:sp>
                <p:nvSpPr>
                  <p:cNvPr id="247861" name="Line 53"/>
                  <p:cNvSpPr>
                    <a:spLocks noChangeShapeType="1"/>
                  </p:cNvSpPr>
                  <p:nvPr/>
                </p:nvSpPr>
                <p:spPr bwMode="auto">
                  <a:xfrm>
                    <a:off x="1920" y="1296"/>
                    <a:ext cx="144" cy="240"/>
                  </a:xfrm>
                  <a:prstGeom prst="line">
                    <a:avLst/>
                  </a:prstGeom>
                  <a:noFill/>
                  <a:ln w="9525">
                    <a:solidFill>
                      <a:schemeClr val="tx1"/>
                    </a:solidFill>
                    <a:round/>
                    <a:headEnd/>
                    <a:tailEnd/>
                  </a:ln>
                  <a:effectLst/>
                </p:spPr>
                <p:txBody>
                  <a:bodyPr/>
                  <a:lstStyle/>
                  <a:p>
                    <a:endParaRPr lang="en-US"/>
                  </a:p>
                </p:txBody>
              </p:sp>
              <p:sp>
                <p:nvSpPr>
                  <p:cNvPr id="247862" name="Line 54"/>
                  <p:cNvSpPr>
                    <a:spLocks noChangeShapeType="1"/>
                  </p:cNvSpPr>
                  <p:nvPr/>
                </p:nvSpPr>
                <p:spPr bwMode="auto">
                  <a:xfrm flipV="1">
                    <a:off x="2064" y="1296"/>
                    <a:ext cx="144" cy="240"/>
                  </a:xfrm>
                  <a:prstGeom prst="line">
                    <a:avLst/>
                  </a:prstGeom>
                  <a:noFill/>
                  <a:ln w="9525">
                    <a:solidFill>
                      <a:schemeClr val="tx1"/>
                    </a:solidFill>
                    <a:round/>
                    <a:headEnd/>
                    <a:tailEnd/>
                  </a:ln>
                  <a:effectLst/>
                </p:spPr>
                <p:txBody>
                  <a:bodyPr/>
                  <a:lstStyle/>
                  <a:p>
                    <a:endParaRPr lang="en-US"/>
                  </a:p>
                </p:txBody>
              </p:sp>
            </p:grpSp>
            <p:grpSp>
              <p:nvGrpSpPr>
                <p:cNvPr id="17" name="Group 55"/>
                <p:cNvGrpSpPr>
                  <a:grpSpLocks/>
                </p:cNvGrpSpPr>
                <p:nvPr/>
              </p:nvGrpSpPr>
              <p:grpSpPr bwMode="auto">
                <a:xfrm>
                  <a:off x="2214" y="1299"/>
                  <a:ext cx="288" cy="240"/>
                  <a:chOff x="1920" y="1296"/>
                  <a:chExt cx="288" cy="240"/>
                </a:xfrm>
              </p:grpSpPr>
              <p:sp>
                <p:nvSpPr>
                  <p:cNvPr id="247864" name="Line 56"/>
                  <p:cNvSpPr>
                    <a:spLocks noChangeShapeType="1"/>
                  </p:cNvSpPr>
                  <p:nvPr/>
                </p:nvSpPr>
                <p:spPr bwMode="auto">
                  <a:xfrm>
                    <a:off x="1920" y="1296"/>
                    <a:ext cx="144" cy="240"/>
                  </a:xfrm>
                  <a:prstGeom prst="line">
                    <a:avLst/>
                  </a:prstGeom>
                  <a:noFill/>
                  <a:ln w="9525">
                    <a:solidFill>
                      <a:schemeClr val="tx1"/>
                    </a:solidFill>
                    <a:round/>
                    <a:headEnd/>
                    <a:tailEnd/>
                  </a:ln>
                  <a:effectLst/>
                </p:spPr>
                <p:txBody>
                  <a:bodyPr/>
                  <a:lstStyle/>
                  <a:p>
                    <a:endParaRPr lang="en-US"/>
                  </a:p>
                </p:txBody>
              </p:sp>
              <p:sp>
                <p:nvSpPr>
                  <p:cNvPr id="247865" name="Line 57"/>
                  <p:cNvSpPr>
                    <a:spLocks noChangeShapeType="1"/>
                  </p:cNvSpPr>
                  <p:nvPr/>
                </p:nvSpPr>
                <p:spPr bwMode="auto">
                  <a:xfrm flipV="1">
                    <a:off x="2064" y="1296"/>
                    <a:ext cx="144" cy="240"/>
                  </a:xfrm>
                  <a:prstGeom prst="line">
                    <a:avLst/>
                  </a:prstGeom>
                  <a:noFill/>
                  <a:ln w="9525">
                    <a:solidFill>
                      <a:schemeClr val="tx1"/>
                    </a:solidFill>
                    <a:round/>
                    <a:headEnd/>
                    <a:tailEnd/>
                  </a:ln>
                  <a:effectLst/>
                </p:spPr>
                <p:txBody>
                  <a:bodyPr/>
                  <a:lstStyle/>
                  <a:p>
                    <a:endParaRPr lang="en-US"/>
                  </a:p>
                </p:txBody>
              </p:sp>
            </p:grpSp>
            <p:grpSp>
              <p:nvGrpSpPr>
                <p:cNvPr id="18" name="Group 58"/>
                <p:cNvGrpSpPr>
                  <a:grpSpLocks/>
                </p:cNvGrpSpPr>
                <p:nvPr/>
              </p:nvGrpSpPr>
              <p:grpSpPr bwMode="auto">
                <a:xfrm>
                  <a:off x="2508" y="1296"/>
                  <a:ext cx="288" cy="240"/>
                  <a:chOff x="1920" y="1296"/>
                  <a:chExt cx="288" cy="240"/>
                </a:xfrm>
              </p:grpSpPr>
              <p:sp>
                <p:nvSpPr>
                  <p:cNvPr id="247867" name="Line 59"/>
                  <p:cNvSpPr>
                    <a:spLocks noChangeShapeType="1"/>
                  </p:cNvSpPr>
                  <p:nvPr/>
                </p:nvSpPr>
                <p:spPr bwMode="auto">
                  <a:xfrm>
                    <a:off x="1920" y="1296"/>
                    <a:ext cx="144" cy="240"/>
                  </a:xfrm>
                  <a:prstGeom prst="line">
                    <a:avLst/>
                  </a:prstGeom>
                  <a:noFill/>
                  <a:ln w="9525">
                    <a:solidFill>
                      <a:schemeClr val="tx1"/>
                    </a:solidFill>
                    <a:round/>
                    <a:headEnd/>
                    <a:tailEnd/>
                  </a:ln>
                  <a:effectLst/>
                </p:spPr>
                <p:txBody>
                  <a:bodyPr/>
                  <a:lstStyle/>
                  <a:p>
                    <a:endParaRPr lang="en-US"/>
                  </a:p>
                </p:txBody>
              </p:sp>
              <p:sp>
                <p:nvSpPr>
                  <p:cNvPr id="247868" name="Line 60"/>
                  <p:cNvSpPr>
                    <a:spLocks noChangeShapeType="1"/>
                  </p:cNvSpPr>
                  <p:nvPr/>
                </p:nvSpPr>
                <p:spPr bwMode="auto">
                  <a:xfrm flipV="1">
                    <a:off x="2064" y="1296"/>
                    <a:ext cx="144" cy="240"/>
                  </a:xfrm>
                  <a:prstGeom prst="line">
                    <a:avLst/>
                  </a:prstGeom>
                  <a:noFill/>
                  <a:ln w="9525">
                    <a:solidFill>
                      <a:schemeClr val="tx1"/>
                    </a:solidFill>
                    <a:round/>
                    <a:headEnd/>
                    <a:tailEnd/>
                  </a:ln>
                  <a:effectLst/>
                </p:spPr>
                <p:txBody>
                  <a:bodyPr/>
                  <a:lstStyle/>
                  <a:p>
                    <a:endParaRPr lang="en-US"/>
                  </a:p>
                </p:txBody>
              </p:sp>
            </p:grpSp>
            <p:sp>
              <p:nvSpPr>
                <p:cNvPr id="247869" name="Line 61"/>
                <p:cNvSpPr>
                  <a:spLocks noChangeShapeType="1"/>
                </p:cNvSpPr>
                <p:nvPr/>
              </p:nvSpPr>
              <p:spPr bwMode="auto">
                <a:xfrm>
                  <a:off x="2880" y="1440"/>
                  <a:ext cx="576" cy="0"/>
                </a:xfrm>
                <a:prstGeom prst="line">
                  <a:avLst/>
                </a:prstGeom>
                <a:noFill/>
                <a:ln w="9525">
                  <a:solidFill>
                    <a:schemeClr val="tx1"/>
                  </a:solidFill>
                  <a:round/>
                  <a:headEnd/>
                  <a:tailEnd/>
                </a:ln>
                <a:effectLst/>
              </p:spPr>
              <p:txBody>
                <a:bodyPr/>
                <a:lstStyle/>
                <a:p>
                  <a:endParaRPr lang="en-US"/>
                </a:p>
              </p:txBody>
            </p:sp>
            <p:sp>
              <p:nvSpPr>
                <p:cNvPr id="247870" name="Line 62"/>
                <p:cNvSpPr>
                  <a:spLocks noChangeShapeType="1"/>
                </p:cNvSpPr>
                <p:nvPr/>
              </p:nvSpPr>
              <p:spPr bwMode="auto">
                <a:xfrm>
                  <a:off x="2793" y="1296"/>
                  <a:ext cx="96" cy="144"/>
                </a:xfrm>
                <a:prstGeom prst="line">
                  <a:avLst/>
                </a:prstGeom>
                <a:noFill/>
                <a:ln w="9525">
                  <a:solidFill>
                    <a:schemeClr val="tx1"/>
                  </a:solidFill>
                  <a:round/>
                  <a:headEnd/>
                  <a:tailEnd/>
                </a:ln>
                <a:effectLst/>
              </p:spPr>
              <p:txBody>
                <a:bodyPr/>
                <a:lstStyle/>
                <a:p>
                  <a:endParaRPr lang="en-US"/>
                </a:p>
              </p:txBody>
            </p:sp>
          </p:grpSp>
          <p:sp>
            <p:nvSpPr>
              <p:cNvPr id="247871" name="Text Box 63"/>
              <p:cNvSpPr txBox="1">
                <a:spLocks noChangeArrowheads="1"/>
              </p:cNvSpPr>
              <p:nvPr/>
            </p:nvSpPr>
            <p:spPr bwMode="auto">
              <a:xfrm>
                <a:off x="4046" y="3457"/>
                <a:ext cx="274" cy="451"/>
              </a:xfrm>
              <a:prstGeom prst="rect">
                <a:avLst/>
              </a:prstGeom>
              <a:noFill/>
              <a:ln w="9525">
                <a:noFill/>
                <a:miter lim="800000"/>
                <a:headEnd/>
                <a:tailEnd/>
              </a:ln>
              <a:effectLst/>
            </p:spPr>
            <p:txBody>
              <a:bodyPr>
                <a:spAutoFit/>
              </a:bodyPr>
              <a:lstStyle/>
              <a:p>
                <a:pPr>
                  <a:spcBef>
                    <a:spcPct val="50000"/>
                  </a:spcBef>
                </a:pPr>
                <a:r>
                  <a:rPr lang="en-US" sz="1800" b="1">
                    <a:latin typeface="Arial" charset="0"/>
                  </a:rPr>
                  <a:t>R</a:t>
                </a:r>
              </a:p>
            </p:txBody>
          </p:sp>
        </p:grpSp>
        <p:sp>
          <p:nvSpPr>
            <p:cNvPr id="247872" name="Line 64"/>
            <p:cNvSpPr>
              <a:spLocks noChangeShapeType="1"/>
            </p:cNvSpPr>
            <p:nvPr/>
          </p:nvSpPr>
          <p:spPr bwMode="auto">
            <a:xfrm flipV="1">
              <a:off x="4464" y="3168"/>
              <a:ext cx="192" cy="288"/>
            </a:xfrm>
            <a:prstGeom prst="line">
              <a:avLst/>
            </a:prstGeom>
            <a:noFill/>
            <a:ln w="9525">
              <a:solidFill>
                <a:schemeClr val="tx1"/>
              </a:solidFill>
              <a:round/>
              <a:headEnd/>
              <a:tailEnd type="triangle" w="med" len="med"/>
            </a:ln>
            <a:effectLst/>
          </p:spPr>
          <p:txBody>
            <a:bodyPr/>
            <a:lstStyle/>
            <a:p>
              <a:endParaRPr lang="en-US"/>
            </a:p>
          </p:txBody>
        </p:sp>
      </p:grpSp>
      <p:pic>
        <p:nvPicPr>
          <p:cNvPr id="2050" name="Picture 2"/>
          <p:cNvPicPr>
            <a:picLocks noChangeAspect="1" noChangeArrowheads="1"/>
          </p:cNvPicPr>
          <p:nvPr/>
        </p:nvPicPr>
        <p:blipFill>
          <a:blip r:embed="rId2">
            <a:extLst>
              <a:ext uri="{BEBA8EAE-BF5A-486C-A8C5-ECC9F3942E4B}">
                <a14:imgProps xmlns:a14="http://schemas.microsoft.com/office/drawing/2010/main">
                  <a14:imgLayer r:embed="rId3">
                    <a14:imgEffect>
                      <a14:sharpenSoften amount="65000"/>
                    </a14:imgEffect>
                  </a14:imgLayer>
                </a14:imgProps>
              </a:ext>
              <a:ext uri="{28A0092B-C50C-407E-A947-70E740481C1C}">
                <a14:useLocalDpi xmlns:a14="http://schemas.microsoft.com/office/drawing/2010/main" val="0"/>
              </a:ext>
            </a:extLst>
          </a:blip>
          <a:srcRect/>
          <a:stretch>
            <a:fillRect/>
          </a:stretch>
        </p:blipFill>
        <p:spPr bwMode="auto">
          <a:xfrm>
            <a:off x="5562600" y="1905000"/>
            <a:ext cx="3505200" cy="2057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withEffect">
                                  <p:stCondLst>
                                    <p:cond delay="0"/>
                                  </p:stCondLst>
                                  <p:childTnLst>
                                    <p:set>
                                      <p:cBhvr>
                                        <p:cTn id="6" dur="1" fill="hold">
                                          <p:stCondLst>
                                            <p:cond delay="0"/>
                                          </p:stCondLst>
                                        </p:cTn>
                                        <p:tgtEl>
                                          <p:spTgt spid="247813">
                                            <p:txEl>
                                              <p:pRg st="0" end="0"/>
                                            </p:txEl>
                                          </p:spTgt>
                                        </p:tgtEl>
                                        <p:attrNameLst>
                                          <p:attrName>style.visibility</p:attrName>
                                        </p:attrNameLst>
                                      </p:cBhvr>
                                      <p:to>
                                        <p:strVal val="visible"/>
                                      </p:to>
                                    </p:set>
                                    <p:animEffect transition="in" filter="blinds(horizontal)">
                                      <p:cBhvr>
                                        <p:cTn id="7" dur="500"/>
                                        <p:tgtEl>
                                          <p:spTgt spid="247813">
                                            <p:txEl>
                                              <p:pRg st="0" end="0"/>
                                            </p:txEl>
                                          </p:spTgt>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247813">
                                            <p:txEl>
                                              <p:pRg st="1" end="1"/>
                                            </p:txEl>
                                          </p:spTgt>
                                        </p:tgtEl>
                                        <p:attrNameLst>
                                          <p:attrName>style.visibility</p:attrName>
                                        </p:attrNameLst>
                                      </p:cBhvr>
                                      <p:to>
                                        <p:strVal val="visible"/>
                                      </p:to>
                                    </p:set>
                                    <p:animEffect transition="in" filter="blinds(horizontal)">
                                      <p:cBhvr>
                                        <p:cTn id="10" dur="500"/>
                                        <p:tgtEl>
                                          <p:spTgt spid="247813">
                                            <p:txEl>
                                              <p:pRg st="1" end="1"/>
                                            </p:txEl>
                                          </p:spTgt>
                                        </p:tgtEl>
                                      </p:cBhvr>
                                    </p:animEffect>
                                  </p:childTnLst>
                                </p:cTn>
                              </p:par>
                              <p:par>
                                <p:cTn id="11" presetID="2" presetClass="entr" presetSubtype="4" fill="hold" grpId="0" nodeType="withEffect">
                                  <p:stCondLst>
                                    <p:cond delay="0"/>
                                  </p:stCondLst>
                                  <p:childTnLst>
                                    <p:set>
                                      <p:cBhvr>
                                        <p:cTn id="12" dur="1" fill="hold">
                                          <p:stCondLst>
                                            <p:cond delay="0"/>
                                          </p:stCondLst>
                                        </p:cTn>
                                        <p:tgtEl>
                                          <p:spTgt spid="247812"/>
                                        </p:tgtEl>
                                        <p:attrNameLst>
                                          <p:attrName>style.visibility</p:attrName>
                                        </p:attrNameLst>
                                      </p:cBhvr>
                                      <p:to>
                                        <p:strVal val="visible"/>
                                      </p:to>
                                    </p:set>
                                    <p:anim calcmode="lin" valueType="num">
                                      <p:cBhvr additive="base">
                                        <p:cTn id="13" dur="500" fill="hold"/>
                                        <p:tgtEl>
                                          <p:spTgt spid="247812"/>
                                        </p:tgtEl>
                                        <p:attrNameLst>
                                          <p:attrName>ppt_x</p:attrName>
                                        </p:attrNameLst>
                                      </p:cBhvr>
                                      <p:tavLst>
                                        <p:tav tm="0">
                                          <p:val>
                                            <p:strVal val="#ppt_x"/>
                                          </p:val>
                                        </p:tav>
                                        <p:tav tm="100000">
                                          <p:val>
                                            <p:strVal val="#ppt_x"/>
                                          </p:val>
                                        </p:tav>
                                      </p:tavLst>
                                    </p:anim>
                                    <p:anim calcmode="lin" valueType="num">
                                      <p:cBhvr additive="base">
                                        <p:cTn id="14" dur="500" fill="hold"/>
                                        <p:tgtEl>
                                          <p:spTgt spid="2478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7812" grpId="0"/>
      <p:bldP spid="247813" grpId="0" uiExpand="1" build="p"/>
    </p:bldLst>
  </p:timing>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3" name="Slide Number Placeholder 6"/>
          <p:cNvSpPr>
            <a:spLocks noGrp="1"/>
          </p:cNvSpPr>
          <p:nvPr>
            <p:ph type="sldNum" sz="quarter" idx="12"/>
          </p:nvPr>
        </p:nvSpPr>
        <p:spPr/>
        <p:txBody>
          <a:bodyPr/>
          <a:lstStyle/>
          <a:p>
            <a:fld id="{E74754A3-1068-44E6-8C2F-BD12CE94B646}" type="slidenum">
              <a:rPr lang="en-US" altLang="en-US"/>
              <a:pPr/>
              <a:t>18</a:t>
            </a:fld>
            <a:endParaRPr lang="en-US" altLang="en-US"/>
          </a:p>
        </p:txBody>
      </p:sp>
      <p:sp>
        <p:nvSpPr>
          <p:cNvPr id="280578" name="Rectangle 2"/>
          <p:cNvSpPr>
            <a:spLocks noGrp="1" noChangeArrowheads="1"/>
          </p:cNvSpPr>
          <p:nvPr>
            <p:ph type="title"/>
          </p:nvPr>
        </p:nvSpPr>
        <p:spPr>
          <a:xfrm>
            <a:off x="838200" y="304800"/>
            <a:ext cx="7543800" cy="457200"/>
          </a:xfrm>
        </p:spPr>
        <p:txBody>
          <a:bodyPr/>
          <a:lstStyle/>
          <a:p>
            <a:r>
              <a:rPr lang="en-US" sz="2800" b="1" u="sng" dirty="0" smtClean="0"/>
              <a:t>Ohm’s Law/Power Absorption/Conductance</a:t>
            </a:r>
            <a:endParaRPr lang="en-US" sz="2800" b="1" u="sng" dirty="0"/>
          </a:p>
        </p:txBody>
      </p:sp>
      <p:sp>
        <p:nvSpPr>
          <p:cNvPr id="280579" name="Rectangle 3"/>
          <p:cNvSpPr>
            <a:spLocks noChangeArrowheads="1"/>
          </p:cNvSpPr>
          <p:nvPr/>
        </p:nvSpPr>
        <p:spPr bwMode="auto">
          <a:xfrm>
            <a:off x="8458200" y="6172200"/>
            <a:ext cx="503237" cy="457200"/>
          </a:xfrm>
          <a:prstGeom prst="rect">
            <a:avLst/>
          </a:prstGeom>
          <a:noFill/>
          <a:ln w="9525">
            <a:noFill/>
            <a:miter lim="800000"/>
            <a:headEnd/>
            <a:tailEnd/>
          </a:ln>
          <a:effectLst/>
        </p:spPr>
        <p:txBody>
          <a:bodyPr wrap="none">
            <a:spAutoFit/>
          </a:bodyPr>
          <a:lstStyle/>
          <a:p>
            <a:pPr>
              <a:spcBef>
                <a:spcPct val="50000"/>
              </a:spcBef>
              <a:buFont typeface="Wingdings" pitchFamily="2" charset="2"/>
              <a:buChar char="Ø"/>
            </a:pPr>
            <a:r>
              <a:rPr lang="en-US" dirty="0"/>
              <a:t> </a:t>
            </a:r>
          </a:p>
        </p:txBody>
      </p:sp>
      <p:sp>
        <p:nvSpPr>
          <p:cNvPr id="280580" name="Rectangle 4"/>
          <p:cNvSpPr>
            <a:spLocks noChangeArrowheads="1"/>
          </p:cNvSpPr>
          <p:nvPr/>
        </p:nvSpPr>
        <p:spPr bwMode="auto">
          <a:xfrm>
            <a:off x="304800" y="990600"/>
            <a:ext cx="6248400" cy="5638800"/>
          </a:xfrm>
          <a:prstGeom prst="rect">
            <a:avLst/>
          </a:prstGeom>
          <a:noFill/>
          <a:ln w="9525">
            <a:noFill/>
            <a:miter lim="800000"/>
            <a:headEnd/>
            <a:tailEnd/>
          </a:ln>
          <a:effectLst/>
        </p:spPr>
        <p:txBody>
          <a:bodyPr/>
          <a:lstStyle/>
          <a:p>
            <a:pPr marL="342900" indent="-342900" algn="just">
              <a:lnSpc>
                <a:spcPct val="80000"/>
              </a:lnSpc>
              <a:spcBef>
                <a:spcPct val="20000"/>
              </a:spcBef>
              <a:buFontTx/>
              <a:buChar char="•"/>
            </a:pPr>
            <a:r>
              <a:rPr lang="en-US" sz="1800" b="1" i="1" dirty="0">
                <a:solidFill>
                  <a:schemeClr val="accent2"/>
                </a:solidFill>
                <a:latin typeface="Arial" charset="0"/>
              </a:rPr>
              <a:t>A resistor that obeys Ohm’s law is a linear resistor</a:t>
            </a:r>
            <a:r>
              <a:rPr lang="en-US" sz="1800" b="1" i="1" dirty="0" smtClean="0">
                <a:solidFill>
                  <a:schemeClr val="accent2"/>
                </a:solidFill>
                <a:latin typeface="Arial" charset="0"/>
              </a:rPr>
              <a:t>.</a:t>
            </a:r>
          </a:p>
          <a:p>
            <a:pPr marL="342900" indent="-342900" algn="just">
              <a:lnSpc>
                <a:spcPct val="80000"/>
              </a:lnSpc>
              <a:spcBef>
                <a:spcPct val="20000"/>
              </a:spcBef>
              <a:buFontTx/>
              <a:buChar char="•"/>
            </a:pPr>
            <a:r>
              <a:rPr lang="en-US" sz="1800" b="1" dirty="0" smtClean="0">
                <a:latin typeface="Arial" charset="0"/>
              </a:rPr>
              <a:t>Resistance is normally a positive quantity, although negative resistance may be simulated with special circuitry.</a:t>
            </a:r>
          </a:p>
          <a:p>
            <a:pPr marL="342900" indent="-342900" algn="just">
              <a:lnSpc>
                <a:spcPct val="80000"/>
              </a:lnSpc>
              <a:spcBef>
                <a:spcPct val="20000"/>
              </a:spcBef>
            </a:pPr>
            <a:endParaRPr lang="en-US" sz="1800" b="1" u="sng" dirty="0" smtClean="0">
              <a:solidFill>
                <a:srgbClr val="CC00CC"/>
              </a:solidFill>
              <a:latin typeface="Arial" charset="0"/>
            </a:endParaRPr>
          </a:p>
          <a:p>
            <a:pPr marL="342900" indent="-342900" algn="just">
              <a:lnSpc>
                <a:spcPct val="80000"/>
              </a:lnSpc>
              <a:spcBef>
                <a:spcPct val="20000"/>
              </a:spcBef>
            </a:pPr>
            <a:r>
              <a:rPr lang="en-US" sz="1800" b="1" u="sng" dirty="0" smtClean="0">
                <a:solidFill>
                  <a:srgbClr val="CC00CC"/>
                </a:solidFill>
                <a:latin typeface="Arial" charset="0"/>
              </a:rPr>
              <a:t>Power Absorption </a:t>
            </a:r>
            <a:r>
              <a:rPr lang="en-US" sz="1800" b="1" dirty="0" smtClean="0">
                <a:solidFill>
                  <a:srgbClr val="CC00CC"/>
                </a:solidFill>
                <a:latin typeface="Arial" charset="0"/>
              </a:rPr>
              <a:t>:</a:t>
            </a:r>
          </a:p>
          <a:p>
            <a:pPr marL="342900" indent="-342900" algn="just">
              <a:lnSpc>
                <a:spcPct val="80000"/>
              </a:lnSpc>
              <a:spcBef>
                <a:spcPct val="20000"/>
              </a:spcBef>
              <a:buFontTx/>
              <a:buChar char="•"/>
            </a:pPr>
            <a:r>
              <a:rPr lang="en-US" sz="1800" b="1" dirty="0" smtClean="0">
                <a:latin typeface="Arial" charset="0"/>
              </a:rPr>
              <a:t>We know : 	</a:t>
            </a:r>
            <a:r>
              <a:rPr lang="en-US" sz="2000" b="1" dirty="0" smtClean="0">
                <a:solidFill>
                  <a:srgbClr val="FF0000"/>
                </a:solidFill>
                <a:latin typeface="Arial" charset="0"/>
              </a:rPr>
              <a:t>p = vi = i</a:t>
            </a:r>
            <a:r>
              <a:rPr lang="en-US" sz="2000" b="1" baseline="30000" dirty="0" smtClean="0">
                <a:solidFill>
                  <a:srgbClr val="FF0000"/>
                </a:solidFill>
                <a:latin typeface="Arial" charset="0"/>
              </a:rPr>
              <a:t>2</a:t>
            </a:r>
            <a:r>
              <a:rPr lang="en-US" sz="2000" b="1" dirty="0" smtClean="0">
                <a:solidFill>
                  <a:srgbClr val="FF0000"/>
                </a:solidFill>
                <a:latin typeface="Arial" charset="0"/>
              </a:rPr>
              <a:t> R = v</a:t>
            </a:r>
            <a:r>
              <a:rPr lang="en-US" sz="2000" b="1" baseline="30000" dirty="0" smtClean="0">
                <a:solidFill>
                  <a:srgbClr val="FF0000"/>
                </a:solidFill>
                <a:latin typeface="Arial" charset="0"/>
              </a:rPr>
              <a:t>2 </a:t>
            </a:r>
            <a:r>
              <a:rPr lang="en-US" sz="2000" b="1" dirty="0" smtClean="0">
                <a:solidFill>
                  <a:srgbClr val="FF0000"/>
                </a:solidFill>
                <a:latin typeface="Arial" charset="0"/>
              </a:rPr>
              <a:t>/ R</a:t>
            </a:r>
          </a:p>
          <a:p>
            <a:pPr marL="342900" indent="-342900">
              <a:lnSpc>
                <a:spcPct val="80000"/>
              </a:lnSpc>
              <a:spcBef>
                <a:spcPct val="20000"/>
              </a:spcBef>
              <a:buFontTx/>
              <a:buChar char="•"/>
            </a:pPr>
            <a:r>
              <a:rPr lang="en-US" sz="1800" b="1" dirty="0" smtClean="0">
                <a:latin typeface="Arial" charset="0"/>
              </a:rPr>
              <a:t>The </a:t>
            </a:r>
            <a:r>
              <a:rPr lang="en-US" sz="1800" b="1" dirty="0" smtClean="0">
                <a:solidFill>
                  <a:srgbClr val="CC00CC"/>
                </a:solidFill>
                <a:latin typeface="Arial" charset="0"/>
              </a:rPr>
              <a:t>absorbed power </a:t>
            </a:r>
            <a:r>
              <a:rPr lang="en-US" sz="1800" b="1" dirty="0" smtClean="0">
                <a:latin typeface="Arial" charset="0"/>
              </a:rPr>
              <a:t>appears as </a:t>
            </a:r>
            <a:r>
              <a:rPr lang="en-US" sz="1800" b="1" i="1" dirty="0" smtClean="0">
                <a:solidFill>
                  <a:srgbClr val="CC00CC"/>
                </a:solidFill>
                <a:latin typeface="Arial" charset="0"/>
              </a:rPr>
              <a:t>heat / light </a:t>
            </a:r>
            <a:r>
              <a:rPr lang="en-US" sz="1800" b="1" dirty="0" smtClean="0">
                <a:latin typeface="Arial" charset="0"/>
              </a:rPr>
              <a:t>and is always positive.</a:t>
            </a:r>
          </a:p>
          <a:p>
            <a:pPr marL="342900" indent="-342900">
              <a:lnSpc>
                <a:spcPct val="80000"/>
              </a:lnSpc>
              <a:spcBef>
                <a:spcPct val="20000"/>
              </a:spcBef>
              <a:buFontTx/>
              <a:buChar char="•"/>
            </a:pPr>
            <a:r>
              <a:rPr lang="en-US" sz="1800" dirty="0" smtClean="0">
                <a:latin typeface="Arial" charset="0"/>
              </a:rPr>
              <a:t>An element </a:t>
            </a:r>
            <a:r>
              <a:rPr lang="en-US" sz="1800" b="1" i="1" dirty="0" smtClean="0">
                <a:solidFill>
                  <a:srgbClr val="2E2997"/>
                </a:solidFill>
                <a:latin typeface="Arial" charset="0"/>
              </a:rPr>
              <a:t>supplies</a:t>
            </a:r>
            <a:r>
              <a:rPr lang="en-US" sz="1800" dirty="0" smtClean="0">
                <a:solidFill>
                  <a:srgbClr val="2E2997"/>
                </a:solidFill>
                <a:latin typeface="Arial" charset="0"/>
              </a:rPr>
              <a:t> </a:t>
            </a:r>
            <a:r>
              <a:rPr lang="en-US" sz="1800" dirty="0" smtClean="0">
                <a:latin typeface="Arial" charset="0"/>
              </a:rPr>
              <a:t>positive power if positive current</a:t>
            </a:r>
            <a:r>
              <a:rPr lang="en-US" sz="1800" b="1" dirty="0" smtClean="0">
                <a:latin typeface="Arial" charset="0"/>
              </a:rPr>
              <a:t>  </a:t>
            </a:r>
            <a:r>
              <a:rPr lang="en-US" sz="1800" b="1" i="1" dirty="0" smtClean="0">
                <a:solidFill>
                  <a:srgbClr val="2E2997"/>
                </a:solidFill>
                <a:latin typeface="Arial" charset="0"/>
              </a:rPr>
              <a:t>flows out </a:t>
            </a:r>
            <a:r>
              <a:rPr lang="en-US" sz="1800" dirty="0" smtClean="0">
                <a:latin typeface="Arial" charset="0"/>
              </a:rPr>
              <a:t>of the positive voltage terminal</a:t>
            </a:r>
            <a:r>
              <a:rPr lang="en-US" sz="1800" b="1" dirty="0" smtClean="0">
                <a:latin typeface="Arial" charset="0"/>
              </a:rPr>
              <a:t>. </a:t>
            </a:r>
            <a:r>
              <a:rPr lang="en-US" sz="1800" dirty="0" smtClean="0">
                <a:latin typeface="Arial" charset="0"/>
              </a:rPr>
              <a:t>An element </a:t>
            </a:r>
            <a:r>
              <a:rPr lang="en-US" sz="1800" b="1" i="1" dirty="0" smtClean="0">
                <a:solidFill>
                  <a:srgbClr val="FF0000"/>
                </a:solidFill>
                <a:latin typeface="Arial" charset="0"/>
              </a:rPr>
              <a:t>absorbs</a:t>
            </a:r>
            <a:r>
              <a:rPr lang="en-US" sz="1800" dirty="0" smtClean="0">
                <a:latin typeface="Arial" charset="0"/>
              </a:rPr>
              <a:t> positive power if positive current</a:t>
            </a:r>
            <a:r>
              <a:rPr lang="en-US" sz="1800" b="1" dirty="0" smtClean="0">
                <a:latin typeface="Arial" charset="0"/>
              </a:rPr>
              <a:t>  </a:t>
            </a:r>
            <a:r>
              <a:rPr lang="en-US" sz="1800" b="1" i="1" dirty="0" smtClean="0">
                <a:solidFill>
                  <a:srgbClr val="FF0000"/>
                </a:solidFill>
                <a:latin typeface="Arial" charset="0"/>
              </a:rPr>
              <a:t>flows into </a:t>
            </a:r>
            <a:r>
              <a:rPr lang="en-US" sz="1800" dirty="0" smtClean="0">
                <a:latin typeface="Arial" charset="0"/>
              </a:rPr>
              <a:t>the positive voltage terminal</a:t>
            </a:r>
            <a:r>
              <a:rPr lang="en-US" sz="1800" b="1" dirty="0" smtClean="0">
                <a:latin typeface="Arial" charset="0"/>
              </a:rPr>
              <a:t>.</a:t>
            </a:r>
          </a:p>
          <a:p>
            <a:pPr marL="342900" indent="-342900">
              <a:lnSpc>
                <a:spcPct val="80000"/>
              </a:lnSpc>
              <a:spcBef>
                <a:spcPct val="20000"/>
              </a:spcBef>
            </a:pPr>
            <a:endParaRPr lang="en-US" sz="1800" b="1" u="sng" dirty="0" smtClean="0">
              <a:solidFill>
                <a:srgbClr val="CC00CC"/>
              </a:solidFill>
              <a:latin typeface="Arial" charset="0"/>
            </a:endParaRPr>
          </a:p>
          <a:p>
            <a:pPr marL="342900" indent="-342900">
              <a:lnSpc>
                <a:spcPct val="80000"/>
              </a:lnSpc>
              <a:spcBef>
                <a:spcPct val="20000"/>
              </a:spcBef>
            </a:pPr>
            <a:r>
              <a:rPr lang="en-US" sz="1800" b="1" u="sng" dirty="0" smtClean="0">
                <a:solidFill>
                  <a:srgbClr val="CC00CC"/>
                </a:solidFill>
                <a:latin typeface="Arial" charset="0"/>
              </a:rPr>
              <a:t>Conductance </a:t>
            </a:r>
            <a:r>
              <a:rPr lang="en-US" sz="1800" b="1" u="sng" dirty="0" smtClean="0">
                <a:latin typeface="Arial" charset="0"/>
              </a:rPr>
              <a:t>:</a:t>
            </a:r>
          </a:p>
          <a:p>
            <a:pPr marL="342900" indent="-342900">
              <a:lnSpc>
                <a:spcPct val="80000"/>
              </a:lnSpc>
              <a:spcBef>
                <a:spcPct val="20000"/>
              </a:spcBef>
              <a:buFontTx/>
              <a:buChar char="•"/>
            </a:pPr>
            <a:r>
              <a:rPr lang="en-US" sz="1800" b="1" dirty="0" smtClean="0">
                <a:latin typeface="Arial" charset="0"/>
              </a:rPr>
              <a:t>Another useful quantity in circuit analysis is </a:t>
            </a:r>
            <a:r>
              <a:rPr lang="en-US" sz="1800" b="1" i="1" dirty="0" smtClean="0">
                <a:solidFill>
                  <a:srgbClr val="CC00CC"/>
                </a:solidFill>
                <a:latin typeface="Arial" charset="0"/>
              </a:rPr>
              <a:t>reciprocal of resistance ‘R’</a:t>
            </a:r>
            <a:r>
              <a:rPr lang="en-US" sz="1800" b="1" dirty="0" smtClean="0">
                <a:latin typeface="Arial" charset="0"/>
              </a:rPr>
              <a:t>, known as </a:t>
            </a:r>
            <a:r>
              <a:rPr lang="en-US" sz="1800" b="1" dirty="0" smtClean="0">
                <a:solidFill>
                  <a:srgbClr val="CC00CC"/>
                </a:solidFill>
                <a:latin typeface="Arial" charset="0"/>
              </a:rPr>
              <a:t>conductance</a:t>
            </a:r>
            <a:r>
              <a:rPr lang="en-US" sz="1800" b="1" dirty="0" smtClean="0">
                <a:latin typeface="Arial" charset="0"/>
              </a:rPr>
              <a:t> and denoted by </a:t>
            </a:r>
            <a:r>
              <a:rPr lang="en-US" sz="1800" b="1" i="1" dirty="0" smtClean="0">
                <a:solidFill>
                  <a:srgbClr val="CC00CC"/>
                </a:solidFill>
                <a:latin typeface="Arial" charset="0"/>
              </a:rPr>
              <a:t>‘G’</a:t>
            </a:r>
            <a:r>
              <a:rPr lang="en-US" sz="1800" b="1" dirty="0" smtClean="0">
                <a:latin typeface="Arial" charset="0"/>
              </a:rPr>
              <a:t> where </a:t>
            </a:r>
          </a:p>
          <a:p>
            <a:pPr marL="742950" lvl="1" indent="-285750" algn="just">
              <a:lnSpc>
                <a:spcPct val="80000"/>
              </a:lnSpc>
              <a:spcBef>
                <a:spcPct val="20000"/>
              </a:spcBef>
            </a:pPr>
            <a:r>
              <a:rPr lang="en-US" sz="1600" b="1" dirty="0">
                <a:latin typeface="Arial" charset="0"/>
              </a:rPr>
              <a:t>	G = 1/R = </a:t>
            </a:r>
            <a:r>
              <a:rPr lang="en-US" sz="2000" b="1" dirty="0" err="1">
                <a:latin typeface="Arial" charset="0"/>
              </a:rPr>
              <a:t>i</a:t>
            </a:r>
            <a:r>
              <a:rPr lang="en-US" sz="2000" b="1" dirty="0">
                <a:latin typeface="Arial" charset="0"/>
              </a:rPr>
              <a:t>/v</a:t>
            </a:r>
            <a:r>
              <a:rPr lang="en-US" sz="1600" b="1" dirty="0">
                <a:latin typeface="Arial" charset="0"/>
              </a:rPr>
              <a:t> </a:t>
            </a:r>
          </a:p>
          <a:p>
            <a:pPr marL="742950" lvl="1" indent="-285750" algn="just">
              <a:lnSpc>
                <a:spcPct val="80000"/>
              </a:lnSpc>
              <a:spcBef>
                <a:spcPct val="20000"/>
              </a:spcBef>
            </a:pPr>
            <a:r>
              <a:rPr lang="en-US" sz="1600" b="1" dirty="0">
                <a:latin typeface="Arial" charset="0"/>
              </a:rPr>
              <a:t>	unit is mho               (inverted omega)</a:t>
            </a:r>
          </a:p>
          <a:p>
            <a:pPr marL="742950" lvl="1" indent="-285750" algn="just">
              <a:lnSpc>
                <a:spcPct val="80000"/>
              </a:lnSpc>
              <a:spcBef>
                <a:spcPct val="20000"/>
              </a:spcBef>
            </a:pPr>
            <a:endParaRPr lang="en-US" sz="1600" b="1" dirty="0" smtClean="0">
              <a:latin typeface="Arial" charset="0"/>
            </a:endParaRPr>
          </a:p>
          <a:p>
            <a:pPr marL="742950" lvl="1" indent="-285750" algn="just">
              <a:lnSpc>
                <a:spcPct val="80000"/>
              </a:lnSpc>
              <a:spcBef>
                <a:spcPct val="20000"/>
              </a:spcBef>
            </a:pPr>
            <a:r>
              <a:rPr lang="en-US" sz="1600" b="1" dirty="0" smtClean="0">
                <a:latin typeface="Arial" charset="0"/>
              </a:rPr>
              <a:t>The </a:t>
            </a:r>
            <a:r>
              <a:rPr lang="en-US" sz="1600" b="1" dirty="0">
                <a:solidFill>
                  <a:srgbClr val="CC00CC"/>
                </a:solidFill>
                <a:latin typeface="Arial" charset="0"/>
              </a:rPr>
              <a:t>SI unit </a:t>
            </a:r>
            <a:r>
              <a:rPr lang="en-US" sz="1600" b="1" dirty="0">
                <a:latin typeface="Arial" charset="0"/>
              </a:rPr>
              <a:t>is siemens  1S = 1       </a:t>
            </a:r>
            <a:r>
              <a:rPr lang="en-US" sz="1600" b="1" dirty="0" smtClean="0">
                <a:latin typeface="Arial" charset="0"/>
              </a:rPr>
              <a:t>   = </a:t>
            </a:r>
            <a:r>
              <a:rPr lang="en-US" sz="1600" b="1" dirty="0">
                <a:latin typeface="Arial" charset="0"/>
              </a:rPr>
              <a:t>1 A/V</a:t>
            </a:r>
          </a:p>
          <a:p>
            <a:pPr marL="342900" indent="-342900" algn="just">
              <a:lnSpc>
                <a:spcPct val="80000"/>
              </a:lnSpc>
              <a:spcBef>
                <a:spcPct val="20000"/>
              </a:spcBef>
              <a:buFontTx/>
              <a:buChar char="•"/>
            </a:pPr>
            <a:endParaRPr lang="en-US" sz="1800" b="1" dirty="0" smtClean="0">
              <a:solidFill>
                <a:srgbClr val="FF0000"/>
              </a:solidFill>
              <a:latin typeface="Arial" charset="0"/>
            </a:endParaRPr>
          </a:p>
          <a:p>
            <a:pPr marL="342900" indent="-342900" algn="just">
              <a:lnSpc>
                <a:spcPct val="80000"/>
              </a:lnSpc>
              <a:spcBef>
                <a:spcPct val="20000"/>
              </a:spcBef>
              <a:buFontTx/>
              <a:buChar char="•"/>
            </a:pPr>
            <a:endParaRPr lang="en-US" sz="1800" b="1" dirty="0">
              <a:solidFill>
                <a:srgbClr val="FF0000"/>
              </a:solidFill>
              <a:latin typeface="Arial" charset="0"/>
            </a:endParaRPr>
          </a:p>
        </p:txBody>
      </p:sp>
      <p:sp>
        <p:nvSpPr>
          <p:cNvPr id="280581" name="Rectangle 5"/>
          <p:cNvSpPr>
            <a:spLocks noChangeArrowheads="1"/>
          </p:cNvSpPr>
          <p:nvPr/>
        </p:nvSpPr>
        <p:spPr bwMode="auto">
          <a:xfrm flipV="1">
            <a:off x="2667000" y="5162490"/>
            <a:ext cx="381000" cy="400110"/>
          </a:xfrm>
          <a:prstGeom prst="rect">
            <a:avLst/>
          </a:prstGeom>
          <a:noFill/>
          <a:ln w="9525">
            <a:noFill/>
            <a:miter lim="800000"/>
            <a:headEnd/>
            <a:tailEnd/>
          </a:ln>
          <a:effectLst/>
        </p:spPr>
        <p:txBody>
          <a:bodyPr>
            <a:spAutoFit/>
          </a:bodyPr>
          <a:lstStyle/>
          <a:p>
            <a:r>
              <a:rPr lang="el-GR" sz="2000" dirty="0"/>
              <a:t>Ω</a:t>
            </a:r>
            <a:endParaRPr lang="en-US" sz="2000" dirty="0"/>
          </a:p>
        </p:txBody>
      </p:sp>
      <p:sp>
        <p:nvSpPr>
          <p:cNvPr id="280582" name="Rectangle 6"/>
          <p:cNvSpPr>
            <a:spLocks noChangeArrowheads="1"/>
          </p:cNvSpPr>
          <p:nvPr/>
        </p:nvSpPr>
        <p:spPr bwMode="auto">
          <a:xfrm>
            <a:off x="3124200" y="5029200"/>
            <a:ext cx="781050" cy="366713"/>
          </a:xfrm>
          <a:prstGeom prst="rect">
            <a:avLst/>
          </a:prstGeom>
          <a:noFill/>
          <a:ln w="9525">
            <a:noFill/>
            <a:miter lim="800000"/>
            <a:headEnd/>
            <a:tailEnd/>
          </a:ln>
          <a:effectLst/>
        </p:spPr>
        <p:txBody>
          <a:bodyPr>
            <a:spAutoFit/>
          </a:bodyPr>
          <a:lstStyle/>
          <a:p>
            <a:r>
              <a:rPr lang="en-US" sz="1800" b="1">
                <a:latin typeface="Arial" charset="0"/>
              </a:rPr>
              <a:t> </a:t>
            </a:r>
          </a:p>
        </p:txBody>
      </p:sp>
      <p:grpSp>
        <p:nvGrpSpPr>
          <p:cNvPr id="2" name="Group 8"/>
          <p:cNvGrpSpPr>
            <a:grpSpLocks/>
          </p:cNvGrpSpPr>
          <p:nvPr/>
        </p:nvGrpSpPr>
        <p:grpSpPr bwMode="auto">
          <a:xfrm>
            <a:off x="6705600" y="1143000"/>
            <a:ext cx="2006600" cy="1970088"/>
            <a:chOff x="4406" y="727"/>
            <a:chExt cx="1264" cy="1241"/>
          </a:xfrm>
        </p:grpSpPr>
        <p:sp>
          <p:nvSpPr>
            <p:cNvPr id="280585" name="Line 9"/>
            <p:cNvSpPr>
              <a:spLocks noChangeShapeType="1"/>
            </p:cNvSpPr>
            <p:nvPr/>
          </p:nvSpPr>
          <p:spPr bwMode="auto">
            <a:xfrm flipV="1">
              <a:off x="4608" y="816"/>
              <a:ext cx="0" cy="1152"/>
            </a:xfrm>
            <a:prstGeom prst="line">
              <a:avLst/>
            </a:prstGeom>
            <a:noFill/>
            <a:ln w="9525">
              <a:solidFill>
                <a:schemeClr val="tx1"/>
              </a:solidFill>
              <a:round/>
              <a:headEnd/>
              <a:tailEnd type="triangle" w="med" len="med"/>
            </a:ln>
            <a:effectLst/>
          </p:spPr>
          <p:txBody>
            <a:bodyPr/>
            <a:lstStyle/>
            <a:p>
              <a:endParaRPr lang="en-US"/>
            </a:p>
          </p:txBody>
        </p:sp>
        <p:sp>
          <p:nvSpPr>
            <p:cNvPr id="280586" name="Line 10"/>
            <p:cNvSpPr>
              <a:spLocks noChangeShapeType="1"/>
            </p:cNvSpPr>
            <p:nvPr/>
          </p:nvSpPr>
          <p:spPr bwMode="auto">
            <a:xfrm>
              <a:off x="4416" y="1728"/>
              <a:ext cx="1152" cy="0"/>
            </a:xfrm>
            <a:prstGeom prst="line">
              <a:avLst/>
            </a:prstGeom>
            <a:noFill/>
            <a:ln w="9525">
              <a:solidFill>
                <a:schemeClr val="tx1"/>
              </a:solidFill>
              <a:round/>
              <a:headEnd/>
              <a:tailEnd type="triangle" w="med" len="med"/>
            </a:ln>
            <a:effectLst/>
          </p:spPr>
          <p:txBody>
            <a:bodyPr/>
            <a:lstStyle/>
            <a:p>
              <a:endParaRPr lang="en-US"/>
            </a:p>
          </p:txBody>
        </p:sp>
        <p:sp>
          <p:nvSpPr>
            <p:cNvPr id="280587" name="Line 11"/>
            <p:cNvSpPr>
              <a:spLocks noChangeShapeType="1"/>
            </p:cNvSpPr>
            <p:nvPr/>
          </p:nvSpPr>
          <p:spPr bwMode="auto">
            <a:xfrm flipV="1">
              <a:off x="4464" y="1008"/>
              <a:ext cx="864" cy="864"/>
            </a:xfrm>
            <a:prstGeom prst="line">
              <a:avLst/>
            </a:prstGeom>
            <a:noFill/>
            <a:ln w="9525">
              <a:solidFill>
                <a:schemeClr val="tx1"/>
              </a:solidFill>
              <a:round/>
              <a:headEnd/>
              <a:tailEnd/>
            </a:ln>
            <a:effectLst/>
          </p:spPr>
          <p:txBody>
            <a:bodyPr/>
            <a:lstStyle/>
            <a:p>
              <a:endParaRPr lang="en-US"/>
            </a:p>
          </p:txBody>
        </p:sp>
        <p:sp>
          <p:nvSpPr>
            <p:cNvPr id="280588" name="Text Box 12"/>
            <p:cNvSpPr txBox="1">
              <a:spLocks noChangeArrowheads="1"/>
            </p:cNvSpPr>
            <p:nvPr/>
          </p:nvSpPr>
          <p:spPr bwMode="auto">
            <a:xfrm>
              <a:off x="5078" y="1238"/>
              <a:ext cx="592" cy="212"/>
            </a:xfrm>
            <a:prstGeom prst="rect">
              <a:avLst/>
            </a:prstGeom>
            <a:noFill/>
            <a:ln w="9525">
              <a:noFill/>
              <a:miter lim="800000"/>
              <a:headEnd/>
              <a:tailEnd/>
            </a:ln>
            <a:effectLst/>
          </p:spPr>
          <p:txBody>
            <a:bodyPr wrap="none">
              <a:spAutoFit/>
            </a:bodyPr>
            <a:lstStyle/>
            <a:p>
              <a:r>
                <a:rPr lang="en-US" sz="1600" b="1">
                  <a:latin typeface="Arial" charset="0"/>
                </a:rPr>
                <a:t>Slope R</a:t>
              </a:r>
            </a:p>
          </p:txBody>
        </p:sp>
        <p:sp>
          <p:nvSpPr>
            <p:cNvPr id="280589" name="Text Box 13"/>
            <p:cNvSpPr txBox="1">
              <a:spLocks noChangeArrowheads="1"/>
            </p:cNvSpPr>
            <p:nvPr/>
          </p:nvSpPr>
          <p:spPr bwMode="auto">
            <a:xfrm>
              <a:off x="4406" y="727"/>
              <a:ext cx="196" cy="250"/>
            </a:xfrm>
            <a:prstGeom prst="rect">
              <a:avLst/>
            </a:prstGeom>
            <a:noFill/>
            <a:ln w="9525">
              <a:noFill/>
              <a:miter lim="800000"/>
              <a:headEnd/>
              <a:tailEnd/>
            </a:ln>
            <a:effectLst/>
          </p:spPr>
          <p:txBody>
            <a:bodyPr wrap="none">
              <a:spAutoFit/>
            </a:bodyPr>
            <a:lstStyle/>
            <a:p>
              <a:r>
                <a:rPr lang="en-US" sz="2000">
                  <a:latin typeface="Arial" charset="0"/>
                </a:rPr>
                <a:t>v</a:t>
              </a:r>
            </a:p>
          </p:txBody>
        </p:sp>
        <p:sp>
          <p:nvSpPr>
            <p:cNvPr id="280590" name="Text Box 14"/>
            <p:cNvSpPr txBox="1">
              <a:spLocks noChangeArrowheads="1"/>
            </p:cNvSpPr>
            <p:nvPr/>
          </p:nvSpPr>
          <p:spPr bwMode="auto">
            <a:xfrm>
              <a:off x="5516" y="1718"/>
              <a:ext cx="152" cy="250"/>
            </a:xfrm>
            <a:prstGeom prst="rect">
              <a:avLst/>
            </a:prstGeom>
            <a:noFill/>
            <a:ln w="9525">
              <a:noFill/>
              <a:miter lim="800000"/>
              <a:headEnd/>
              <a:tailEnd/>
            </a:ln>
            <a:effectLst/>
          </p:spPr>
          <p:txBody>
            <a:bodyPr wrap="none">
              <a:spAutoFit/>
            </a:bodyPr>
            <a:lstStyle/>
            <a:p>
              <a:r>
                <a:rPr lang="en-US" sz="2000" dirty="0">
                  <a:latin typeface="Arial" charset="0"/>
                </a:rPr>
                <a:t>i</a:t>
              </a:r>
            </a:p>
          </p:txBody>
        </p:sp>
      </p:grpSp>
      <p:sp>
        <p:nvSpPr>
          <p:cNvPr id="24" name="Rectangle 5"/>
          <p:cNvSpPr>
            <a:spLocks noChangeArrowheads="1"/>
          </p:cNvSpPr>
          <p:nvPr/>
        </p:nvSpPr>
        <p:spPr bwMode="auto">
          <a:xfrm flipV="1">
            <a:off x="4800600" y="5759898"/>
            <a:ext cx="381000" cy="400110"/>
          </a:xfrm>
          <a:prstGeom prst="rect">
            <a:avLst/>
          </a:prstGeom>
          <a:noFill/>
          <a:ln w="9525">
            <a:noFill/>
            <a:miter lim="800000"/>
            <a:headEnd/>
            <a:tailEnd/>
          </a:ln>
          <a:effectLst/>
        </p:spPr>
        <p:txBody>
          <a:bodyPr>
            <a:spAutoFit/>
          </a:bodyPr>
          <a:lstStyle/>
          <a:p>
            <a:r>
              <a:rPr lang="el-GR" sz="2000" dirty="0"/>
              <a:t>Ω</a:t>
            </a:r>
            <a:endParaRPr lang="en-US" sz="2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280580">
                                            <p:txEl>
                                              <p:pRg st="0" end="0"/>
                                            </p:txEl>
                                          </p:spTgt>
                                        </p:tgtEl>
                                        <p:attrNameLst>
                                          <p:attrName>style.visibility</p:attrName>
                                        </p:attrNameLst>
                                      </p:cBhvr>
                                      <p:to>
                                        <p:strVal val="visible"/>
                                      </p:to>
                                    </p:set>
                                    <p:anim calcmode="lin" valueType="num">
                                      <p:cBhvr additive="base">
                                        <p:cTn id="7" dur="500" fill="hold"/>
                                        <p:tgtEl>
                                          <p:spTgt spid="280580">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80580">
                                            <p:txEl>
                                              <p:pRg st="0" end="0"/>
                                            </p:txEl>
                                          </p:spTgt>
                                        </p:tgtEl>
                                        <p:attrNameLst>
                                          <p:attrName>ppt_y</p:attrName>
                                        </p:attrNameLst>
                                      </p:cBhvr>
                                      <p:tavLst>
                                        <p:tav tm="0">
                                          <p:val>
                                            <p:strVal val="1+#ppt_h/2"/>
                                          </p:val>
                                        </p:tav>
                                        <p:tav tm="100000">
                                          <p:val>
                                            <p:strVal val="#ppt_y"/>
                                          </p:val>
                                        </p:tav>
                                      </p:tavLst>
                                    </p:anim>
                                  </p:childTnLst>
                                </p:cTn>
                              </p:par>
                              <p:par>
                                <p:cTn id="9" presetID="5" presetClass="entr" presetSubtype="10" fill="hold" nodeType="with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checkerboard(across)">
                                      <p:cBhvr>
                                        <p:cTn id="11" dur="500"/>
                                        <p:tgtEl>
                                          <p:spTgt spid="2"/>
                                        </p:tgtEl>
                                      </p:cBhvr>
                                    </p:animEffect>
                                  </p:childTnLst>
                                </p:cTn>
                              </p:par>
                              <p:par>
                                <p:cTn id="12" presetID="2" presetClass="entr" presetSubtype="4" fill="hold" nodeType="withEffect">
                                  <p:stCondLst>
                                    <p:cond delay="0"/>
                                  </p:stCondLst>
                                  <p:childTnLst>
                                    <p:set>
                                      <p:cBhvr>
                                        <p:cTn id="13" dur="1" fill="hold">
                                          <p:stCondLst>
                                            <p:cond delay="0"/>
                                          </p:stCondLst>
                                        </p:cTn>
                                        <p:tgtEl>
                                          <p:spTgt spid="280580">
                                            <p:txEl>
                                              <p:pRg st="1" end="1"/>
                                            </p:txEl>
                                          </p:spTgt>
                                        </p:tgtEl>
                                        <p:attrNameLst>
                                          <p:attrName>style.visibility</p:attrName>
                                        </p:attrNameLst>
                                      </p:cBhvr>
                                      <p:to>
                                        <p:strVal val="visible"/>
                                      </p:to>
                                    </p:set>
                                    <p:anim calcmode="lin" valueType="num">
                                      <p:cBhvr additive="base">
                                        <p:cTn id="14" dur="500" fill="hold"/>
                                        <p:tgtEl>
                                          <p:spTgt spid="280580">
                                            <p:txEl>
                                              <p:pRg st="1" end="1"/>
                                            </p:txEl>
                                          </p:spTgt>
                                        </p:tgtEl>
                                        <p:attrNameLst>
                                          <p:attrName>ppt_x</p:attrName>
                                        </p:attrNameLst>
                                      </p:cBhvr>
                                      <p:tavLst>
                                        <p:tav tm="0">
                                          <p:val>
                                            <p:strVal val="#ppt_x"/>
                                          </p:val>
                                        </p:tav>
                                        <p:tav tm="100000">
                                          <p:val>
                                            <p:strVal val="#ppt_x"/>
                                          </p:val>
                                        </p:tav>
                                      </p:tavLst>
                                    </p:anim>
                                    <p:anim calcmode="lin" valueType="num">
                                      <p:cBhvr additive="base">
                                        <p:cTn id="15" dur="500" fill="hold"/>
                                        <p:tgtEl>
                                          <p:spTgt spid="280580">
                                            <p:txEl>
                                              <p:pRg st="1" end="1"/>
                                            </p:txEl>
                                          </p:spTgt>
                                        </p:tgtEl>
                                        <p:attrNameLst>
                                          <p:attrName>ppt_y</p:attrName>
                                        </p:attrNameLst>
                                      </p:cBhvr>
                                      <p:tavLst>
                                        <p:tav tm="0">
                                          <p:val>
                                            <p:strVal val="1+#ppt_h/2"/>
                                          </p:val>
                                        </p:tav>
                                        <p:tav tm="100000">
                                          <p:val>
                                            <p:strVal val="#ppt_y"/>
                                          </p:val>
                                        </p:tav>
                                      </p:tavLst>
                                    </p:anim>
                                  </p:childTnLst>
                                </p:cTn>
                              </p:par>
                              <p:par>
                                <p:cTn id="16" presetID="2" presetClass="entr" presetSubtype="4" fill="hold" nodeType="withEffect">
                                  <p:stCondLst>
                                    <p:cond delay="0"/>
                                  </p:stCondLst>
                                  <p:childTnLst>
                                    <p:set>
                                      <p:cBhvr>
                                        <p:cTn id="17" dur="1" fill="hold">
                                          <p:stCondLst>
                                            <p:cond delay="0"/>
                                          </p:stCondLst>
                                        </p:cTn>
                                        <p:tgtEl>
                                          <p:spTgt spid="280580">
                                            <p:txEl>
                                              <p:pRg st="3" end="3"/>
                                            </p:txEl>
                                          </p:spTgt>
                                        </p:tgtEl>
                                        <p:attrNameLst>
                                          <p:attrName>style.visibility</p:attrName>
                                        </p:attrNameLst>
                                      </p:cBhvr>
                                      <p:to>
                                        <p:strVal val="visible"/>
                                      </p:to>
                                    </p:set>
                                    <p:anim calcmode="lin" valueType="num">
                                      <p:cBhvr additive="base">
                                        <p:cTn id="18" dur="500" fill="hold"/>
                                        <p:tgtEl>
                                          <p:spTgt spid="280580">
                                            <p:txEl>
                                              <p:pRg st="3" end="3"/>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280580">
                                            <p:txEl>
                                              <p:pRg st="3" end="3"/>
                                            </p:txEl>
                                          </p:spTgt>
                                        </p:tgtEl>
                                        <p:attrNameLst>
                                          <p:attrName>ppt_y</p:attrName>
                                        </p:attrNameLst>
                                      </p:cBhvr>
                                      <p:tavLst>
                                        <p:tav tm="0">
                                          <p:val>
                                            <p:strVal val="1+#ppt_h/2"/>
                                          </p:val>
                                        </p:tav>
                                        <p:tav tm="100000">
                                          <p:val>
                                            <p:strVal val="#ppt_y"/>
                                          </p:val>
                                        </p:tav>
                                      </p:tavLst>
                                    </p:anim>
                                  </p:childTnLst>
                                </p:cTn>
                              </p:par>
                              <p:par>
                                <p:cTn id="20" presetID="2" presetClass="entr" presetSubtype="8" fill="hold" nodeType="withEffect">
                                  <p:stCondLst>
                                    <p:cond delay="0"/>
                                  </p:stCondLst>
                                  <p:childTnLst>
                                    <p:set>
                                      <p:cBhvr>
                                        <p:cTn id="21" dur="1" fill="hold">
                                          <p:stCondLst>
                                            <p:cond delay="0"/>
                                          </p:stCondLst>
                                        </p:cTn>
                                        <p:tgtEl>
                                          <p:spTgt spid="280580">
                                            <p:txEl>
                                              <p:pRg st="4" end="4"/>
                                            </p:txEl>
                                          </p:spTgt>
                                        </p:tgtEl>
                                        <p:attrNameLst>
                                          <p:attrName>style.visibility</p:attrName>
                                        </p:attrNameLst>
                                      </p:cBhvr>
                                      <p:to>
                                        <p:strVal val="visible"/>
                                      </p:to>
                                    </p:set>
                                    <p:anim calcmode="lin" valueType="num">
                                      <p:cBhvr additive="base">
                                        <p:cTn id="22" dur="500" fill="hold"/>
                                        <p:tgtEl>
                                          <p:spTgt spid="280580">
                                            <p:txEl>
                                              <p:pRg st="4" end="4"/>
                                            </p:txEl>
                                          </p:spTgt>
                                        </p:tgtEl>
                                        <p:attrNameLst>
                                          <p:attrName>ppt_x</p:attrName>
                                        </p:attrNameLst>
                                      </p:cBhvr>
                                      <p:tavLst>
                                        <p:tav tm="0">
                                          <p:val>
                                            <p:strVal val="0-#ppt_w/2"/>
                                          </p:val>
                                        </p:tav>
                                        <p:tav tm="100000">
                                          <p:val>
                                            <p:strVal val="#ppt_x"/>
                                          </p:val>
                                        </p:tav>
                                      </p:tavLst>
                                    </p:anim>
                                    <p:anim calcmode="lin" valueType="num">
                                      <p:cBhvr additive="base">
                                        <p:cTn id="23" dur="500" fill="hold"/>
                                        <p:tgtEl>
                                          <p:spTgt spid="280580">
                                            <p:txEl>
                                              <p:pRg st="4" end="4"/>
                                            </p:txEl>
                                          </p:spTgt>
                                        </p:tgtEl>
                                        <p:attrNameLst>
                                          <p:attrName>ppt_y</p:attrName>
                                        </p:attrNameLst>
                                      </p:cBhvr>
                                      <p:tavLst>
                                        <p:tav tm="0">
                                          <p:val>
                                            <p:strVal val="#ppt_y"/>
                                          </p:val>
                                        </p:tav>
                                        <p:tav tm="100000">
                                          <p:val>
                                            <p:strVal val="#ppt_y"/>
                                          </p:val>
                                        </p:tav>
                                      </p:tavLst>
                                    </p:anim>
                                  </p:childTnLst>
                                </p:cTn>
                              </p:par>
                              <p:par>
                                <p:cTn id="24" presetID="2" presetClass="entr" presetSubtype="8" fill="hold" nodeType="withEffect">
                                  <p:stCondLst>
                                    <p:cond delay="0"/>
                                  </p:stCondLst>
                                  <p:childTnLst>
                                    <p:set>
                                      <p:cBhvr>
                                        <p:cTn id="25" dur="1" fill="hold">
                                          <p:stCondLst>
                                            <p:cond delay="0"/>
                                          </p:stCondLst>
                                        </p:cTn>
                                        <p:tgtEl>
                                          <p:spTgt spid="280580">
                                            <p:txEl>
                                              <p:pRg st="5" end="5"/>
                                            </p:txEl>
                                          </p:spTgt>
                                        </p:tgtEl>
                                        <p:attrNameLst>
                                          <p:attrName>style.visibility</p:attrName>
                                        </p:attrNameLst>
                                      </p:cBhvr>
                                      <p:to>
                                        <p:strVal val="visible"/>
                                      </p:to>
                                    </p:set>
                                    <p:anim calcmode="lin" valueType="num">
                                      <p:cBhvr additive="base">
                                        <p:cTn id="26" dur="500" fill="hold"/>
                                        <p:tgtEl>
                                          <p:spTgt spid="280580">
                                            <p:txEl>
                                              <p:pRg st="5" end="5"/>
                                            </p:txEl>
                                          </p:spTgt>
                                        </p:tgtEl>
                                        <p:attrNameLst>
                                          <p:attrName>ppt_x</p:attrName>
                                        </p:attrNameLst>
                                      </p:cBhvr>
                                      <p:tavLst>
                                        <p:tav tm="0">
                                          <p:val>
                                            <p:strVal val="0-#ppt_w/2"/>
                                          </p:val>
                                        </p:tav>
                                        <p:tav tm="100000">
                                          <p:val>
                                            <p:strVal val="#ppt_x"/>
                                          </p:val>
                                        </p:tav>
                                      </p:tavLst>
                                    </p:anim>
                                    <p:anim calcmode="lin" valueType="num">
                                      <p:cBhvr additive="base">
                                        <p:cTn id="27" dur="500" fill="hold"/>
                                        <p:tgtEl>
                                          <p:spTgt spid="280580">
                                            <p:txEl>
                                              <p:pRg st="5" end="5"/>
                                            </p:txEl>
                                          </p:spTgt>
                                        </p:tgtEl>
                                        <p:attrNameLst>
                                          <p:attrName>ppt_y</p:attrName>
                                        </p:attrNameLst>
                                      </p:cBhvr>
                                      <p:tavLst>
                                        <p:tav tm="0">
                                          <p:val>
                                            <p:strVal val="#ppt_y"/>
                                          </p:val>
                                        </p:tav>
                                        <p:tav tm="100000">
                                          <p:val>
                                            <p:strVal val="#ppt_y"/>
                                          </p:val>
                                        </p:tav>
                                      </p:tavLst>
                                    </p:anim>
                                  </p:childTnLst>
                                </p:cTn>
                              </p:par>
                              <p:par>
                                <p:cTn id="28" presetID="2" presetClass="entr" presetSubtype="8" fill="hold" nodeType="withEffect">
                                  <p:stCondLst>
                                    <p:cond delay="0"/>
                                  </p:stCondLst>
                                  <p:childTnLst>
                                    <p:set>
                                      <p:cBhvr>
                                        <p:cTn id="29" dur="1" fill="hold">
                                          <p:stCondLst>
                                            <p:cond delay="0"/>
                                          </p:stCondLst>
                                        </p:cTn>
                                        <p:tgtEl>
                                          <p:spTgt spid="280580">
                                            <p:txEl>
                                              <p:pRg st="6" end="6"/>
                                            </p:txEl>
                                          </p:spTgt>
                                        </p:tgtEl>
                                        <p:attrNameLst>
                                          <p:attrName>style.visibility</p:attrName>
                                        </p:attrNameLst>
                                      </p:cBhvr>
                                      <p:to>
                                        <p:strVal val="visible"/>
                                      </p:to>
                                    </p:set>
                                    <p:anim calcmode="lin" valueType="num">
                                      <p:cBhvr additive="base">
                                        <p:cTn id="30" dur="500" fill="hold"/>
                                        <p:tgtEl>
                                          <p:spTgt spid="280580">
                                            <p:txEl>
                                              <p:pRg st="6" end="6"/>
                                            </p:txEl>
                                          </p:spTgt>
                                        </p:tgtEl>
                                        <p:attrNameLst>
                                          <p:attrName>ppt_x</p:attrName>
                                        </p:attrNameLst>
                                      </p:cBhvr>
                                      <p:tavLst>
                                        <p:tav tm="0">
                                          <p:val>
                                            <p:strVal val="0-#ppt_w/2"/>
                                          </p:val>
                                        </p:tav>
                                        <p:tav tm="100000">
                                          <p:val>
                                            <p:strVal val="#ppt_x"/>
                                          </p:val>
                                        </p:tav>
                                      </p:tavLst>
                                    </p:anim>
                                    <p:anim calcmode="lin" valueType="num">
                                      <p:cBhvr additive="base">
                                        <p:cTn id="31" dur="500" fill="hold"/>
                                        <p:tgtEl>
                                          <p:spTgt spid="280580">
                                            <p:txEl>
                                              <p:pRg st="6" end="6"/>
                                            </p:txEl>
                                          </p:spTgt>
                                        </p:tgtEl>
                                        <p:attrNameLst>
                                          <p:attrName>ppt_y</p:attrName>
                                        </p:attrNameLst>
                                      </p:cBhvr>
                                      <p:tavLst>
                                        <p:tav tm="0">
                                          <p:val>
                                            <p:strVal val="#ppt_y"/>
                                          </p:val>
                                        </p:tav>
                                        <p:tav tm="100000">
                                          <p:val>
                                            <p:strVal val="#ppt_y"/>
                                          </p:val>
                                        </p:tav>
                                      </p:tavLst>
                                    </p:anim>
                                  </p:childTnLst>
                                </p:cTn>
                              </p:par>
                              <p:par>
                                <p:cTn id="32" presetID="2" presetClass="entr" presetSubtype="8" fill="hold" nodeType="withEffect">
                                  <p:stCondLst>
                                    <p:cond delay="0"/>
                                  </p:stCondLst>
                                  <p:childTnLst>
                                    <p:set>
                                      <p:cBhvr>
                                        <p:cTn id="33" dur="1" fill="hold">
                                          <p:stCondLst>
                                            <p:cond delay="0"/>
                                          </p:stCondLst>
                                        </p:cTn>
                                        <p:tgtEl>
                                          <p:spTgt spid="280580">
                                            <p:txEl>
                                              <p:pRg st="8" end="8"/>
                                            </p:txEl>
                                          </p:spTgt>
                                        </p:tgtEl>
                                        <p:attrNameLst>
                                          <p:attrName>style.visibility</p:attrName>
                                        </p:attrNameLst>
                                      </p:cBhvr>
                                      <p:to>
                                        <p:strVal val="visible"/>
                                      </p:to>
                                    </p:set>
                                    <p:anim calcmode="lin" valueType="num">
                                      <p:cBhvr additive="base">
                                        <p:cTn id="34" dur="500" fill="hold"/>
                                        <p:tgtEl>
                                          <p:spTgt spid="280580">
                                            <p:txEl>
                                              <p:pRg st="8" end="8"/>
                                            </p:txEl>
                                          </p:spTgt>
                                        </p:tgtEl>
                                        <p:attrNameLst>
                                          <p:attrName>ppt_x</p:attrName>
                                        </p:attrNameLst>
                                      </p:cBhvr>
                                      <p:tavLst>
                                        <p:tav tm="0">
                                          <p:val>
                                            <p:strVal val="0-#ppt_w/2"/>
                                          </p:val>
                                        </p:tav>
                                        <p:tav tm="100000">
                                          <p:val>
                                            <p:strVal val="#ppt_x"/>
                                          </p:val>
                                        </p:tav>
                                      </p:tavLst>
                                    </p:anim>
                                    <p:anim calcmode="lin" valueType="num">
                                      <p:cBhvr additive="base">
                                        <p:cTn id="35" dur="500" fill="hold"/>
                                        <p:tgtEl>
                                          <p:spTgt spid="280580">
                                            <p:txEl>
                                              <p:pRg st="8" end="8"/>
                                            </p:txEl>
                                          </p:spTgt>
                                        </p:tgtEl>
                                        <p:attrNameLst>
                                          <p:attrName>ppt_y</p:attrName>
                                        </p:attrNameLst>
                                      </p:cBhvr>
                                      <p:tavLst>
                                        <p:tav tm="0">
                                          <p:val>
                                            <p:strVal val="#ppt_y"/>
                                          </p:val>
                                        </p:tav>
                                        <p:tav tm="100000">
                                          <p:val>
                                            <p:strVal val="#ppt_y"/>
                                          </p:val>
                                        </p:tav>
                                      </p:tavLst>
                                    </p:anim>
                                  </p:childTnLst>
                                </p:cTn>
                              </p:par>
                              <p:par>
                                <p:cTn id="36" presetID="2" presetClass="entr" presetSubtype="8" fill="hold" nodeType="withEffect">
                                  <p:stCondLst>
                                    <p:cond delay="0"/>
                                  </p:stCondLst>
                                  <p:childTnLst>
                                    <p:set>
                                      <p:cBhvr>
                                        <p:cTn id="37" dur="1" fill="hold">
                                          <p:stCondLst>
                                            <p:cond delay="0"/>
                                          </p:stCondLst>
                                        </p:cTn>
                                        <p:tgtEl>
                                          <p:spTgt spid="280580">
                                            <p:txEl>
                                              <p:pRg st="9" end="9"/>
                                            </p:txEl>
                                          </p:spTgt>
                                        </p:tgtEl>
                                        <p:attrNameLst>
                                          <p:attrName>style.visibility</p:attrName>
                                        </p:attrNameLst>
                                      </p:cBhvr>
                                      <p:to>
                                        <p:strVal val="visible"/>
                                      </p:to>
                                    </p:set>
                                    <p:anim calcmode="lin" valueType="num">
                                      <p:cBhvr additive="base">
                                        <p:cTn id="38" dur="500" fill="hold"/>
                                        <p:tgtEl>
                                          <p:spTgt spid="280580">
                                            <p:txEl>
                                              <p:pRg st="9" end="9"/>
                                            </p:txEl>
                                          </p:spTgt>
                                        </p:tgtEl>
                                        <p:attrNameLst>
                                          <p:attrName>ppt_x</p:attrName>
                                        </p:attrNameLst>
                                      </p:cBhvr>
                                      <p:tavLst>
                                        <p:tav tm="0">
                                          <p:val>
                                            <p:strVal val="0-#ppt_w/2"/>
                                          </p:val>
                                        </p:tav>
                                        <p:tav tm="100000">
                                          <p:val>
                                            <p:strVal val="#ppt_x"/>
                                          </p:val>
                                        </p:tav>
                                      </p:tavLst>
                                    </p:anim>
                                    <p:anim calcmode="lin" valueType="num">
                                      <p:cBhvr additive="base">
                                        <p:cTn id="39" dur="500" fill="hold"/>
                                        <p:tgtEl>
                                          <p:spTgt spid="280580">
                                            <p:txEl>
                                              <p:pRg st="9" end="9"/>
                                            </p:txEl>
                                          </p:spTgt>
                                        </p:tgtEl>
                                        <p:attrNameLst>
                                          <p:attrName>ppt_y</p:attrName>
                                        </p:attrNameLst>
                                      </p:cBhvr>
                                      <p:tavLst>
                                        <p:tav tm="0">
                                          <p:val>
                                            <p:strVal val="#ppt_y"/>
                                          </p:val>
                                        </p:tav>
                                        <p:tav tm="100000">
                                          <p:val>
                                            <p:strVal val="#ppt_y"/>
                                          </p:val>
                                        </p:tav>
                                      </p:tavLst>
                                    </p:anim>
                                  </p:childTnLst>
                                </p:cTn>
                              </p:par>
                              <p:par>
                                <p:cTn id="40" presetID="2" presetClass="entr" presetSubtype="8" fill="hold" nodeType="withEffect">
                                  <p:stCondLst>
                                    <p:cond delay="0"/>
                                  </p:stCondLst>
                                  <p:childTnLst>
                                    <p:set>
                                      <p:cBhvr>
                                        <p:cTn id="41" dur="1" fill="hold">
                                          <p:stCondLst>
                                            <p:cond delay="0"/>
                                          </p:stCondLst>
                                        </p:cTn>
                                        <p:tgtEl>
                                          <p:spTgt spid="280580">
                                            <p:txEl>
                                              <p:pRg st="10" end="10"/>
                                            </p:txEl>
                                          </p:spTgt>
                                        </p:tgtEl>
                                        <p:attrNameLst>
                                          <p:attrName>style.visibility</p:attrName>
                                        </p:attrNameLst>
                                      </p:cBhvr>
                                      <p:to>
                                        <p:strVal val="visible"/>
                                      </p:to>
                                    </p:set>
                                    <p:anim calcmode="lin" valueType="num">
                                      <p:cBhvr additive="base">
                                        <p:cTn id="42" dur="500" fill="hold"/>
                                        <p:tgtEl>
                                          <p:spTgt spid="280580">
                                            <p:txEl>
                                              <p:pRg st="10" end="10"/>
                                            </p:txEl>
                                          </p:spTgt>
                                        </p:tgtEl>
                                        <p:attrNameLst>
                                          <p:attrName>ppt_x</p:attrName>
                                        </p:attrNameLst>
                                      </p:cBhvr>
                                      <p:tavLst>
                                        <p:tav tm="0">
                                          <p:val>
                                            <p:strVal val="0-#ppt_w/2"/>
                                          </p:val>
                                        </p:tav>
                                        <p:tav tm="100000">
                                          <p:val>
                                            <p:strVal val="#ppt_x"/>
                                          </p:val>
                                        </p:tav>
                                      </p:tavLst>
                                    </p:anim>
                                    <p:anim calcmode="lin" valueType="num">
                                      <p:cBhvr additive="base">
                                        <p:cTn id="43" dur="500" fill="hold"/>
                                        <p:tgtEl>
                                          <p:spTgt spid="280580">
                                            <p:txEl>
                                              <p:pRg st="10" end="10"/>
                                            </p:txEl>
                                          </p:spTgt>
                                        </p:tgtEl>
                                        <p:attrNameLst>
                                          <p:attrName>ppt_y</p:attrName>
                                        </p:attrNameLst>
                                      </p:cBhvr>
                                      <p:tavLst>
                                        <p:tav tm="0">
                                          <p:val>
                                            <p:strVal val="#ppt_y"/>
                                          </p:val>
                                        </p:tav>
                                        <p:tav tm="100000">
                                          <p:val>
                                            <p:strVal val="#ppt_y"/>
                                          </p:val>
                                        </p:tav>
                                      </p:tavLst>
                                    </p:anim>
                                  </p:childTnLst>
                                </p:cTn>
                              </p:par>
                              <p:par>
                                <p:cTn id="44" presetID="2" presetClass="entr" presetSubtype="8" fill="hold" nodeType="withEffect">
                                  <p:stCondLst>
                                    <p:cond delay="0"/>
                                  </p:stCondLst>
                                  <p:childTnLst>
                                    <p:set>
                                      <p:cBhvr>
                                        <p:cTn id="45" dur="1" fill="hold">
                                          <p:stCondLst>
                                            <p:cond delay="0"/>
                                          </p:stCondLst>
                                        </p:cTn>
                                        <p:tgtEl>
                                          <p:spTgt spid="280580">
                                            <p:txEl>
                                              <p:pRg st="11" end="11"/>
                                            </p:txEl>
                                          </p:spTgt>
                                        </p:tgtEl>
                                        <p:attrNameLst>
                                          <p:attrName>style.visibility</p:attrName>
                                        </p:attrNameLst>
                                      </p:cBhvr>
                                      <p:to>
                                        <p:strVal val="visible"/>
                                      </p:to>
                                    </p:set>
                                    <p:anim calcmode="lin" valueType="num">
                                      <p:cBhvr additive="base">
                                        <p:cTn id="46" dur="500" fill="hold"/>
                                        <p:tgtEl>
                                          <p:spTgt spid="280580">
                                            <p:txEl>
                                              <p:pRg st="11" end="11"/>
                                            </p:txEl>
                                          </p:spTgt>
                                        </p:tgtEl>
                                        <p:attrNameLst>
                                          <p:attrName>ppt_x</p:attrName>
                                        </p:attrNameLst>
                                      </p:cBhvr>
                                      <p:tavLst>
                                        <p:tav tm="0">
                                          <p:val>
                                            <p:strVal val="0-#ppt_w/2"/>
                                          </p:val>
                                        </p:tav>
                                        <p:tav tm="100000">
                                          <p:val>
                                            <p:strVal val="#ppt_x"/>
                                          </p:val>
                                        </p:tav>
                                      </p:tavLst>
                                    </p:anim>
                                    <p:anim calcmode="lin" valueType="num">
                                      <p:cBhvr additive="base">
                                        <p:cTn id="47" dur="500" fill="hold"/>
                                        <p:tgtEl>
                                          <p:spTgt spid="280580">
                                            <p:txEl>
                                              <p:pRg st="11" end="11"/>
                                            </p:txEl>
                                          </p:spTgt>
                                        </p:tgtEl>
                                        <p:attrNameLst>
                                          <p:attrName>ppt_y</p:attrName>
                                        </p:attrNameLst>
                                      </p:cBhvr>
                                      <p:tavLst>
                                        <p:tav tm="0">
                                          <p:val>
                                            <p:strVal val="#ppt_y"/>
                                          </p:val>
                                        </p:tav>
                                        <p:tav tm="100000">
                                          <p:val>
                                            <p:strVal val="#ppt_y"/>
                                          </p:val>
                                        </p:tav>
                                      </p:tavLst>
                                    </p:anim>
                                  </p:childTnLst>
                                </p:cTn>
                              </p:par>
                              <p:par>
                                <p:cTn id="48" presetID="2" presetClass="entr" presetSubtype="4" fill="hold" grpId="0" nodeType="withEffect">
                                  <p:stCondLst>
                                    <p:cond delay="0"/>
                                  </p:stCondLst>
                                  <p:childTnLst>
                                    <p:set>
                                      <p:cBhvr>
                                        <p:cTn id="49" dur="1" fill="hold">
                                          <p:stCondLst>
                                            <p:cond delay="0"/>
                                          </p:stCondLst>
                                        </p:cTn>
                                        <p:tgtEl>
                                          <p:spTgt spid="280581"/>
                                        </p:tgtEl>
                                        <p:attrNameLst>
                                          <p:attrName>style.visibility</p:attrName>
                                        </p:attrNameLst>
                                      </p:cBhvr>
                                      <p:to>
                                        <p:strVal val="visible"/>
                                      </p:to>
                                    </p:set>
                                    <p:anim calcmode="lin" valueType="num">
                                      <p:cBhvr additive="base">
                                        <p:cTn id="50" dur="500" fill="hold"/>
                                        <p:tgtEl>
                                          <p:spTgt spid="280581"/>
                                        </p:tgtEl>
                                        <p:attrNameLst>
                                          <p:attrName>ppt_x</p:attrName>
                                        </p:attrNameLst>
                                      </p:cBhvr>
                                      <p:tavLst>
                                        <p:tav tm="0">
                                          <p:val>
                                            <p:strVal val="#ppt_x"/>
                                          </p:val>
                                        </p:tav>
                                        <p:tav tm="100000">
                                          <p:val>
                                            <p:strVal val="#ppt_x"/>
                                          </p:val>
                                        </p:tav>
                                      </p:tavLst>
                                    </p:anim>
                                    <p:anim calcmode="lin" valueType="num">
                                      <p:cBhvr additive="base">
                                        <p:cTn id="51" dur="500" fill="hold"/>
                                        <p:tgtEl>
                                          <p:spTgt spid="280581"/>
                                        </p:tgtEl>
                                        <p:attrNameLst>
                                          <p:attrName>ppt_y</p:attrName>
                                        </p:attrNameLst>
                                      </p:cBhvr>
                                      <p:tavLst>
                                        <p:tav tm="0">
                                          <p:val>
                                            <p:strVal val="1+#ppt_h/2"/>
                                          </p:val>
                                        </p:tav>
                                        <p:tav tm="100000">
                                          <p:val>
                                            <p:strVal val="#ppt_y"/>
                                          </p:val>
                                        </p:tav>
                                      </p:tavLst>
                                    </p:anim>
                                  </p:childTnLst>
                                </p:cTn>
                              </p:par>
                              <p:par>
                                <p:cTn id="52" presetID="2" presetClass="entr" presetSubtype="8" fill="hold" nodeType="withEffect">
                                  <p:stCondLst>
                                    <p:cond delay="0"/>
                                  </p:stCondLst>
                                  <p:childTnLst>
                                    <p:set>
                                      <p:cBhvr>
                                        <p:cTn id="53" dur="1" fill="hold">
                                          <p:stCondLst>
                                            <p:cond delay="0"/>
                                          </p:stCondLst>
                                        </p:cTn>
                                        <p:tgtEl>
                                          <p:spTgt spid="280580">
                                            <p:txEl>
                                              <p:pRg st="13" end="13"/>
                                            </p:txEl>
                                          </p:spTgt>
                                        </p:tgtEl>
                                        <p:attrNameLst>
                                          <p:attrName>style.visibility</p:attrName>
                                        </p:attrNameLst>
                                      </p:cBhvr>
                                      <p:to>
                                        <p:strVal val="visible"/>
                                      </p:to>
                                    </p:set>
                                    <p:anim calcmode="lin" valueType="num">
                                      <p:cBhvr additive="base">
                                        <p:cTn id="54" dur="500" fill="hold"/>
                                        <p:tgtEl>
                                          <p:spTgt spid="280580">
                                            <p:txEl>
                                              <p:pRg st="13" end="13"/>
                                            </p:txEl>
                                          </p:spTgt>
                                        </p:tgtEl>
                                        <p:attrNameLst>
                                          <p:attrName>ppt_x</p:attrName>
                                        </p:attrNameLst>
                                      </p:cBhvr>
                                      <p:tavLst>
                                        <p:tav tm="0">
                                          <p:val>
                                            <p:strVal val="0-#ppt_w/2"/>
                                          </p:val>
                                        </p:tav>
                                        <p:tav tm="100000">
                                          <p:val>
                                            <p:strVal val="#ppt_x"/>
                                          </p:val>
                                        </p:tav>
                                      </p:tavLst>
                                    </p:anim>
                                    <p:anim calcmode="lin" valueType="num">
                                      <p:cBhvr additive="base">
                                        <p:cTn id="55" dur="500" fill="hold"/>
                                        <p:tgtEl>
                                          <p:spTgt spid="280580">
                                            <p:txEl>
                                              <p:pRg st="13" end="13"/>
                                            </p:txEl>
                                          </p:spTgt>
                                        </p:tgtEl>
                                        <p:attrNameLst>
                                          <p:attrName>ppt_y</p:attrName>
                                        </p:attrNameLst>
                                      </p:cBhvr>
                                      <p:tavLst>
                                        <p:tav tm="0">
                                          <p:val>
                                            <p:strVal val="#ppt_y"/>
                                          </p:val>
                                        </p:tav>
                                        <p:tav tm="100000">
                                          <p:val>
                                            <p:strVal val="#ppt_y"/>
                                          </p:val>
                                        </p:tav>
                                      </p:tavLst>
                                    </p:anim>
                                  </p:childTnLst>
                                </p:cTn>
                              </p:par>
                              <p:par>
                                <p:cTn id="56" presetID="2" presetClass="entr" presetSubtype="4" fill="hold" nodeType="withEffect">
                                  <p:stCondLst>
                                    <p:cond delay="0"/>
                                  </p:stCondLst>
                                  <p:childTnLst>
                                    <p:set>
                                      <p:cBhvr>
                                        <p:cTn id="57" dur="1" fill="hold">
                                          <p:stCondLst>
                                            <p:cond delay="0"/>
                                          </p:stCondLst>
                                        </p:cTn>
                                        <p:tgtEl>
                                          <p:spTgt spid="280579"/>
                                        </p:tgtEl>
                                        <p:attrNameLst>
                                          <p:attrName>style.visibility</p:attrName>
                                        </p:attrNameLst>
                                      </p:cBhvr>
                                      <p:to>
                                        <p:strVal val="visible"/>
                                      </p:to>
                                    </p:set>
                                    <p:anim calcmode="lin" valueType="num">
                                      <p:cBhvr additive="base">
                                        <p:cTn id="58" dur="500" fill="hold"/>
                                        <p:tgtEl>
                                          <p:spTgt spid="280579"/>
                                        </p:tgtEl>
                                        <p:attrNameLst>
                                          <p:attrName>ppt_x</p:attrName>
                                        </p:attrNameLst>
                                      </p:cBhvr>
                                      <p:tavLst>
                                        <p:tav tm="0">
                                          <p:val>
                                            <p:strVal val="#ppt_x"/>
                                          </p:val>
                                        </p:tav>
                                        <p:tav tm="100000">
                                          <p:val>
                                            <p:strVal val="#ppt_x"/>
                                          </p:val>
                                        </p:tav>
                                      </p:tavLst>
                                    </p:anim>
                                    <p:anim calcmode="lin" valueType="num">
                                      <p:cBhvr additive="base">
                                        <p:cTn id="59" dur="500" fill="hold"/>
                                        <p:tgtEl>
                                          <p:spTgt spid="280579"/>
                                        </p:tgtEl>
                                        <p:attrNameLst>
                                          <p:attrName>ppt_y</p:attrName>
                                        </p:attrNameLst>
                                      </p:cBhvr>
                                      <p:tavLst>
                                        <p:tav tm="0">
                                          <p:val>
                                            <p:strVal val="1+#ppt_h/2"/>
                                          </p:val>
                                        </p:tav>
                                        <p:tav tm="100000">
                                          <p:val>
                                            <p:strVal val="#ppt_y"/>
                                          </p:val>
                                        </p:tav>
                                      </p:tavLst>
                                    </p:anim>
                                  </p:childTnLst>
                                </p:cTn>
                              </p:par>
                              <p:par>
                                <p:cTn id="60" presetID="2" presetClass="entr" presetSubtype="4" fill="hold" grpId="0" nodeType="withEffect">
                                  <p:stCondLst>
                                    <p:cond delay="0"/>
                                  </p:stCondLst>
                                  <p:childTnLst>
                                    <p:set>
                                      <p:cBhvr>
                                        <p:cTn id="61" dur="1" fill="hold">
                                          <p:stCondLst>
                                            <p:cond delay="0"/>
                                          </p:stCondLst>
                                        </p:cTn>
                                        <p:tgtEl>
                                          <p:spTgt spid="24"/>
                                        </p:tgtEl>
                                        <p:attrNameLst>
                                          <p:attrName>style.visibility</p:attrName>
                                        </p:attrNameLst>
                                      </p:cBhvr>
                                      <p:to>
                                        <p:strVal val="visible"/>
                                      </p:to>
                                    </p:set>
                                    <p:anim calcmode="lin" valueType="num">
                                      <p:cBhvr additive="base">
                                        <p:cTn id="62" dur="500" fill="hold"/>
                                        <p:tgtEl>
                                          <p:spTgt spid="24"/>
                                        </p:tgtEl>
                                        <p:attrNameLst>
                                          <p:attrName>ppt_x</p:attrName>
                                        </p:attrNameLst>
                                      </p:cBhvr>
                                      <p:tavLst>
                                        <p:tav tm="0">
                                          <p:val>
                                            <p:strVal val="#ppt_x"/>
                                          </p:val>
                                        </p:tav>
                                        <p:tav tm="100000">
                                          <p:val>
                                            <p:strVal val="#ppt_x"/>
                                          </p:val>
                                        </p:tav>
                                      </p:tavLst>
                                    </p:anim>
                                    <p:anim calcmode="lin" valueType="num">
                                      <p:cBhvr additive="base">
                                        <p:cTn id="63" dur="500" fill="hold"/>
                                        <p:tgtEl>
                                          <p:spTgt spid="2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0581" grpId="0"/>
      <p:bldP spid="24" grpId="0"/>
    </p:bldLst>
  </p:timing>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4" name="Slide Number Placeholder 6"/>
          <p:cNvSpPr>
            <a:spLocks noGrp="1"/>
          </p:cNvSpPr>
          <p:nvPr>
            <p:ph type="sldNum" sz="quarter" idx="12"/>
          </p:nvPr>
        </p:nvSpPr>
        <p:spPr/>
        <p:txBody>
          <a:bodyPr/>
          <a:lstStyle/>
          <a:p>
            <a:fld id="{D8CB8DB7-1486-42F9-821D-DD9FF69F95A6}" type="slidenum">
              <a:rPr lang="en-US" altLang="en-US"/>
              <a:pPr/>
              <a:t>19</a:t>
            </a:fld>
            <a:endParaRPr lang="en-US" altLang="en-US"/>
          </a:p>
        </p:txBody>
      </p:sp>
      <p:sp>
        <p:nvSpPr>
          <p:cNvPr id="247810" name="Rectangle 2"/>
          <p:cNvSpPr>
            <a:spLocks noGrp="1" noChangeArrowheads="1"/>
          </p:cNvSpPr>
          <p:nvPr>
            <p:ph type="title"/>
          </p:nvPr>
        </p:nvSpPr>
        <p:spPr>
          <a:xfrm>
            <a:off x="2971800" y="228600"/>
            <a:ext cx="3048000" cy="457200"/>
          </a:xfrm>
        </p:spPr>
        <p:txBody>
          <a:bodyPr/>
          <a:lstStyle/>
          <a:p>
            <a:r>
              <a:rPr lang="en-US" sz="2800" b="1" u="sng" dirty="0" smtClean="0"/>
              <a:t>The Resistor</a:t>
            </a:r>
            <a:endParaRPr lang="en-US" sz="2800" b="1" u="sng" dirty="0"/>
          </a:p>
        </p:txBody>
      </p:sp>
      <p:sp>
        <p:nvSpPr>
          <p:cNvPr id="247812" name="Rectangle 4"/>
          <p:cNvSpPr>
            <a:spLocks noChangeArrowheads="1"/>
          </p:cNvSpPr>
          <p:nvPr/>
        </p:nvSpPr>
        <p:spPr bwMode="auto">
          <a:xfrm>
            <a:off x="8640763" y="6477000"/>
            <a:ext cx="503237" cy="457200"/>
          </a:xfrm>
          <a:prstGeom prst="rect">
            <a:avLst/>
          </a:prstGeom>
          <a:noFill/>
          <a:ln w="9525">
            <a:noFill/>
            <a:miter lim="800000"/>
            <a:headEnd/>
            <a:tailEnd/>
          </a:ln>
          <a:effectLst/>
        </p:spPr>
        <p:txBody>
          <a:bodyPr wrap="none">
            <a:spAutoFit/>
          </a:bodyPr>
          <a:lstStyle/>
          <a:p>
            <a:pPr>
              <a:spcBef>
                <a:spcPct val="50000"/>
              </a:spcBef>
              <a:buFont typeface="Wingdings" pitchFamily="2" charset="2"/>
              <a:buChar char="Ø"/>
            </a:pPr>
            <a:r>
              <a:rPr lang="en-US"/>
              <a:t> </a:t>
            </a:r>
          </a:p>
        </p:txBody>
      </p:sp>
      <p:sp>
        <p:nvSpPr>
          <p:cNvPr id="19" name="Text Placeholder 18"/>
          <p:cNvSpPr>
            <a:spLocks noGrp="1"/>
          </p:cNvSpPr>
          <p:nvPr>
            <p:ph type="body" sz="half" idx="1"/>
          </p:nvPr>
        </p:nvSpPr>
        <p:spPr>
          <a:xfrm>
            <a:off x="228600" y="685800"/>
            <a:ext cx="8763000" cy="6096000"/>
          </a:xfrm>
        </p:spPr>
        <p:txBody>
          <a:bodyPr/>
          <a:lstStyle/>
          <a:p>
            <a:pPr marL="0" indent="0">
              <a:buNone/>
            </a:pPr>
            <a:endParaRPr lang="en-US" dirty="0"/>
          </a:p>
        </p:txBody>
      </p:sp>
      <p:pic>
        <p:nvPicPr>
          <p:cNvPr id="2050" name="Picture 2"/>
          <p:cNvPicPr>
            <a:picLocks noChangeAspect="1" noChangeArrowheads="1"/>
          </p:cNvPicPr>
          <p:nvPr/>
        </p:nvPicPr>
        <p:blipFill>
          <a:blip r:embed="rId2">
            <a:extLst>
              <a:ext uri="{BEBA8EAE-BF5A-486C-A8C5-ECC9F3942E4B}">
                <a14:imgProps xmlns:a14="http://schemas.microsoft.com/office/drawing/2010/main">
                  <a14:imgLayer r:embed="rId3">
                    <a14:imgEffect>
                      <a14:brightnessContrast bright="-20000" contrast="61000"/>
                    </a14:imgEffect>
                  </a14:imgLayer>
                </a14:imgProps>
              </a:ext>
              <a:ext uri="{28A0092B-C50C-407E-A947-70E740481C1C}">
                <a14:useLocalDpi xmlns:a14="http://schemas.microsoft.com/office/drawing/2010/main" val="0"/>
              </a:ext>
            </a:extLst>
          </a:blip>
          <a:srcRect/>
          <a:stretch>
            <a:fillRect/>
          </a:stretch>
        </p:blipFill>
        <p:spPr bwMode="auto">
          <a:xfrm>
            <a:off x="228600" y="762000"/>
            <a:ext cx="6248400" cy="1676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1"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77050" y="1066800"/>
            <a:ext cx="1943100" cy="1123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2"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7200" y="2362200"/>
            <a:ext cx="5943600" cy="9905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3" name="Picture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57200" y="3352800"/>
            <a:ext cx="5943600" cy="990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4" name="Picture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57200" y="4343400"/>
            <a:ext cx="5943600" cy="1371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5" name="Picture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66725" y="5676900"/>
            <a:ext cx="5705475" cy="1181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6" name="Picture 8"/>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629400" y="5791201"/>
            <a:ext cx="1905000" cy="10334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8539285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247812"/>
                                        </p:tgtEl>
                                        <p:attrNameLst>
                                          <p:attrName>style.visibility</p:attrName>
                                        </p:attrNameLst>
                                      </p:cBhvr>
                                      <p:to>
                                        <p:strVal val="visible"/>
                                      </p:to>
                                    </p:set>
                                    <p:anim calcmode="lin" valueType="num">
                                      <p:cBhvr additive="base">
                                        <p:cTn id="7" dur="500" fill="hold"/>
                                        <p:tgtEl>
                                          <p:spTgt spid="247812"/>
                                        </p:tgtEl>
                                        <p:attrNameLst>
                                          <p:attrName>ppt_x</p:attrName>
                                        </p:attrNameLst>
                                      </p:cBhvr>
                                      <p:tavLst>
                                        <p:tav tm="0">
                                          <p:val>
                                            <p:strVal val="#ppt_x"/>
                                          </p:val>
                                        </p:tav>
                                        <p:tav tm="100000">
                                          <p:val>
                                            <p:strVal val="#ppt_x"/>
                                          </p:val>
                                        </p:tav>
                                      </p:tavLst>
                                    </p:anim>
                                    <p:anim calcmode="lin" valueType="num">
                                      <p:cBhvr additive="base">
                                        <p:cTn id="8" dur="500" fill="hold"/>
                                        <p:tgtEl>
                                          <p:spTgt spid="24781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05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051"/>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052"/>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053"/>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2054"/>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2055"/>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205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7812" grpId="0"/>
    </p:bldLst>
  </p:timing>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4" name="Slide Number Placeholder 6"/>
          <p:cNvSpPr>
            <a:spLocks noGrp="1"/>
          </p:cNvSpPr>
          <p:nvPr>
            <p:ph type="sldNum" sz="quarter" idx="12"/>
          </p:nvPr>
        </p:nvSpPr>
        <p:spPr/>
        <p:txBody>
          <a:bodyPr/>
          <a:lstStyle/>
          <a:p>
            <a:fld id="{D8CB8DB7-1486-42F9-821D-DD9FF69F95A6}" type="slidenum">
              <a:rPr lang="en-US" altLang="en-US"/>
              <a:pPr/>
              <a:t>20</a:t>
            </a:fld>
            <a:endParaRPr lang="en-US" altLang="en-US"/>
          </a:p>
        </p:txBody>
      </p:sp>
      <p:sp>
        <p:nvSpPr>
          <p:cNvPr id="247810" name="Rectangle 2"/>
          <p:cNvSpPr>
            <a:spLocks noGrp="1" noChangeArrowheads="1"/>
          </p:cNvSpPr>
          <p:nvPr>
            <p:ph type="title"/>
          </p:nvPr>
        </p:nvSpPr>
        <p:spPr>
          <a:xfrm>
            <a:off x="2971800" y="228600"/>
            <a:ext cx="3048000" cy="457200"/>
          </a:xfrm>
        </p:spPr>
        <p:txBody>
          <a:bodyPr/>
          <a:lstStyle/>
          <a:p>
            <a:r>
              <a:rPr lang="en-US" sz="2800" b="1" u="sng" dirty="0" smtClean="0"/>
              <a:t>The Resistor</a:t>
            </a:r>
            <a:endParaRPr lang="en-US" sz="2800" b="1" u="sng" dirty="0"/>
          </a:p>
        </p:txBody>
      </p:sp>
      <p:sp>
        <p:nvSpPr>
          <p:cNvPr id="247812" name="Rectangle 4"/>
          <p:cNvSpPr>
            <a:spLocks noChangeArrowheads="1"/>
          </p:cNvSpPr>
          <p:nvPr/>
        </p:nvSpPr>
        <p:spPr bwMode="auto">
          <a:xfrm>
            <a:off x="8640763" y="6477000"/>
            <a:ext cx="503237" cy="457200"/>
          </a:xfrm>
          <a:prstGeom prst="rect">
            <a:avLst/>
          </a:prstGeom>
          <a:noFill/>
          <a:ln w="9525">
            <a:noFill/>
            <a:miter lim="800000"/>
            <a:headEnd/>
            <a:tailEnd/>
          </a:ln>
          <a:effectLst/>
        </p:spPr>
        <p:txBody>
          <a:bodyPr wrap="none">
            <a:spAutoFit/>
          </a:bodyPr>
          <a:lstStyle/>
          <a:p>
            <a:pPr>
              <a:spcBef>
                <a:spcPct val="50000"/>
              </a:spcBef>
              <a:buFont typeface="Wingdings" pitchFamily="2" charset="2"/>
              <a:buChar char="Ø"/>
            </a:pPr>
            <a:r>
              <a:rPr lang="en-US"/>
              <a:t> </a:t>
            </a:r>
          </a:p>
        </p:txBody>
      </p:sp>
      <p:pic>
        <p:nvPicPr>
          <p:cNvPr id="2" name="Picture 1"/>
          <p:cNvPicPr>
            <a:picLocks noChangeAspect="1"/>
          </p:cNvPicPr>
          <p:nvPr/>
        </p:nvPicPr>
        <p:blipFill>
          <a:blip r:embed="rId2"/>
          <a:stretch>
            <a:fillRect/>
          </a:stretch>
        </p:blipFill>
        <p:spPr>
          <a:xfrm>
            <a:off x="304801" y="1143000"/>
            <a:ext cx="8534570" cy="1828800"/>
          </a:xfrm>
          <a:prstGeom prst="rect">
            <a:avLst/>
          </a:prstGeom>
        </p:spPr>
      </p:pic>
      <p:sp>
        <p:nvSpPr>
          <p:cNvPr id="14" name="Rectangle 5"/>
          <p:cNvSpPr>
            <a:spLocks noChangeArrowheads="1"/>
          </p:cNvSpPr>
          <p:nvPr/>
        </p:nvSpPr>
        <p:spPr bwMode="auto">
          <a:xfrm>
            <a:off x="304800" y="769091"/>
            <a:ext cx="1676400" cy="373909"/>
          </a:xfrm>
          <a:prstGeom prst="rect">
            <a:avLst/>
          </a:prstGeom>
          <a:noFill/>
          <a:ln w="9525">
            <a:noFill/>
            <a:miter lim="800000"/>
            <a:headEnd/>
            <a:tailEnd/>
          </a:ln>
          <a:effectLst/>
        </p:spPr>
        <p:txBody>
          <a:bodyPr/>
          <a:lstStyle/>
          <a:p>
            <a:pPr marL="342900" indent="-342900" algn="just">
              <a:lnSpc>
                <a:spcPct val="80000"/>
              </a:lnSpc>
              <a:spcBef>
                <a:spcPct val="20000"/>
              </a:spcBef>
              <a:buFontTx/>
              <a:buChar char="•"/>
            </a:pPr>
            <a:r>
              <a:rPr lang="en-US" sz="2000" b="1" dirty="0" smtClean="0">
                <a:latin typeface="Arial" charset="0"/>
              </a:rPr>
              <a:t>Practice</a:t>
            </a:r>
            <a:endParaRPr lang="en-US" sz="2000" b="1" dirty="0">
              <a:latin typeface="Arial" charset="0"/>
            </a:endParaRPr>
          </a:p>
        </p:txBody>
      </p:sp>
    </p:spTree>
    <p:extLst>
      <p:ext uri="{BB962C8B-B14F-4D97-AF65-F5344CB8AC3E}">
        <p14:creationId xmlns:p14="http://schemas.microsoft.com/office/powerpoint/2010/main" val="7529245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247812"/>
                                        </p:tgtEl>
                                        <p:attrNameLst>
                                          <p:attrName>style.visibility</p:attrName>
                                        </p:attrNameLst>
                                      </p:cBhvr>
                                      <p:to>
                                        <p:strVal val="visible"/>
                                      </p:to>
                                    </p:set>
                                    <p:anim calcmode="lin" valueType="num">
                                      <p:cBhvr additive="base">
                                        <p:cTn id="7" dur="500" fill="hold"/>
                                        <p:tgtEl>
                                          <p:spTgt spid="247812"/>
                                        </p:tgtEl>
                                        <p:attrNameLst>
                                          <p:attrName>ppt_x</p:attrName>
                                        </p:attrNameLst>
                                      </p:cBhvr>
                                      <p:tavLst>
                                        <p:tav tm="0">
                                          <p:val>
                                            <p:strVal val="#ppt_x"/>
                                          </p:val>
                                        </p:tav>
                                        <p:tav tm="100000">
                                          <p:val>
                                            <p:strVal val="#ppt_x"/>
                                          </p:val>
                                        </p:tav>
                                      </p:tavLst>
                                    </p:anim>
                                    <p:anim calcmode="lin" valueType="num">
                                      <p:cBhvr additive="base">
                                        <p:cTn id="8" dur="500" fill="hold"/>
                                        <p:tgtEl>
                                          <p:spTgt spid="247812"/>
                                        </p:tgtEl>
                                        <p:attrNameLst>
                                          <p:attrName>ppt_y</p:attrName>
                                        </p:attrNameLst>
                                      </p:cBhvr>
                                      <p:tavLst>
                                        <p:tav tm="0">
                                          <p:val>
                                            <p:strVal val="1+#ppt_h/2"/>
                                          </p:val>
                                        </p:tav>
                                        <p:tav tm="100000">
                                          <p:val>
                                            <p:strVal val="#ppt_y"/>
                                          </p:val>
                                        </p:tav>
                                      </p:tavLst>
                                    </p:anim>
                                  </p:childTnLst>
                                </p:cTn>
                              </p:par>
                              <p:par>
                                <p:cTn id="9" presetID="3" presetClass="entr" presetSubtype="10" fill="hold" grpId="0" nodeType="withEffect">
                                  <p:stCondLst>
                                    <p:cond delay="0"/>
                                  </p:stCondLst>
                                  <p:childTnLst>
                                    <p:set>
                                      <p:cBhvr>
                                        <p:cTn id="10" dur="1" fill="hold">
                                          <p:stCondLst>
                                            <p:cond delay="0"/>
                                          </p:stCondLst>
                                        </p:cTn>
                                        <p:tgtEl>
                                          <p:spTgt spid="14">
                                            <p:txEl>
                                              <p:pRg st="0" end="0"/>
                                            </p:txEl>
                                          </p:spTgt>
                                        </p:tgtEl>
                                        <p:attrNameLst>
                                          <p:attrName>style.visibility</p:attrName>
                                        </p:attrNameLst>
                                      </p:cBhvr>
                                      <p:to>
                                        <p:strVal val="visible"/>
                                      </p:to>
                                    </p:set>
                                    <p:animEffect transition="in" filter="blinds(horizontal)">
                                      <p:cBhvr>
                                        <p:cTn id="11" dur="500"/>
                                        <p:tgtEl>
                                          <p:spTgt spid="1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7812" grpId="0"/>
      <p:bldP spid="14" grpId="0" uiExpand="1" build="p"/>
    </p:bldLst>
  </p:timing>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4" name="Slide Number Placeholder 6"/>
          <p:cNvSpPr>
            <a:spLocks noGrp="1"/>
          </p:cNvSpPr>
          <p:nvPr>
            <p:ph type="sldNum" sz="quarter" idx="12"/>
          </p:nvPr>
        </p:nvSpPr>
        <p:spPr/>
        <p:txBody>
          <a:bodyPr/>
          <a:lstStyle/>
          <a:p>
            <a:fld id="{5AFDDC8E-DBEF-42B6-B9E4-1BC83D94CB74}" type="slidenum">
              <a:rPr lang="en-US" altLang="en-US"/>
              <a:pPr/>
              <a:t>21</a:t>
            </a:fld>
            <a:endParaRPr lang="en-US" altLang="en-US" dirty="0"/>
          </a:p>
        </p:txBody>
      </p:sp>
      <p:sp>
        <p:nvSpPr>
          <p:cNvPr id="354308" name="Rectangle 4"/>
          <p:cNvSpPr>
            <a:spLocks noChangeArrowheads="1"/>
          </p:cNvSpPr>
          <p:nvPr/>
        </p:nvSpPr>
        <p:spPr bwMode="auto">
          <a:xfrm>
            <a:off x="8640763" y="6400800"/>
            <a:ext cx="503237" cy="457200"/>
          </a:xfrm>
          <a:prstGeom prst="rect">
            <a:avLst/>
          </a:prstGeom>
          <a:noFill/>
          <a:ln w="9525">
            <a:noFill/>
            <a:miter lim="800000"/>
            <a:headEnd/>
            <a:tailEnd/>
          </a:ln>
          <a:effectLst/>
        </p:spPr>
        <p:txBody>
          <a:bodyPr wrap="none">
            <a:spAutoFit/>
          </a:bodyPr>
          <a:lstStyle/>
          <a:p>
            <a:pPr>
              <a:spcBef>
                <a:spcPct val="50000"/>
              </a:spcBef>
              <a:buFont typeface="Wingdings" pitchFamily="2" charset="2"/>
              <a:buChar char="Ø"/>
            </a:pPr>
            <a:r>
              <a:rPr lang="en-US" dirty="0">
                <a:solidFill>
                  <a:srgbClr val="FF0000"/>
                </a:solidFill>
              </a:rPr>
              <a:t> </a:t>
            </a:r>
          </a:p>
        </p:txBody>
      </p:sp>
      <p:sp>
        <p:nvSpPr>
          <p:cNvPr id="354313" name="Rectangle 9"/>
          <p:cNvSpPr>
            <a:spLocks noChangeArrowheads="1"/>
          </p:cNvSpPr>
          <p:nvPr/>
        </p:nvSpPr>
        <p:spPr bwMode="auto">
          <a:xfrm>
            <a:off x="838200" y="1905000"/>
            <a:ext cx="7772400" cy="3124200"/>
          </a:xfrm>
          <a:prstGeom prst="rect">
            <a:avLst/>
          </a:prstGeom>
          <a:noFill/>
          <a:ln w="9525">
            <a:noFill/>
            <a:miter lim="800000"/>
            <a:headEnd/>
            <a:tailEnd/>
          </a:ln>
          <a:effectLst/>
        </p:spPr>
        <p:txBody>
          <a:bodyPr/>
          <a:lstStyle/>
          <a:p>
            <a:pPr marL="342900" indent="-342900" algn="ctr">
              <a:lnSpc>
                <a:spcPct val="110000"/>
              </a:lnSpc>
              <a:spcBef>
                <a:spcPct val="20000"/>
              </a:spcBef>
            </a:pPr>
            <a:endParaRPr lang="en-US" sz="4800" b="1" dirty="0" smtClean="0"/>
          </a:p>
          <a:p>
            <a:pPr marL="342900" indent="-342900" algn="ctr">
              <a:lnSpc>
                <a:spcPct val="110000"/>
              </a:lnSpc>
              <a:spcBef>
                <a:spcPct val="20000"/>
              </a:spcBef>
            </a:pPr>
            <a:r>
              <a:rPr lang="en-US" sz="4800" b="1" dirty="0" smtClean="0"/>
              <a:t>THANKS</a:t>
            </a:r>
            <a:endParaRPr lang="en-US" b="1" dirty="0">
              <a:latin typeface="Arial" charset="0"/>
            </a:endParaRPr>
          </a:p>
          <a:p>
            <a:pPr marL="342900" indent="-342900" algn="just">
              <a:lnSpc>
                <a:spcPct val="120000"/>
              </a:lnSpc>
              <a:spcBef>
                <a:spcPct val="20000"/>
              </a:spcBef>
              <a:buFontTx/>
              <a:buChar char="•"/>
            </a:pPr>
            <a:endParaRPr lang="en-US" sz="2000" b="1" baseline="-25000" dirty="0">
              <a:solidFill>
                <a:srgbClr val="FF0000"/>
              </a:solidFill>
              <a:latin typeface="Arial" charset="0"/>
            </a:endParaRPr>
          </a:p>
        </p:txBody>
      </p:sp>
      <p:sp>
        <p:nvSpPr>
          <p:cNvPr id="354318" name="Rectangle 14"/>
          <p:cNvSpPr>
            <a:spLocks noChangeArrowheads="1"/>
          </p:cNvSpPr>
          <p:nvPr/>
        </p:nvSpPr>
        <p:spPr bwMode="auto">
          <a:xfrm>
            <a:off x="685800" y="685800"/>
            <a:ext cx="8153400" cy="5334000"/>
          </a:xfrm>
          <a:prstGeom prst="rect">
            <a:avLst/>
          </a:prstGeom>
          <a:noFill/>
          <a:ln w="9525">
            <a:noFill/>
            <a:miter lim="800000"/>
            <a:headEnd/>
            <a:tailEnd/>
          </a:ln>
          <a:effectLst/>
        </p:spPr>
        <p:txBody>
          <a:bodyPr/>
          <a:lstStyle/>
          <a:p>
            <a:pPr marL="342900" indent="-342900">
              <a:lnSpc>
                <a:spcPct val="110000"/>
              </a:lnSpc>
              <a:spcBef>
                <a:spcPct val="20000"/>
              </a:spcBef>
              <a:buFontTx/>
              <a:buChar char="•"/>
            </a:pPr>
            <a:endParaRPr lang="en-US" sz="2000" b="1" baseline="-25000">
              <a:solidFill>
                <a:srgbClr val="FF0000"/>
              </a:solidFill>
              <a:latin typeface="Arial" charset="0"/>
            </a:endParaRPr>
          </a:p>
        </p:txBody>
      </p:sp>
    </p:spTree>
  </p:cSld>
  <p:clrMapOvr>
    <a:masterClrMapping/>
  </p:clrMapOvr>
  <p:transition spd="slow">
    <p:cover dir="l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54308"/>
                                        </p:tgtEl>
                                        <p:attrNameLst>
                                          <p:attrName>style.visibility</p:attrName>
                                        </p:attrNameLst>
                                      </p:cBhvr>
                                      <p:to>
                                        <p:strVal val="visible"/>
                                      </p:to>
                                    </p:set>
                                    <p:anim calcmode="lin" valueType="num">
                                      <p:cBhvr additive="base">
                                        <p:cTn id="7" dur="500" fill="hold"/>
                                        <p:tgtEl>
                                          <p:spTgt spid="354308"/>
                                        </p:tgtEl>
                                        <p:attrNameLst>
                                          <p:attrName>ppt_x</p:attrName>
                                        </p:attrNameLst>
                                      </p:cBhvr>
                                      <p:tavLst>
                                        <p:tav tm="0">
                                          <p:val>
                                            <p:strVal val="#ppt_x"/>
                                          </p:val>
                                        </p:tav>
                                        <p:tav tm="100000">
                                          <p:val>
                                            <p:strVal val="#ppt_x"/>
                                          </p:val>
                                        </p:tav>
                                      </p:tavLst>
                                    </p:anim>
                                    <p:anim calcmode="lin" valueType="num">
                                      <p:cBhvr additive="base">
                                        <p:cTn id="8" dur="500" fill="hold"/>
                                        <p:tgtEl>
                                          <p:spTgt spid="35430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4308" grpId="0"/>
    </p:bldLst>
  </p:timing>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Default Design">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itchFamily="18" charset="0"/>
          </a:defRPr>
        </a:defPPr>
      </a:lstStyle>
    </a:lnDef>
  </a:objectDefaults>
  <a:extraClrSchemeLst>
    <a:extraClrScheme>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3203</TotalTime>
  <Words>1368</Words>
  <Application>Microsoft Office PowerPoint</Application>
  <PresentationFormat>On-screen Show (4:3)</PresentationFormat>
  <Paragraphs>268</Paragraphs>
  <Slides>21</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21</vt:i4>
      </vt:variant>
    </vt:vector>
  </HeadingPairs>
  <TitlesOfParts>
    <vt:vector size="26" baseType="lpstr">
      <vt:lpstr>Arial</vt:lpstr>
      <vt:lpstr>Brush Script MT</vt:lpstr>
      <vt:lpstr>Times New Roman</vt:lpstr>
      <vt:lpstr>Wingdings</vt:lpstr>
      <vt:lpstr>Default Design</vt:lpstr>
      <vt:lpstr>PowerPoint Presentation</vt:lpstr>
      <vt:lpstr>Power</vt:lpstr>
      <vt:lpstr>Power</vt:lpstr>
      <vt:lpstr>Passive Sign Convention</vt:lpstr>
      <vt:lpstr>Example : Power</vt:lpstr>
      <vt:lpstr>PRACTICE : Power</vt:lpstr>
      <vt:lpstr>Example : Power</vt:lpstr>
      <vt:lpstr>PowerPoint Presentation</vt:lpstr>
      <vt:lpstr>The Circuit Elements</vt:lpstr>
      <vt:lpstr>Independent Voltage Sources</vt:lpstr>
      <vt:lpstr>Independent Current Sources</vt:lpstr>
      <vt:lpstr>Dependent Sources</vt:lpstr>
      <vt:lpstr>Dependent Sources…contd</vt:lpstr>
      <vt:lpstr>Dependent Source : DC Equivalent Model of a Transistor</vt:lpstr>
      <vt:lpstr>Networks &amp; Circuits</vt:lpstr>
      <vt:lpstr>Ohm’s Law</vt:lpstr>
      <vt:lpstr>The Resistor</vt:lpstr>
      <vt:lpstr>Ohm’s Law/Power Absorption/Conductance</vt:lpstr>
      <vt:lpstr>The Resistor</vt:lpstr>
      <vt:lpstr>The Resistor</vt:lpstr>
      <vt:lpstr>PowerPoint Presentation</vt:lpstr>
    </vt:vector>
  </TitlesOfParts>
  <Company>LASER WORDS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 Slide Title</dc:title>
  <dc:creator>LW1</dc:creator>
  <cp:lastModifiedBy>Assistant Professor</cp:lastModifiedBy>
  <cp:revision>898</cp:revision>
  <dcterms:created xsi:type="dcterms:W3CDTF">2001-08-27T04:48:27Z</dcterms:created>
  <dcterms:modified xsi:type="dcterms:W3CDTF">2025-03-03T06:28:13Z</dcterms:modified>
</cp:coreProperties>
</file>